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56.png" ContentType="image/png"/>
  <Override PartName="/ppt/media/image55.png" ContentType="image/png"/>
  <Override PartName="/ppt/media/image47.png" ContentType="image/png"/>
  <Override PartName="/ppt/media/image10.png" ContentType="image/png"/>
  <Override PartName="/ppt/media/image35.png" ContentType="image/png"/>
  <Override PartName="/ppt/media/image5.png" ContentType="image/png"/>
  <Override PartName="/ppt/media/image17.png" ContentType="image/png"/>
  <Override PartName="/ppt/media/image34.png" ContentType="image/png"/>
  <Override PartName="/ppt/media/image4.png" ContentType="image/png"/>
  <Override PartName="/ppt/media/image16.png" ContentType="image/png"/>
  <Override PartName="/ppt/media/image27.png" ContentType="image/png"/>
  <Override PartName="/ppt/media/image32.png" ContentType="image/png"/>
  <Override PartName="/ppt/media/image2.png" ContentType="image/png"/>
  <Override PartName="/ppt/media/image14.png" ContentType="image/png"/>
  <Override PartName="/ppt/media/image25.png" ContentType="image/png"/>
  <Override PartName="/ppt/media/image28.png" ContentType="image/png"/>
  <Override PartName="/ppt/media/image30.png" ContentType="image/png"/>
  <Override PartName="/ppt/media/image26.png" ContentType="image/png"/>
  <Override PartName="/ppt/media/image60.png" ContentType="image/png"/>
  <Override PartName="/ppt/media/image23.png" ContentType="image/png"/>
  <Override PartName="/ppt/media/image58.png" ContentType="image/png"/>
  <Override PartName="/ppt/media/image21.png" ContentType="image/png"/>
  <Override PartName="/ppt/media/image22.png" ContentType="image/png"/>
  <Override PartName="/ppt/media/image59.png" ContentType="image/png"/>
  <Override PartName="/ppt/media/image57.png" ContentType="image/png"/>
  <Override PartName="/ppt/media/image20.png" ContentType="image/png"/>
  <Override PartName="/ppt/media/image61.png" ContentType="image/png"/>
  <Override PartName="/ppt/media/image24.png" ContentType="image/png"/>
  <Override PartName="/ppt/media/image29.png" ContentType="image/png"/>
  <Override PartName="/ppt/media/image31.png" ContentType="image/png"/>
  <Override PartName="/ppt/media/image15.png" ContentType="image/png"/>
  <Override PartName="/ppt/media/image18.png" ContentType="image/png"/>
  <Override PartName="/ppt/media/image6.png" ContentType="image/png"/>
  <Override PartName="/ppt/media/image36.png" ContentType="image/png"/>
  <Override PartName="/ppt/media/image11.png" ContentType="image/png"/>
  <Override PartName="/ppt/media/image48.png" ContentType="image/png"/>
  <Override PartName="/ppt/media/image19.png" ContentType="image/png"/>
  <Override PartName="/ppt/media/image7.png" ContentType="image/png"/>
  <Override PartName="/ppt/media/image37.png" ContentType="image/png"/>
  <Override PartName="/ppt/media/image12.png" ContentType="image/png"/>
  <Override PartName="/ppt/media/image49.png" ContentType="image/png"/>
  <Override PartName="/ppt/media/image8.png" ContentType="image/png"/>
  <Override PartName="/ppt/media/image38.png" ContentType="image/png"/>
  <Override PartName="/ppt/media/image1.png" ContentType="image/png"/>
  <Override PartName="/ppt/media/image13.png" ContentType="image/png"/>
  <Override PartName="/ppt/media/image9.png" ContentType="image/png"/>
  <Override PartName="/ppt/media/image39.png" ContentType="image/png"/>
  <Override PartName="/ppt/media/image33.png" ContentType="image/png"/>
  <Override PartName="/ppt/media/image40.png" ContentType="image/png"/>
  <Override PartName="/ppt/media/image3.jpeg" ContentType="image/jpeg"/>
  <Override PartName="/ppt/media/image41.png" ContentType="image/png"/>
  <Override PartName="/ppt/media/image42.png" ContentType="image/png"/>
  <Override PartName="/ppt/media/image43.png" ContentType="image/png"/>
  <Override PartName="/ppt/media/image44.png" ContentType="image/png"/>
  <Override PartName="/ppt/media/image45.png" ContentType="image/png"/>
  <Override PartName="/ppt/media/image46.png" ContentType="image/png"/>
  <Override PartName="/ppt/media/image50.png" ContentType="image/png"/>
  <Override PartName="/ppt/media/image51.png" ContentType="image/png"/>
  <Override PartName="/ppt/media/image52.png" ContentType="image/png"/>
  <Override PartName="/ppt/media/image53.png" ContentType="image/png"/>
  <Override PartName="/ppt/media/image54.png" ContentType="image/png"/>
  <Override PartName="/ppt/presProps.xml" ContentType="application/vnd.openxmlformats-officedocument.presentationml.presPro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_rels/slide4.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33.xml.rels" ContentType="application/vnd.openxmlformats-package.relationships+xml"/>
  <Override PartName="/ppt/slides/_rels/slide6.xml.rels" ContentType="application/vnd.openxmlformats-package.relationships+xml"/>
  <Override PartName="/ppt/slides/_rels/slide41.xml.rels" ContentType="application/vnd.openxmlformats-package.relationships+xml"/>
  <Override PartName="/ppt/slides/_rels/slide34.xml.rels" ContentType="application/vnd.openxmlformats-package.relationships+xml"/>
  <Override PartName="/ppt/slides/_rels/slide7.xml.rels" ContentType="application/vnd.openxmlformats-package.relationships+xml"/>
  <Override PartName="/ppt/slides/_rels/slide42.xml.rels" ContentType="application/vnd.openxmlformats-package.relationships+xml"/>
  <Override PartName="/ppt/slides/_rels/slide35.xml.rels" ContentType="application/vnd.openxmlformats-package.relationships+xml"/>
  <Override PartName="/ppt/slides/_rels/slide1.xml.rels" ContentType="application/vnd.openxmlformats-package.relationships+xml"/>
  <Override PartName="/ppt/slides/_rels/slide20.xml.rels" ContentType="application/vnd.openxmlformats-package.relationships+xml"/>
  <Override PartName="/ppt/slides/_rels/slide31.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39.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29.xml.rels" ContentType="application/vnd.openxmlformats-package.relationships+xml"/>
  <Override PartName="/ppt/slides/_rels/slide23.xml.rels" ContentType="application/vnd.openxmlformats-package.relationships+xml"/>
  <Override PartName="/ppt/slides/_rels/slide38.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28.xml.rels" ContentType="application/vnd.openxmlformats-package.relationships+xml"/>
  <Override PartName="/ppt/slides/_rels/slide44.xml.rels" ContentType="application/vnd.openxmlformats-package.relationships+xml"/>
  <Override PartName="/ppt/slides/_rels/slide22.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21.xml.rels" ContentType="application/vnd.openxmlformats-package.relationships+xml"/>
  <Override PartName="/ppt/slides/_rels/slide36.xml.rels" ContentType="application/vnd.openxmlformats-package.relationships+xml"/>
  <Override PartName="/ppt/slides/_rels/slide27.xml.rels" ContentType="application/vnd.openxmlformats-package.relationships+xml"/>
  <Override PartName="/ppt/slides/_rels/slide43.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32.xml.rels" ContentType="application/vnd.openxmlformats-package.relationships+xml"/>
  <Override PartName="/ppt/slides/_rels/slide16.xml.rels" ContentType="application/vnd.openxmlformats-package.relationships+xml"/>
  <Override PartName="/ppt/slides/_rels/slide25.xml.rels" ContentType="application/vnd.openxmlformats-package.relationship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12.xml" ContentType="application/vnd.openxmlformats-officedocument.presentationml.slide+xml"/>
  <Override PartName="/ppt/slides/slide44.xml" ContentType="application/vnd.openxmlformats-officedocument.presentationml.slide+xml"/>
  <Override PartName="/ppt/slides/slide9.xml" ContentType="application/vnd.openxmlformats-officedocument.presentationml.slide+xml"/>
  <Override PartName="/ppt/slides/slide36.xml" ContentType="application/vnd.openxmlformats-officedocument.presentationml.slide+xml"/>
  <Override PartName="/ppt/slides/slide13.xml" ContentType="application/vnd.openxmlformats-officedocument.presentationml.slide+xml"/>
  <Override PartName="/ppt/slides/slide37.xml" ContentType="application/vnd.openxmlformats-officedocument.presentationml.slide+xml"/>
  <Override PartName="/ppt/slides/slide1.xml" ContentType="application/vnd.openxmlformats-officedocument.presentationml.slide+xml"/>
  <Override PartName="/ppt/slides/slide38.xml" ContentType="application/vnd.openxmlformats-officedocument.presentationml.slide+xml"/>
  <Override PartName="/ppt/slides/slide2.xml" ContentType="application/vnd.openxmlformats-officedocument.presentationml.slide+xml"/>
  <Override PartName="/ppt/slides/slide39.xml" ContentType="application/vnd.openxmlformats-officedocument.presentationml.slide+xml"/>
  <Override PartName="/ppt/slides/slide6.xml" ContentType="application/vnd.openxmlformats-officedocument.presentationml.slide+xml"/>
  <Override PartName="/ppt/slides/slide41.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42.xml" ContentType="application/vnd.openxmlformats-officedocument.presentationml.slide+xml"/>
  <Override PartName="/ppt/slides/slide4.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9"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5"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1"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3"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5"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6"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Pulse para editar el formato del texto de </a:t>
            </a:r>
            <a:r>
              <a:rPr b="0" lang="en-US" sz="4400" spc="-1" strike="noStrike">
                <a:latin typeface="Arial"/>
              </a:rPr>
              <a:t>título</a:t>
            </a:r>
            <a:endParaRPr b="0" lang="en-US"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Pulse para editar el formato de texto del esquema</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Segundo nivel del esquema</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Tercer nivel del esquema</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Cuarto nivel del esquema</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Quinto nivel del esquema</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Sexto nivel del esquema</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Séptimo nivel del esquema</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6 Rectángulo"/>
          <p:cNvSpPr/>
          <p:nvPr/>
        </p:nvSpPr>
        <p:spPr>
          <a:xfrm>
            <a:off x="0" y="6179400"/>
            <a:ext cx="12189240" cy="689760"/>
          </a:xfrm>
          <a:prstGeom prst="rect">
            <a:avLst/>
          </a:prstGeom>
          <a:solidFill>
            <a:srgbClr val="003594"/>
          </a:solidFill>
          <a:ln>
            <a:noFill/>
          </a:ln>
        </p:spPr>
        <p:style>
          <a:lnRef idx="2">
            <a:schemeClr val="accent1">
              <a:shade val="50000"/>
            </a:schemeClr>
          </a:lnRef>
          <a:fillRef idx="1">
            <a:schemeClr val="accent1"/>
          </a:fillRef>
          <a:effectRef idx="0">
            <a:schemeClr val="accent1"/>
          </a:effectRef>
          <a:fontRef idx="minor"/>
        </p:style>
      </p:sp>
      <p:pic>
        <p:nvPicPr>
          <p:cNvPr id="39" name="Picture 4" descr="http://www.ceste.es/wp-content/uploads/2016/06/CESTE-Diamante.png"/>
          <p:cNvPicPr/>
          <p:nvPr/>
        </p:nvPicPr>
        <p:blipFill>
          <a:blip r:embed="rId2"/>
          <a:stretch/>
        </p:blipFill>
        <p:spPr>
          <a:xfrm flipH="1">
            <a:off x="1682280" y="5883840"/>
            <a:ext cx="599760" cy="601920"/>
          </a:xfrm>
          <a:prstGeom prst="rect">
            <a:avLst/>
          </a:prstGeom>
          <a:ln w="0">
            <a:noFill/>
          </a:ln>
        </p:spPr>
      </p:pic>
      <p:pic>
        <p:nvPicPr>
          <p:cNvPr id="40" name="8 Imagen" descr="CESTE blanco estrella roja sin coletilla.png"/>
          <p:cNvPicPr/>
          <p:nvPr/>
        </p:nvPicPr>
        <p:blipFill>
          <a:blip r:embed="rId3"/>
          <a:stretch/>
        </p:blipFill>
        <p:spPr>
          <a:xfrm>
            <a:off x="9936360" y="6184800"/>
            <a:ext cx="1364760" cy="649800"/>
          </a:xfrm>
          <a:prstGeom prst="rect">
            <a:avLst/>
          </a:prstGeom>
          <a:ln w="0">
            <a:noFill/>
          </a:ln>
        </p:spPr>
      </p:pic>
      <p:sp>
        <p:nvSpPr>
          <p:cNvPr id="4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Pulse para editar el formato del texto de título</a:t>
            </a:r>
            <a:endParaRPr b="0" lang="en-US" sz="4400" spc="-1" strike="noStrike">
              <a:latin typeface="Arial"/>
            </a:endParaRPr>
          </a:p>
        </p:txBody>
      </p:sp>
      <p:sp>
        <p:nvSpPr>
          <p:cNvPr id="4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Pulse para editar el formato de texto del esquema</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Segundo nivel del esquema</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Tercer nivel del esquema</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Cuarto nivel del esquema</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Quinto nivel del esquema</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Sexto nivel del esquema</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Séptimo nivel del esquema</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sldMaster>
</file>

<file path=ppt/slides/_rels/slide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slideLayout" Target="../slideLayouts/slideLayout13.xml"/>
</Relationships>
</file>

<file path=ppt/slides/_rels/slide33.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13.xml"/>
</Relationships>
</file>

<file path=ppt/slides/_rels/slide34.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slideLayout" Target="../slideLayouts/slideLayout13.xml"/>
</Relationships>
</file>

<file path=ppt/slides/_rels/slide35.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3.xml"/>
</Relationships>
</file>

<file path=ppt/slides/_rels/slide36.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image" Target="../media/image53.png"/><Relationship Id="rId3" Type="http://schemas.openxmlformats.org/officeDocument/2006/relationships/slideLayout" Target="../slideLayouts/slideLayout13.xml"/>
</Relationships>
</file>

<file path=ppt/slides/_rels/slide37.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image" Target="../media/image55.png"/><Relationship Id="rId3" Type="http://schemas.openxmlformats.org/officeDocument/2006/relationships/slideLayout" Target="../slideLayouts/slideLayout13.xml"/>
</Relationships>
</file>

<file path=ppt/slides/_rels/slide38.xml.rels><?xml version="1.0" encoding="UTF-8"?>
<Relationships xmlns="http://schemas.openxmlformats.org/package/2006/relationships"><Relationship Id="rId1" Type="http://schemas.openxmlformats.org/officeDocument/2006/relationships/image" Target="../media/image56.png"/><Relationship Id="rId2" Type="http://schemas.openxmlformats.org/officeDocument/2006/relationships/slideLayout" Target="../slideLayouts/slideLayout13.xml"/>
</Relationships>
</file>

<file path=ppt/slides/_rels/slide39.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13.xml"/>
</Relationships>
</file>

<file path=ppt/slides/_rels/slide40.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slideLayout" Target="../slideLayouts/slideLayout13.xml"/>
</Relationships>
</file>

<file path=ppt/slides/_rels/slide41.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slideLayout" Target="../slideLayouts/slideLayout13.xml"/>
</Relationships>
</file>

<file path=ppt/slides/_rels/slide42.xml.rels><?xml version="1.0" encoding="UTF-8"?>
<Relationships xmlns="http://schemas.openxmlformats.org/package/2006/relationships"><Relationship Id="rId1" Type="http://schemas.openxmlformats.org/officeDocument/2006/relationships/image" Target="../media/image60.png"/><Relationship Id="rId2" Type="http://schemas.openxmlformats.org/officeDocument/2006/relationships/slideLayout" Target="../slideLayouts/slideLayout13.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4.xml.rels><?xml version="1.0" encoding="UTF-8"?>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 name="Imagen 3" descr="Una mujer en frente de laptop&#10;&#10;Descripción generada automáticamente"/>
          <p:cNvPicPr/>
          <p:nvPr/>
        </p:nvPicPr>
        <p:blipFill>
          <a:blip r:embed="rId1"/>
          <a:srcRect l="1742" t="12716" r="9979" b="12799"/>
          <a:stretch/>
        </p:blipFill>
        <p:spPr>
          <a:xfrm>
            <a:off x="0" y="0"/>
            <a:ext cx="12189240" cy="6855120"/>
          </a:xfrm>
          <a:prstGeom prst="rect">
            <a:avLst/>
          </a:prstGeom>
          <a:ln w="0">
            <a:noFill/>
          </a:ln>
        </p:spPr>
      </p:pic>
      <p:sp>
        <p:nvSpPr>
          <p:cNvPr id="80" name="7 Rectángulo"/>
          <p:cNvSpPr/>
          <p:nvPr/>
        </p:nvSpPr>
        <p:spPr>
          <a:xfrm>
            <a:off x="852840" y="6682680"/>
            <a:ext cx="11389320" cy="349920"/>
          </a:xfrm>
          <a:prstGeom prst="rect">
            <a:avLst/>
          </a:prstGeom>
          <a:solidFill>
            <a:srgbClr val="003594"/>
          </a:solidFill>
          <a:ln>
            <a:noFill/>
          </a:ln>
        </p:spPr>
        <p:style>
          <a:lnRef idx="2">
            <a:schemeClr val="accent1">
              <a:shade val="50000"/>
            </a:schemeClr>
          </a:lnRef>
          <a:fillRef idx="1">
            <a:schemeClr val="accent1"/>
          </a:fillRef>
          <a:effectRef idx="0">
            <a:schemeClr val="accent1"/>
          </a:effectRef>
          <a:fontRef idx="minor"/>
        </p:style>
      </p:sp>
      <p:pic>
        <p:nvPicPr>
          <p:cNvPr id="81" name="Picture 4" descr="http://www.ceste.es/wp-content/uploads/2016/06/CESTE-Diamante.png"/>
          <p:cNvPicPr/>
          <p:nvPr/>
        </p:nvPicPr>
        <p:blipFill>
          <a:blip r:embed="rId2"/>
          <a:stretch/>
        </p:blipFill>
        <p:spPr>
          <a:xfrm flipH="1">
            <a:off x="554400" y="6582960"/>
            <a:ext cx="599760" cy="601920"/>
          </a:xfrm>
          <a:prstGeom prst="rect">
            <a:avLst/>
          </a:prstGeom>
          <a:ln w="0">
            <a:noFill/>
          </a:ln>
        </p:spPr>
      </p:pic>
      <p:sp>
        <p:nvSpPr>
          <p:cNvPr id="82" name="7 Rectángulo"/>
          <p:cNvSpPr/>
          <p:nvPr/>
        </p:nvSpPr>
        <p:spPr>
          <a:xfrm>
            <a:off x="-96840" y="-99360"/>
            <a:ext cx="11486160" cy="285120"/>
          </a:xfrm>
          <a:prstGeom prst="rect">
            <a:avLst/>
          </a:prstGeom>
          <a:solidFill>
            <a:srgbClr val="003594"/>
          </a:solidFill>
          <a:ln>
            <a:noFill/>
          </a:ln>
        </p:spPr>
        <p:style>
          <a:lnRef idx="2">
            <a:schemeClr val="accent1">
              <a:shade val="50000"/>
            </a:schemeClr>
          </a:lnRef>
          <a:fillRef idx="1">
            <a:schemeClr val="accent1"/>
          </a:fillRef>
          <a:effectRef idx="0">
            <a:schemeClr val="accent1"/>
          </a:effectRef>
          <a:fontRef idx="minor"/>
        </p:style>
      </p:sp>
      <p:pic>
        <p:nvPicPr>
          <p:cNvPr id="83" name="Picture 4" descr="http://www.ceste.es/wp-content/uploads/2016/06/CESTE-Diamante.png"/>
          <p:cNvPicPr/>
          <p:nvPr/>
        </p:nvPicPr>
        <p:blipFill>
          <a:blip r:embed="rId3"/>
          <a:stretch/>
        </p:blipFill>
        <p:spPr>
          <a:xfrm flipH="1">
            <a:off x="11093760" y="-316440"/>
            <a:ext cx="599760" cy="601920"/>
          </a:xfrm>
          <a:prstGeom prst="rect">
            <a:avLst/>
          </a:prstGeom>
          <a:ln w="0">
            <a:noFill/>
          </a:ln>
        </p:spPr>
      </p:pic>
      <p:grpSp>
        <p:nvGrpSpPr>
          <p:cNvPr id="84" name="Grupo 14"/>
          <p:cNvGrpSpPr/>
          <p:nvPr/>
        </p:nvGrpSpPr>
        <p:grpSpPr>
          <a:xfrm>
            <a:off x="504000" y="405720"/>
            <a:ext cx="5253480" cy="2404080"/>
            <a:chOff x="504000" y="405720"/>
            <a:chExt cx="5253480" cy="2404080"/>
          </a:xfrm>
        </p:grpSpPr>
        <p:sp>
          <p:nvSpPr>
            <p:cNvPr id="85" name="12 Rectángulo"/>
            <p:cNvSpPr/>
            <p:nvPr/>
          </p:nvSpPr>
          <p:spPr>
            <a:xfrm>
              <a:off x="504000" y="405720"/>
              <a:ext cx="4852080" cy="2404080"/>
            </a:xfrm>
            <a:prstGeom prst="rect">
              <a:avLst/>
            </a:prstGeom>
            <a:solidFill>
              <a:srgbClr val="003594">
                <a:alpha val="46000"/>
              </a:srgbClr>
            </a:solidFill>
            <a:ln>
              <a:noFill/>
            </a:ln>
          </p:spPr>
          <p:style>
            <a:lnRef idx="2">
              <a:schemeClr val="accent1">
                <a:shade val="50000"/>
              </a:schemeClr>
            </a:lnRef>
            <a:fillRef idx="1">
              <a:schemeClr val="accent1"/>
            </a:fillRef>
            <a:effectRef idx="0">
              <a:schemeClr val="accent1"/>
            </a:effectRef>
            <a:fontRef idx="minor"/>
          </p:style>
        </p:sp>
        <p:grpSp>
          <p:nvGrpSpPr>
            <p:cNvPr id="86" name="Grupo 5"/>
            <p:cNvGrpSpPr/>
            <p:nvPr/>
          </p:nvGrpSpPr>
          <p:grpSpPr>
            <a:xfrm>
              <a:off x="734760" y="980640"/>
              <a:ext cx="5022720" cy="1829160"/>
              <a:chOff x="734760" y="980640"/>
              <a:chExt cx="5022720" cy="1829160"/>
            </a:xfrm>
          </p:grpSpPr>
          <p:sp>
            <p:nvSpPr>
              <p:cNvPr id="87" name="2 Subtítulo"/>
              <p:cNvSpPr/>
              <p:nvPr/>
            </p:nvSpPr>
            <p:spPr>
              <a:xfrm>
                <a:off x="778680" y="2277000"/>
                <a:ext cx="4978800" cy="532800"/>
              </a:xfrm>
              <a:prstGeom prst="rect">
                <a:avLst/>
              </a:prstGeom>
              <a:noFill/>
              <a:ln w="0">
                <a:noFill/>
              </a:ln>
            </p:spPr>
            <p:style>
              <a:lnRef idx="0"/>
              <a:fillRef idx="0"/>
              <a:effectRef idx="0"/>
              <a:fontRef idx="minor"/>
            </p:style>
            <p:txBody>
              <a:bodyPr lIns="90000" rIns="90000" tIns="45000" bIns="45000" anchor="t">
                <a:normAutofit/>
              </a:bodyPr>
              <a:p>
                <a:pPr>
                  <a:lnSpc>
                    <a:spcPct val="100000"/>
                  </a:lnSpc>
                  <a:buNone/>
                  <a:tabLst>
                    <a:tab algn="l" pos="0"/>
                  </a:tabLst>
                </a:pPr>
                <a:r>
                  <a:rPr b="1" lang="es-ES" sz="1800" spc="-1" strike="noStrike">
                    <a:solidFill>
                      <a:srgbClr val="ffffff"/>
                    </a:solidFill>
                    <a:latin typeface="Calibri"/>
                    <a:ea typeface="DejaVu Sans"/>
                  </a:rPr>
                  <a:t>Aprendizaje no supervisado</a:t>
                </a:r>
                <a:endParaRPr b="0" lang="en-US" sz="1800" spc="-1" strike="noStrike">
                  <a:latin typeface="Arial"/>
                </a:endParaRPr>
              </a:p>
            </p:txBody>
          </p:sp>
          <p:sp>
            <p:nvSpPr>
              <p:cNvPr id="88" name="1 Título"/>
              <p:cNvSpPr/>
              <p:nvPr/>
            </p:nvSpPr>
            <p:spPr>
              <a:xfrm>
                <a:off x="734760" y="980640"/>
                <a:ext cx="4014720" cy="13201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1" lang="es-ES" sz="3500" spc="-1" strike="noStrike">
                    <a:solidFill>
                      <a:srgbClr val="ffffff"/>
                    </a:solidFill>
                    <a:latin typeface="Calibri"/>
                    <a:ea typeface="DejaVu Sans"/>
                  </a:rPr>
                  <a:t>Formación IA</a:t>
                </a:r>
                <a:endParaRPr b="0" lang="en-US" sz="3500" spc="-1" strike="noStrike">
                  <a:latin typeface="Arial"/>
                </a:endParaRPr>
              </a:p>
            </p:txBody>
          </p:sp>
        </p:grpSp>
      </p:grpSp>
      <p:pic>
        <p:nvPicPr>
          <p:cNvPr id="89" name="Imagen 9" descr="Logotipo&#10;&#10;El contenido generado por IA puede ser incorrecto."/>
          <p:cNvPicPr/>
          <p:nvPr/>
        </p:nvPicPr>
        <p:blipFill>
          <a:blip r:embed="rId4"/>
          <a:stretch/>
        </p:blipFill>
        <p:spPr>
          <a:xfrm>
            <a:off x="3575880" y="532440"/>
            <a:ext cx="1651320" cy="8053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Clustering</a:t>
            </a:r>
            <a:endParaRPr b="0" lang="en-US" sz="2400" spc="-1" strike="noStrike">
              <a:latin typeface="Arial"/>
            </a:endParaRPr>
          </a:p>
        </p:txBody>
      </p:sp>
      <p:sp>
        <p:nvSpPr>
          <p:cNvPr id="91" name="PlaceHolder 2"/>
          <p:cNvSpPr>
            <a:spLocks noGrp="1"/>
          </p:cNvSpPr>
          <p:nvPr>
            <p:ph/>
          </p:nvPr>
        </p:nvSpPr>
        <p:spPr>
          <a:xfrm>
            <a:off x="838080" y="1124640"/>
            <a:ext cx="10512720" cy="175356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n-US" sz="2400" spc="-1" strike="noStrike">
                <a:latin typeface="Calibri"/>
              </a:rPr>
              <a:t>Definición:</a:t>
            </a:r>
            <a:r>
              <a:rPr b="0" lang="en-US" sz="1800" spc="-1" strike="noStrike">
                <a:latin typeface="Arial"/>
              </a:rPr>
              <a:t> </a:t>
            </a:r>
            <a:r>
              <a:rPr b="0" lang="en-US" sz="2000" spc="-1" strike="noStrike">
                <a:latin typeface="Calibri"/>
              </a:rPr>
              <a:t>es una técnica de aprendizaje automático no supervisado que agrupa datos similares en conjuntos llamados "clústeres". El objetivo es que los elementos dentro de un mismo grupo sean lo más parecidos posible entre sí, mientras que los elementos de grupos diferentes sean distintos. Es una herramienta útil para identificar patrones ocultos, segmentar audiencias y analizar la estructura de grandes volúmenes de datos sin etiquetas previas. </a:t>
            </a:r>
            <a:endParaRPr b="0" lang="en-US" sz="2000" spc="-1" strike="noStrike">
              <a:latin typeface="Arial"/>
            </a:endParaRPr>
          </a:p>
        </p:txBody>
      </p:sp>
      <p:pic>
        <p:nvPicPr>
          <p:cNvPr id="92" name="" descr=""/>
          <p:cNvPicPr/>
          <p:nvPr/>
        </p:nvPicPr>
        <p:blipFill>
          <a:blip r:embed="rId1"/>
          <a:stretch/>
        </p:blipFill>
        <p:spPr>
          <a:xfrm>
            <a:off x="4061160" y="3057840"/>
            <a:ext cx="3677040" cy="28803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Clustering</a:t>
            </a:r>
            <a:endParaRPr b="0" lang="en-US" sz="2400" spc="-1" strike="noStrike">
              <a:latin typeface="Arial"/>
            </a:endParaRPr>
          </a:p>
        </p:txBody>
      </p:sp>
      <p:sp>
        <p:nvSpPr>
          <p:cNvPr id="94" name="PlaceHolder 100"/>
          <p:cNvSpPr/>
          <p:nvPr/>
        </p:nvSpPr>
        <p:spPr>
          <a:xfrm>
            <a:off x="1198440" y="1304640"/>
            <a:ext cx="2399760" cy="49356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n-US" sz="1800" spc="-1" strike="noStrike">
                <a:solidFill>
                  <a:srgbClr val="000000"/>
                </a:solidFill>
                <a:latin typeface="Arial"/>
                <a:ea typeface="DejaVu Sans"/>
              </a:rPr>
              <a:t>JERÁRQUICO</a:t>
            </a:r>
            <a:endParaRPr b="0" lang="en-US" sz="1800" spc="-1" strike="noStrike">
              <a:latin typeface="Arial"/>
            </a:endParaRPr>
          </a:p>
        </p:txBody>
      </p:sp>
      <p:sp>
        <p:nvSpPr>
          <p:cNvPr id="95" name="PlaceHolder 101"/>
          <p:cNvSpPr/>
          <p:nvPr/>
        </p:nvSpPr>
        <p:spPr>
          <a:xfrm>
            <a:off x="6778440" y="1260000"/>
            <a:ext cx="2399760" cy="49356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n-US" sz="1800" spc="-1" strike="noStrike">
                <a:solidFill>
                  <a:srgbClr val="000000"/>
                </a:solidFill>
                <a:latin typeface="Arial"/>
                <a:ea typeface="DejaVu Sans"/>
              </a:rPr>
              <a:t>NO JERÁRQUICO</a:t>
            </a:r>
            <a:endParaRPr b="0" lang="en-US" sz="1800" spc="-1" strike="noStrike">
              <a:latin typeface="Arial"/>
            </a:endParaRPr>
          </a:p>
        </p:txBody>
      </p:sp>
      <p:sp>
        <p:nvSpPr>
          <p:cNvPr id="96" name="PlaceHolder 102"/>
          <p:cNvSpPr/>
          <p:nvPr/>
        </p:nvSpPr>
        <p:spPr>
          <a:xfrm>
            <a:off x="4500000" y="2160000"/>
            <a:ext cx="3058200" cy="49356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n-US" sz="1800" spc="-1" strike="noStrike">
                <a:solidFill>
                  <a:srgbClr val="000000"/>
                </a:solidFill>
                <a:latin typeface="Arial"/>
                <a:ea typeface="DejaVu Sans"/>
              </a:rPr>
              <a:t>CENTRADOS (K-Means)</a:t>
            </a:r>
            <a:endParaRPr b="0" lang="en-US" sz="1800" spc="-1" strike="noStrike">
              <a:latin typeface="Arial"/>
            </a:endParaRPr>
          </a:p>
        </p:txBody>
      </p:sp>
      <p:sp>
        <p:nvSpPr>
          <p:cNvPr id="97" name="PlaceHolder 103"/>
          <p:cNvSpPr/>
          <p:nvPr/>
        </p:nvSpPr>
        <p:spPr>
          <a:xfrm>
            <a:off x="8578440" y="2160000"/>
            <a:ext cx="2759760" cy="49356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n-US" sz="1800" spc="-1" strike="noStrike">
                <a:solidFill>
                  <a:srgbClr val="000000"/>
                </a:solidFill>
                <a:latin typeface="Arial"/>
                <a:ea typeface="DejaVu Sans"/>
              </a:rPr>
              <a:t>DENSIDAD (DBSCAN)</a:t>
            </a:r>
            <a:endParaRPr b="0" lang="en-US" sz="1800" spc="-1" strike="noStrike">
              <a:latin typeface="Arial"/>
            </a:endParaRPr>
          </a:p>
        </p:txBody>
      </p:sp>
      <p:pic>
        <p:nvPicPr>
          <p:cNvPr id="98" name="" descr=""/>
          <p:cNvPicPr/>
          <p:nvPr/>
        </p:nvPicPr>
        <p:blipFill>
          <a:blip r:embed="rId1"/>
          <a:stretch/>
        </p:blipFill>
        <p:spPr>
          <a:xfrm>
            <a:off x="540000" y="3060000"/>
            <a:ext cx="3576960" cy="2508480"/>
          </a:xfrm>
          <a:prstGeom prst="rect">
            <a:avLst/>
          </a:prstGeom>
          <a:ln w="0">
            <a:noFill/>
          </a:ln>
        </p:spPr>
      </p:pic>
      <p:pic>
        <p:nvPicPr>
          <p:cNvPr id="99" name="" descr=""/>
          <p:cNvPicPr/>
          <p:nvPr/>
        </p:nvPicPr>
        <p:blipFill>
          <a:blip r:embed="rId2"/>
          <a:stretch/>
        </p:blipFill>
        <p:spPr>
          <a:xfrm>
            <a:off x="4500000" y="3060000"/>
            <a:ext cx="3058200" cy="2352960"/>
          </a:xfrm>
          <a:prstGeom prst="rect">
            <a:avLst/>
          </a:prstGeom>
          <a:ln w="0">
            <a:noFill/>
          </a:ln>
        </p:spPr>
      </p:pic>
      <p:pic>
        <p:nvPicPr>
          <p:cNvPr id="100" name="" descr=""/>
          <p:cNvPicPr/>
          <p:nvPr/>
        </p:nvPicPr>
        <p:blipFill>
          <a:blip r:embed="rId3"/>
          <a:stretch/>
        </p:blipFill>
        <p:spPr>
          <a:xfrm>
            <a:off x="8100000" y="3049200"/>
            <a:ext cx="3958200" cy="23727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Clustering no jerárquico </a:t>
            </a:r>
            <a:endParaRPr b="0" lang="en-US" sz="2400" spc="-1" strike="noStrike">
              <a:latin typeface="Arial"/>
            </a:endParaRPr>
          </a:p>
        </p:txBody>
      </p:sp>
      <p:pic>
        <p:nvPicPr>
          <p:cNvPr id="102" name="" descr=""/>
          <p:cNvPicPr/>
          <p:nvPr/>
        </p:nvPicPr>
        <p:blipFill>
          <a:blip r:embed="rId1"/>
          <a:stretch/>
        </p:blipFill>
        <p:spPr>
          <a:xfrm>
            <a:off x="3420000" y="3857040"/>
            <a:ext cx="4139640" cy="2082600"/>
          </a:xfrm>
          <a:prstGeom prst="rect">
            <a:avLst/>
          </a:prstGeom>
          <a:ln w="0">
            <a:noFill/>
          </a:ln>
        </p:spPr>
      </p:pic>
      <p:pic>
        <p:nvPicPr>
          <p:cNvPr id="103" name="" descr=""/>
          <p:cNvPicPr/>
          <p:nvPr/>
        </p:nvPicPr>
        <p:blipFill>
          <a:blip r:embed="rId2"/>
          <a:stretch/>
        </p:blipFill>
        <p:spPr>
          <a:xfrm>
            <a:off x="633960" y="1080000"/>
            <a:ext cx="7285680" cy="25707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Clustering no jerárquico </a:t>
            </a:r>
            <a:endParaRPr b="0" lang="en-US" sz="2400" spc="-1" strike="noStrike">
              <a:latin typeface="Arial"/>
            </a:endParaRPr>
          </a:p>
        </p:txBody>
      </p:sp>
      <p:sp>
        <p:nvSpPr>
          <p:cNvPr id="105" name="PlaceHolder 4"/>
          <p:cNvSpPr/>
          <p:nvPr/>
        </p:nvSpPr>
        <p:spPr>
          <a:xfrm>
            <a:off x="838080" y="1125000"/>
            <a:ext cx="10512720" cy="17535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 </a:t>
            </a:r>
            <a:r>
              <a:rPr b="1" lang="en-US" sz="2400" spc="-1" strike="noStrike">
                <a:solidFill>
                  <a:srgbClr val="000000"/>
                </a:solidFill>
                <a:latin typeface="Calibri"/>
                <a:ea typeface="DejaVu Sans"/>
              </a:rPr>
              <a:t>Definición:</a:t>
            </a:r>
            <a:r>
              <a:rPr b="0" lang="en-US" sz="1800" spc="-1" strike="noStrike">
                <a:solidFill>
                  <a:srgbClr val="000000"/>
                </a:solidFill>
                <a:latin typeface="Arial"/>
                <a:ea typeface="DejaVu Sans"/>
              </a:rPr>
              <a:t> </a:t>
            </a:r>
            <a:r>
              <a:rPr b="0" lang="es-ES" sz="2000" spc="-1" strike="noStrike">
                <a:solidFill>
                  <a:srgbClr val="000000"/>
                </a:solidFill>
                <a:latin typeface="Calibri"/>
                <a:ea typeface="DejaVu Sans"/>
              </a:rPr>
              <a:t>es una técnica de agrupamiento utilizada en análisis de datos y aprendizaje automático para dividir un conjunto de datos en grupos (o clusters) sin seguir una estructura jerárquica. A diferencia del clustering jerárquico, que construye una estructura en forma de árbol (dendrograma), el clustering no jerárquico asigna directamente cada elemento a un grupo, optimizando algún criterio</a:t>
            </a:r>
            <a:endParaRPr b="0" lang="en-US" sz="2000" spc="-1" strike="noStrike">
              <a:latin typeface="Arial"/>
            </a:endParaRPr>
          </a:p>
        </p:txBody>
      </p:sp>
      <p:pic>
        <p:nvPicPr>
          <p:cNvPr id="106" name="" descr=""/>
          <p:cNvPicPr/>
          <p:nvPr/>
        </p:nvPicPr>
        <p:blipFill>
          <a:blip r:embed="rId1"/>
          <a:stretch/>
        </p:blipFill>
        <p:spPr>
          <a:xfrm>
            <a:off x="3470400" y="3159000"/>
            <a:ext cx="5526720" cy="2780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sp>
        <p:nvSpPr>
          <p:cNvPr id="108" name="PlaceHolder 2"/>
          <p:cNvSpPr>
            <a:spLocks noGrp="1"/>
          </p:cNvSpPr>
          <p:nvPr>
            <p:ph/>
          </p:nvPr>
        </p:nvSpPr>
        <p:spPr>
          <a:xfrm>
            <a:off x="838080" y="1124640"/>
            <a:ext cx="10512720" cy="4348440"/>
          </a:xfrm>
          <a:prstGeom prst="rect">
            <a:avLst/>
          </a:prstGeom>
          <a:noFill/>
          <a:ln w="0">
            <a:noFill/>
          </a:ln>
        </p:spPr>
        <p:txBody>
          <a:bodyPr lIns="90000" rIns="90000" tIns="45000" bIns="45000" anchor="t">
            <a:noAutofit/>
          </a:bodyPr>
          <a:p>
            <a:pPr marL="450360" indent="-179640">
              <a:lnSpc>
                <a:spcPct val="115000"/>
              </a:lnSpc>
              <a:spcAft>
                <a:spcPts val="1236"/>
              </a:spcAft>
              <a:buNone/>
              <a:tabLst>
                <a:tab algn="l" pos="0"/>
              </a:tabLst>
            </a:pPr>
            <a:endParaRPr b="0" lang="en-US" sz="12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400" spc="-1" strike="noStrike">
                <a:latin typeface="Caibri"/>
              </a:rPr>
              <a:t>Su objetivo es dividir un conjunto de datos en k grupos (clusters), donde cada observación pertenece al grupo cuyo centroide esté más cercano.</a:t>
            </a:r>
            <a:endParaRPr b="0" lang="en-US" sz="24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400" spc="-1" strike="noStrike">
                <a:latin typeface="Caibri"/>
              </a:rPr>
              <a:t>Los clusters se definen en torno a estos centroides, que representan la media de los puntos asignados a cada grupo.</a:t>
            </a:r>
            <a:endParaRPr b="0" lang="en-US" sz="24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400" spc="-1" strike="noStrike">
                <a:latin typeface="Caibri"/>
              </a:rPr>
              <a:t>Es un método muy popular debido a su simplicidad, velocidad y escalabilidad</a:t>
            </a:r>
            <a:endParaRPr b="0" lang="en-US" sz="2400" spc="-1" strike="noStrike">
              <a:latin typeface="Arial"/>
            </a:endParaRPr>
          </a:p>
          <a:p>
            <a:pPr marL="450360" indent="-179640">
              <a:lnSpc>
                <a:spcPct val="115000"/>
              </a:lnSpc>
              <a:spcAft>
                <a:spcPts val="1236"/>
              </a:spcAft>
              <a:buNone/>
              <a:tabLst>
                <a:tab algn="l" pos="0"/>
              </a:tabLst>
            </a:pPr>
            <a:endParaRPr b="0" lang="en-US" sz="2400" spc="-1" strike="noStrike">
              <a:latin typeface="Arial"/>
            </a:endParaRPr>
          </a:p>
          <a:p>
            <a:pPr marL="450360" indent="-179640">
              <a:lnSpc>
                <a:spcPct val="115000"/>
              </a:lnSpc>
              <a:spcAft>
                <a:spcPts val="1236"/>
              </a:spcAft>
              <a:buNone/>
              <a:tabLst>
                <a:tab algn="l" pos="0"/>
              </a:tabLst>
            </a:pP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sp>
        <p:nvSpPr>
          <p:cNvPr id="110" name=""/>
          <p:cNvSpPr/>
          <p:nvPr/>
        </p:nvSpPr>
        <p:spPr>
          <a:xfrm>
            <a:off x="868320" y="1260000"/>
            <a:ext cx="10830960" cy="899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s-ES" sz="2400" spc="-1" strike="noStrike">
                <a:solidFill>
                  <a:srgbClr val="000000"/>
                </a:solidFill>
                <a:latin typeface="Calibri"/>
                <a:ea typeface="DejaVu Sans"/>
              </a:rPr>
              <a:t>“</a:t>
            </a:r>
            <a:r>
              <a:rPr b="1" lang="es-ES" sz="2400" spc="-1" strike="noStrike">
                <a:solidFill>
                  <a:srgbClr val="000000"/>
                </a:solidFill>
                <a:latin typeface="Calibri"/>
                <a:ea typeface="DejaVu Sans"/>
              </a:rPr>
              <a:t>El objetivo principal del algoritmo K-Means es minimizar la suma de las distancias entre los puntos y el centroide de su respectivo clúster.”</a:t>
            </a:r>
            <a:endParaRPr b="0" lang="en-US" sz="2400" spc="-1" strike="noStrike">
              <a:latin typeface="Arial"/>
            </a:endParaRPr>
          </a:p>
        </p:txBody>
      </p:sp>
      <p:pic>
        <p:nvPicPr>
          <p:cNvPr id="111" name="" descr=""/>
          <p:cNvPicPr/>
          <p:nvPr/>
        </p:nvPicPr>
        <p:blipFill>
          <a:blip r:embed="rId1"/>
          <a:stretch/>
        </p:blipFill>
        <p:spPr>
          <a:xfrm>
            <a:off x="3240000" y="2360880"/>
            <a:ext cx="5304960" cy="35787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sp>
        <p:nvSpPr>
          <p:cNvPr id="113" name="PlaceHolder 2"/>
          <p:cNvSpPr>
            <a:spLocks noGrp="1"/>
          </p:cNvSpPr>
          <p:nvPr>
            <p:ph/>
          </p:nvPr>
        </p:nvSpPr>
        <p:spPr>
          <a:xfrm>
            <a:off x="838080" y="1124640"/>
            <a:ext cx="10512720" cy="4348440"/>
          </a:xfrm>
          <a:prstGeom prst="rect">
            <a:avLst/>
          </a:prstGeom>
          <a:noFill/>
          <a:ln w="0">
            <a:noFill/>
          </a:ln>
        </p:spPr>
        <p:txBody>
          <a:bodyPr lIns="90000" rIns="90000" tIns="45000" bIns="45000" anchor="t">
            <a:noAutofit/>
          </a:bodyPr>
          <a:p>
            <a:pPr marL="432000" indent="-324000">
              <a:lnSpc>
                <a:spcPct val="90000"/>
              </a:lnSpc>
              <a:buClr>
                <a:srgbClr val="000000"/>
              </a:buClr>
              <a:buFont typeface="Wingdings" charset="2"/>
              <a:buChar char=""/>
            </a:pPr>
            <a:r>
              <a:rPr b="1" lang="es-ES" sz="2400" spc="-1" strike="noStrike">
                <a:solidFill>
                  <a:srgbClr val="000000"/>
                </a:solidFill>
                <a:latin typeface="Calibri"/>
              </a:rPr>
              <a:t>Inicialización</a:t>
            </a:r>
            <a:endParaRPr b="0" lang="en-US" sz="2400" spc="-1" strike="noStrike">
              <a:latin typeface="Arial"/>
            </a:endParaRPr>
          </a:p>
          <a:p>
            <a:pPr lvl="1" marL="864000" indent="-324000">
              <a:lnSpc>
                <a:spcPct val="90000"/>
              </a:lnSpc>
              <a:spcBef>
                <a:spcPts val="1134"/>
              </a:spcBef>
              <a:buClr>
                <a:srgbClr val="000000"/>
              </a:buClr>
              <a:buSzPct val="75000"/>
              <a:buFont typeface="Symbol"/>
              <a:buChar char=""/>
            </a:pPr>
            <a:r>
              <a:rPr b="0" lang="es-ES" sz="2000" spc="-1" strike="noStrike">
                <a:solidFill>
                  <a:srgbClr val="000000"/>
                </a:solidFill>
                <a:latin typeface="Calibri"/>
              </a:rPr>
              <a:t>Elegir el número de clusters k</a:t>
            </a:r>
            <a:endParaRPr b="0" lang="en-US" sz="2000" spc="-1" strike="noStrike">
              <a:latin typeface="Arial"/>
            </a:endParaRPr>
          </a:p>
          <a:p>
            <a:pPr lvl="1" marL="864000" indent="-324000">
              <a:lnSpc>
                <a:spcPct val="90000"/>
              </a:lnSpc>
              <a:spcBef>
                <a:spcPts val="1134"/>
              </a:spcBef>
              <a:buClr>
                <a:srgbClr val="000000"/>
              </a:buClr>
              <a:buSzPct val="75000"/>
              <a:buFont typeface="Symbol"/>
              <a:buChar char=""/>
            </a:pPr>
            <a:r>
              <a:rPr b="0" lang="es-ES" sz="2000" spc="-1" strike="noStrike">
                <a:solidFill>
                  <a:srgbClr val="000000"/>
                </a:solidFill>
                <a:latin typeface="Calibri"/>
              </a:rPr>
              <a:t>Seleccionar k centroides iniciales</a:t>
            </a:r>
            <a:endParaRPr b="0" lang="en-US" sz="2000" spc="-1" strike="noStrike">
              <a:latin typeface="Arial"/>
            </a:endParaRPr>
          </a:p>
          <a:p>
            <a:pPr>
              <a:lnSpc>
                <a:spcPct val="90000"/>
              </a:lnSpc>
              <a:buNone/>
            </a:pPr>
            <a:endParaRPr b="0" lang="en-US" sz="2000" spc="-1" strike="noStrike">
              <a:latin typeface="Arial"/>
            </a:endParaRPr>
          </a:p>
          <a:p>
            <a:pPr marL="432000" indent="-324000">
              <a:lnSpc>
                <a:spcPct val="90000"/>
              </a:lnSpc>
              <a:buClr>
                <a:srgbClr val="000000"/>
              </a:buClr>
              <a:buFont typeface="Wingdings" charset="2"/>
              <a:buChar char=""/>
            </a:pPr>
            <a:r>
              <a:rPr b="1" lang="es-ES" sz="2400" spc="-1" strike="noStrike">
                <a:solidFill>
                  <a:srgbClr val="000000"/>
                </a:solidFill>
                <a:latin typeface="Calibri"/>
              </a:rPr>
              <a:t>Asignación</a:t>
            </a:r>
            <a:endParaRPr b="0" lang="en-US" sz="2400" spc="-1" strike="noStrike">
              <a:latin typeface="Arial"/>
            </a:endParaRPr>
          </a:p>
          <a:p>
            <a:pPr lvl="1" marL="864000" indent="-324000">
              <a:lnSpc>
                <a:spcPct val="90000"/>
              </a:lnSpc>
              <a:spcBef>
                <a:spcPts val="1134"/>
              </a:spcBef>
              <a:buClr>
                <a:srgbClr val="000000"/>
              </a:buClr>
              <a:buSzPct val="75000"/>
              <a:buFont typeface="Symbol"/>
              <a:buChar char=""/>
            </a:pPr>
            <a:r>
              <a:rPr b="0" lang="es-ES" sz="2000" spc="-1" strike="noStrike">
                <a:solidFill>
                  <a:srgbClr val="000000"/>
                </a:solidFill>
                <a:latin typeface="Calibri"/>
              </a:rPr>
              <a:t>Cada punto se asigna al centroide más cercano (usualmente con distancia euclidiana)</a:t>
            </a:r>
            <a:endParaRPr b="0" lang="en-US" sz="2000" spc="-1" strike="noStrike">
              <a:latin typeface="Arial"/>
            </a:endParaRPr>
          </a:p>
          <a:p>
            <a:pPr>
              <a:lnSpc>
                <a:spcPct val="90000"/>
              </a:lnSpc>
              <a:buNone/>
            </a:pPr>
            <a:endParaRPr b="0" lang="en-US" sz="2000" spc="-1" strike="noStrike">
              <a:latin typeface="Arial"/>
            </a:endParaRPr>
          </a:p>
          <a:p>
            <a:pPr marL="432000" indent="-324000">
              <a:lnSpc>
                <a:spcPct val="90000"/>
              </a:lnSpc>
              <a:buClr>
                <a:srgbClr val="000000"/>
              </a:buClr>
              <a:buFont typeface="Wingdings" charset="2"/>
              <a:buChar char=""/>
            </a:pPr>
            <a:r>
              <a:rPr b="1" lang="es-ES" sz="2400" spc="-1" strike="noStrike">
                <a:solidFill>
                  <a:srgbClr val="000000"/>
                </a:solidFill>
                <a:latin typeface="Calibri"/>
              </a:rPr>
              <a:t>Actualización</a:t>
            </a:r>
            <a:endParaRPr b="0" lang="en-US" sz="2400" spc="-1" strike="noStrike">
              <a:latin typeface="Arial"/>
            </a:endParaRPr>
          </a:p>
          <a:p>
            <a:pPr lvl="1" marL="864000" indent="-324000">
              <a:lnSpc>
                <a:spcPct val="90000"/>
              </a:lnSpc>
              <a:spcBef>
                <a:spcPts val="1134"/>
              </a:spcBef>
              <a:buClr>
                <a:srgbClr val="000000"/>
              </a:buClr>
              <a:buSzPct val="75000"/>
              <a:buFont typeface="Symbol"/>
              <a:buChar char=""/>
            </a:pPr>
            <a:r>
              <a:rPr b="0" lang="es-ES" sz="2000" spc="-1" strike="noStrike">
                <a:solidFill>
                  <a:srgbClr val="000000"/>
                </a:solidFill>
                <a:latin typeface="Calibri"/>
              </a:rPr>
              <a:t>Recalcular los centroides como la media de los puntos asignados a cada cluster</a:t>
            </a:r>
            <a:endParaRPr b="0" lang="en-US" sz="2000" spc="-1" strike="noStrike">
              <a:latin typeface="Arial"/>
            </a:endParaRPr>
          </a:p>
          <a:p>
            <a:pPr>
              <a:lnSpc>
                <a:spcPct val="90000"/>
              </a:lnSpc>
              <a:buNone/>
            </a:pPr>
            <a:endParaRPr b="0" lang="en-US" sz="2000" spc="-1" strike="noStrike">
              <a:latin typeface="Arial"/>
            </a:endParaRPr>
          </a:p>
          <a:p>
            <a:pPr marL="432000" indent="-324000">
              <a:lnSpc>
                <a:spcPct val="90000"/>
              </a:lnSpc>
              <a:buClr>
                <a:srgbClr val="000000"/>
              </a:buClr>
              <a:buFont typeface="Wingdings" charset="2"/>
              <a:buChar char=""/>
            </a:pPr>
            <a:r>
              <a:rPr b="1" lang="es-ES" sz="2400" spc="-1" strike="noStrike">
                <a:solidFill>
                  <a:srgbClr val="000000"/>
                </a:solidFill>
                <a:latin typeface="Calibri"/>
              </a:rPr>
              <a:t>Iteración</a:t>
            </a:r>
            <a:endParaRPr b="0" lang="en-US" sz="2400" spc="-1" strike="noStrike">
              <a:latin typeface="Arial"/>
            </a:endParaRPr>
          </a:p>
          <a:p>
            <a:pPr lvl="1" marL="864000" indent="-324000">
              <a:lnSpc>
                <a:spcPct val="90000"/>
              </a:lnSpc>
              <a:spcBef>
                <a:spcPts val="1134"/>
              </a:spcBef>
              <a:buClr>
                <a:srgbClr val="000000"/>
              </a:buClr>
              <a:buSzPct val="75000"/>
              <a:buFont typeface="Symbol"/>
              <a:buChar char=""/>
            </a:pPr>
            <a:r>
              <a:rPr b="0" lang="es-ES" sz="2000" spc="-1" strike="noStrike">
                <a:solidFill>
                  <a:srgbClr val="000000"/>
                </a:solidFill>
                <a:latin typeface="Calibri"/>
              </a:rPr>
              <a:t>Repetir asignación y actualización hasta que los centroides no cambien significativamente o se alcance el número máximo de iteraciones</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pic>
        <p:nvPicPr>
          <p:cNvPr id="115" name="" descr=""/>
          <p:cNvPicPr/>
          <p:nvPr/>
        </p:nvPicPr>
        <p:blipFill>
          <a:blip r:embed="rId1"/>
          <a:stretch/>
        </p:blipFill>
        <p:spPr>
          <a:xfrm>
            <a:off x="1800000" y="1318680"/>
            <a:ext cx="9162720" cy="39009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sp>
        <p:nvSpPr>
          <p:cNvPr id="117" name="PlaceHolder 2"/>
          <p:cNvSpPr>
            <a:spLocks noGrp="1"/>
          </p:cNvSpPr>
          <p:nvPr>
            <p:ph/>
          </p:nvPr>
        </p:nvSpPr>
        <p:spPr>
          <a:xfrm>
            <a:off x="838080" y="1124640"/>
            <a:ext cx="10512720" cy="3194640"/>
          </a:xfrm>
          <a:prstGeom prst="rect">
            <a:avLst/>
          </a:prstGeom>
          <a:noFill/>
          <a:ln w="0">
            <a:noFill/>
          </a:ln>
        </p:spPr>
        <p:txBody>
          <a:bodyPr lIns="90000" rIns="90000" tIns="45000" bIns="45000" anchor="t">
            <a:noAutofit/>
          </a:bodyPr>
          <a:p>
            <a:pPr marL="432000" indent="-324000">
              <a:lnSpc>
                <a:spcPct val="90000"/>
              </a:lnSpc>
              <a:buClr>
                <a:srgbClr val="000000"/>
              </a:buClr>
              <a:buFont typeface="Wingdings" charset="2"/>
              <a:buChar char=""/>
            </a:pPr>
            <a:r>
              <a:rPr b="1" lang="es-ES" sz="2400" spc="-1" strike="noStrike">
                <a:solidFill>
                  <a:srgbClr val="000000"/>
                </a:solidFill>
                <a:latin typeface="Calibri"/>
              </a:rPr>
              <a:t>Criterios de finalización</a:t>
            </a:r>
            <a:endParaRPr b="0" lang="en-US" sz="2400" spc="-1" strike="noStrike">
              <a:latin typeface="Arial"/>
            </a:endParaRPr>
          </a:p>
          <a:p>
            <a:pPr>
              <a:lnSpc>
                <a:spcPct val="100000"/>
              </a:lnSpc>
              <a:buNone/>
            </a:pPr>
            <a:endParaRPr b="0" lang="en-US" sz="2400" spc="-1" strike="noStrike">
              <a:latin typeface="Arial"/>
            </a:endParaRPr>
          </a:p>
          <a:p>
            <a:pPr marL="216000" indent="-216000">
              <a:lnSpc>
                <a:spcPct val="100000"/>
              </a:lnSpc>
              <a:buClr>
                <a:srgbClr val="000000"/>
              </a:buClr>
              <a:buSzPct val="45000"/>
              <a:buFont typeface="Wingdings" charset="2"/>
              <a:buChar char=""/>
            </a:pPr>
            <a:r>
              <a:rPr b="0" lang="es-ES" sz="2400" spc="-1" strike="noStrike">
                <a:latin typeface="Calibri"/>
              </a:rPr>
              <a:t> </a:t>
            </a:r>
            <a:r>
              <a:rPr b="0" lang="es-ES" sz="2400" spc="-1" strike="noStrike">
                <a:latin typeface="Calibri"/>
              </a:rPr>
              <a:t>Los puntos de datos permanecen asignados a los mismos clústeres que antes.</a:t>
            </a:r>
            <a:endParaRPr b="0" lang="en-US" sz="2400" spc="-1" strike="noStrike">
              <a:latin typeface="Arial"/>
            </a:endParaRPr>
          </a:p>
          <a:p>
            <a:pPr>
              <a:lnSpc>
                <a:spcPct val="100000"/>
              </a:lnSpc>
              <a:buNone/>
            </a:pPr>
            <a:endParaRPr b="0" lang="en-US" sz="2400" spc="-1" strike="noStrike">
              <a:latin typeface="Arial"/>
            </a:endParaRPr>
          </a:p>
          <a:p>
            <a:pPr marL="216000" indent="-216000">
              <a:lnSpc>
                <a:spcPct val="100000"/>
              </a:lnSpc>
              <a:buClr>
                <a:srgbClr val="000000"/>
              </a:buClr>
              <a:buSzPct val="45000"/>
              <a:buFont typeface="Wingdings" charset="2"/>
              <a:buChar char=""/>
            </a:pPr>
            <a:r>
              <a:rPr b="0" lang="es-ES" sz="2400" spc="-1" strike="noStrike">
                <a:latin typeface="Calibri"/>
              </a:rPr>
              <a:t> </a:t>
            </a:r>
            <a:r>
              <a:rPr b="0" lang="es-ES" sz="2400" spc="-1" strike="noStrike">
                <a:latin typeface="Calibri"/>
              </a:rPr>
              <a:t>Los centroides de los cluters permanecen sin cambios con respecto a sus posiciones anteriores (Si el cambio en la inercia es inferior al valor establecido).</a:t>
            </a:r>
            <a:endParaRPr b="0" lang="en-US" sz="2400" spc="-1" strike="noStrike">
              <a:latin typeface="Arial"/>
            </a:endParaRPr>
          </a:p>
          <a:p>
            <a:pPr>
              <a:lnSpc>
                <a:spcPct val="100000"/>
              </a:lnSpc>
              <a:buNone/>
            </a:pPr>
            <a:endParaRPr b="0" lang="en-US" sz="2400" spc="-1" strike="noStrike">
              <a:latin typeface="Arial"/>
            </a:endParaRPr>
          </a:p>
          <a:p>
            <a:pPr marL="216000" indent="-216000">
              <a:lnSpc>
                <a:spcPct val="100000"/>
              </a:lnSpc>
              <a:buClr>
                <a:srgbClr val="000000"/>
              </a:buClr>
              <a:buSzPct val="45000"/>
              <a:buFont typeface="Wingdings" charset="2"/>
              <a:buChar char=""/>
            </a:pPr>
            <a:r>
              <a:rPr b="0" lang="es-ES" sz="2400" spc="-1" strike="noStrike">
                <a:latin typeface="Calibri"/>
              </a:rPr>
              <a:t> </a:t>
            </a:r>
            <a:r>
              <a:rPr b="0" lang="es-ES" sz="2400" spc="-1" strike="noStrike">
                <a:latin typeface="Calibri"/>
              </a:rPr>
              <a:t>El algoritmo ha completado el número total de iteraciones especificado.</a:t>
            </a:r>
            <a:endParaRPr b="0" lang="en-US" sz="2400" spc="-1" strike="noStrike">
              <a:latin typeface="Arial"/>
            </a:endParaRPr>
          </a:p>
        </p:txBody>
      </p:sp>
      <p:pic>
        <p:nvPicPr>
          <p:cNvPr id="118" name="" descr=""/>
          <p:cNvPicPr/>
          <p:nvPr/>
        </p:nvPicPr>
        <p:blipFill>
          <a:blip r:embed="rId1"/>
          <a:stretch/>
        </p:blipFill>
        <p:spPr>
          <a:xfrm>
            <a:off x="720000" y="4680000"/>
            <a:ext cx="10918800" cy="5396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sp>
        <p:nvSpPr>
          <p:cNvPr id="120" name="PlaceHolder 2"/>
          <p:cNvSpPr>
            <a:spLocks noGrp="1"/>
          </p:cNvSpPr>
          <p:nvPr>
            <p:ph/>
          </p:nvPr>
        </p:nvSpPr>
        <p:spPr>
          <a:xfrm>
            <a:off x="838080" y="1124640"/>
            <a:ext cx="10512720" cy="4348440"/>
          </a:xfrm>
          <a:prstGeom prst="rect">
            <a:avLst/>
          </a:prstGeom>
          <a:noFill/>
          <a:ln w="0">
            <a:noFill/>
          </a:ln>
        </p:spPr>
        <p:txBody>
          <a:bodyPr lIns="90000" rIns="90000" tIns="45000" bIns="45000" anchor="t">
            <a:noAutofit/>
          </a:bodyPr>
          <a:p>
            <a:pPr>
              <a:lnSpc>
                <a:spcPct val="100000"/>
              </a:lnSpc>
              <a:buNone/>
            </a:pPr>
            <a:endParaRPr b="0" lang="en-US" sz="1800" spc="-1" strike="noStrike">
              <a:latin typeface="Arial"/>
            </a:endParaRPr>
          </a:p>
          <a:p>
            <a:pPr marL="432000" indent="-324000">
              <a:lnSpc>
                <a:spcPct val="100000"/>
              </a:lnSpc>
              <a:buClr>
                <a:srgbClr val="000000"/>
              </a:buClr>
              <a:buFont typeface="Wingdings" charset="2"/>
              <a:buChar char=""/>
            </a:pPr>
            <a:r>
              <a:rPr b="1" lang="es-ES" sz="2400" spc="-1" strike="noStrike">
                <a:latin typeface="Calibri"/>
              </a:rPr>
              <a:t>Elección del número de grupos (K)</a:t>
            </a:r>
            <a:endParaRPr b="0" lang="en-US" sz="2400" spc="-1" strike="noStrike">
              <a:latin typeface="Arial"/>
            </a:endParaRPr>
          </a:p>
          <a:p>
            <a:pPr>
              <a:lnSpc>
                <a:spcPct val="100000"/>
              </a:lnSpc>
              <a:buNone/>
            </a:pPr>
            <a:endParaRPr b="0" lang="en-US" sz="2400" spc="-1" strike="noStrike">
              <a:latin typeface="Arial"/>
            </a:endParaRPr>
          </a:p>
          <a:p>
            <a:pPr>
              <a:lnSpc>
                <a:spcPct val="100000"/>
              </a:lnSpc>
              <a:buNone/>
            </a:pPr>
            <a:endParaRPr b="0" lang="en-US" sz="2400" spc="-1" strike="noStrike">
              <a:latin typeface="Arial"/>
            </a:endParaRPr>
          </a:p>
          <a:p>
            <a:pPr marL="432000" indent="-324000">
              <a:lnSpc>
                <a:spcPct val="100000"/>
              </a:lnSpc>
              <a:buClr>
                <a:srgbClr val="000000"/>
              </a:buClr>
              <a:buFont typeface="Wingdings" charset="2"/>
              <a:buChar char=""/>
            </a:pPr>
            <a:r>
              <a:rPr b="0" lang="es-ES" sz="2400" spc="-1" strike="noStrike">
                <a:latin typeface="Calibri"/>
              </a:rPr>
              <a:t> </a:t>
            </a:r>
            <a:r>
              <a:rPr b="1" lang="es-ES" sz="2400" spc="-1" strike="noStrike">
                <a:latin typeface="Calibri"/>
              </a:rPr>
              <a:t>Conocimiento del dominio</a:t>
            </a:r>
            <a:r>
              <a:rPr b="0" lang="es-ES" sz="2400" spc="-1" strike="noStrike">
                <a:latin typeface="Calibri"/>
              </a:rPr>
              <a:t>: El conocimiento previo sobre el conjunto de datos puede ayudar a decidir un valor óptimo de K</a:t>
            </a:r>
            <a:endParaRPr b="0" lang="en-US" sz="2400" spc="-1" strike="noStrike">
              <a:latin typeface="Arial"/>
            </a:endParaRPr>
          </a:p>
          <a:p>
            <a:pPr>
              <a:lnSpc>
                <a:spcPct val="100000"/>
              </a:lnSpc>
              <a:buNone/>
            </a:pPr>
            <a:endParaRPr b="0" lang="en-US" sz="2400" spc="-1" strike="noStrike">
              <a:latin typeface="Arial"/>
            </a:endParaRPr>
          </a:p>
          <a:p>
            <a:pPr marL="432000" indent="-324000">
              <a:lnSpc>
                <a:spcPct val="100000"/>
              </a:lnSpc>
              <a:buClr>
                <a:srgbClr val="000000"/>
              </a:buClr>
              <a:buFont typeface="Wingdings" charset="2"/>
              <a:buChar char=""/>
            </a:pPr>
            <a:r>
              <a:rPr b="0" lang="es-ES" sz="2400" spc="-1" strike="noStrike">
                <a:latin typeface="Calibri"/>
              </a:rPr>
              <a:t> </a:t>
            </a:r>
            <a:r>
              <a:rPr b="1" lang="es-ES" sz="2400" spc="-1" strike="noStrike">
                <a:latin typeface="Calibri"/>
              </a:rPr>
              <a:t>Método de ensayo y error:</a:t>
            </a:r>
            <a:r>
              <a:rPr b="0" lang="es-ES" sz="2400" spc="-1" strike="noStrike">
                <a:latin typeface="Calibri"/>
              </a:rPr>
              <a:t>  En ocasiones, es necesario experimentar con diferentes valores de K y observar los grupos resultantes. Visualizar los grupos y evaluar si tienen sentido intuitivo y aportan información relevante</a:t>
            </a: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sp>
        <p:nvSpPr>
          <p:cNvPr id="122" name="PlaceHolder 2"/>
          <p:cNvSpPr>
            <a:spLocks noGrp="1"/>
          </p:cNvSpPr>
          <p:nvPr>
            <p:ph/>
          </p:nvPr>
        </p:nvSpPr>
        <p:spPr>
          <a:xfrm>
            <a:off x="838080" y="1124640"/>
            <a:ext cx="6541200" cy="37350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1" lang="es-ES" sz="2400" spc="-1" strike="noStrike">
                <a:latin typeface="Calibri"/>
              </a:rPr>
              <a:t>Elección del número de grupos (K)</a:t>
            </a:r>
            <a:endParaRPr b="0" lang="en-US" sz="2400" spc="-1" strike="noStrike">
              <a:latin typeface="Arial"/>
            </a:endParaRPr>
          </a:p>
          <a:p>
            <a:pPr>
              <a:lnSpc>
                <a:spcPct val="100000"/>
              </a:lnSpc>
              <a:buNone/>
            </a:pPr>
            <a:endParaRPr b="0" lang="en-US" sz="2400" spc="-1" strike="noStrike">
              <a:latin typeface="Arial"/>
            </a:endParaRPr>
          </a:p>
          <a:p>
            <a:pPr marL="432000" indent="-324000">
              <a:lnSpc>
                <a:spcPct val="100000"/>
              </a:lnSpc>
              <a:buClr>
                <a:srgbClr val="000000"/>
              </a:buClr>
              <a:buFont typeface="Wingdings" charset="2"/>
              <a:buChar char=""/>
            </a:pPr>
            <a:r>
              <a:rPr b="0" lang="es-ES" sz="2400" spc="-1" strike="noStrike">
                <a:latin typeface="Calibri"/>
              </a:rPr>
              <a:t> </a:t>
            </a:r>
            <a:r>
              <a:rPr b="1" lang="es-ES" sz="2400" spc="-1" strike="noStrike">
                <a:latin typeface="Calibri"/>
              </a:rPr>
              <a:t>Método del codo</a:t>
            </a:r>
            <a:endParaRPr b="0" lang="en-US" sz="2400" spc="-1" strike="noStrike">
              <a:latin typeface="Arial"/>
            </a:endParaRPr>
          </a:p>
          <a:p>
            <a:pPr>
              <a:lnSpc>
                <a:spcPct val="100000"/>
              </a:lnSpc>
              <a:buNone/>
            </a:pPr>
            <a:endParaRPr b="0" lang="en-US" sz="2400" spc="-1" strike="noStrike">
              <a:latin typeface="Arial"/>
            </a:endParaRPr>
          </a:p>
          <a:p>
            <a:pPr marL="432000" indent="-324000">
              <a:lnSpc>
                <a:spcPct val="100000"/>
              </a:lnSpc>
              <a:buClr>
                <a:srgbClr val="000000"/>
              </a:buClr>
              <a:buFont typeface="Wingdings" charset="2"/>
              <a:buChar char=""/>
            </a:pPr>
            <a:r>
              <a:rPr b="0" lang="es-ES" sz="1800" spc="-1" strike="noStrike">
                <a:latin typeface="Calibri"/>
              </a:rPr>
              <a:t> </a:t>
            </a:r>
            <a:r>
              <a:rPr b="0" lang="es-ES" sz="1800" spc="-1" strike="noStrike">
                <a:latin typeface="Calibri"/>
              </a:rPr>
              <a:t>Ejecutar K-means para diferentes valores de k</a:t>
            </a:r>
            <a:endParaRPr b="0" lang="en-US" sz="1800" spc="-1" strike="noStrike">
              <a:latin typeface="Arial"/>
            </a:endParaRPr>
          </a:p>
          <a:p>
            <a:pPr>
              <a:lnSpc>
                <a:spcPct val="100000"/>
              </a:lnSpc>
              <a:spcBef>
                <a:spcPts val="1417"/>
              </a:spcBef>
              <a:buNone/>
            </a:pPr>
            <a:endParaRPr b="0" lang="en-US" sz="1800" spc="-1" strike="noStrike">
              <a:latin typeface="Arial"/>
            </a:endParaRPr>
          </a:p>
          <a:p>
            <a:pPr marL="432000" indent="-324000">
              <a:lnSpc>
                <a:spcPct val="100000"/>
              </a:lnSpc>
              <a:buClr>
                <a:srgbClr val="000000"/>
              </a:buClr>
              <a:buFont typeface="Wingdings" charset="2"/>
              <a:buChar char=""/>
            </a:pPr>
            <a:r>
              <a:rPr b="0" lang="es-ES" sz="1800" spc="-1" strike="noStrike">
                <a:latin typeface="Calibri"/>
              </a:rPr>
              <a:t> </a:t>
            </a:r>
            <a:r>
              <a:rPr b="0" lang="es-ES" sz="1800" spc="-1" strike="noStrike">
                <a:latin typeface="Calibri"/>
              </a:rPr>
              <a:t>Para cada k, calcular la Suma de Errores Cuadráticos (SSE) o inercia:</a:t>
            </a:r>
            <a:endParaRPr b="0" lang="en-US" sz="1800" spc="-1" strike="noStrike">
              <a:latin typeface="Arial"/>
            </a:endParaRPr>
          </a:p>
          <a:p>
            <a:pPr lvl="1" marL="864000" indent="-324000">
              <a:lnSpc>
                <a:spcPct val="100000"/>
              </a:lnSpc>
              <a:spcBef>
                <a:spcPts val="1134"/>
              </a:spcBef>
              <a:buClr>
                <a:srgbClr val="000000"/>
              </a:buClr>
              <a:buSzPct val="75000"/>
              <a:buFont typeface="Symbol"/>
              <a:buChar char=""/>
            </a:pPr>
            <a:r>
              <a:rPr b="0" lang="es-ES" sz="1800" spc="-1" strike="noStrike">
                <a:latin typeface="Calibri"/>
              </a:rPr>
              <a:t>Mide la suma de la distancia entre cada punto y su centroide elevada al cuadrado</a:t>
            </a:r>
            <a:endParaRPr b="0" lang="en-US" sz="1800" spc="-1" strike="noStrike">
              <a:latin typeface="Arial"/>
            </a:endParaRPr>
          </a:p>
        </p:txBody>
      </p:sp>
      <p:pic>
        <p:nvPicPr>
          <p:cNvPr id="123" name="" descr=""/>
          <p:cNvPicPr/>
          <p:nvPr/>
        </p:nvPicPr>
        <p:blipFill>
          <a:blip r:embed="rId1"/>
          <a:stretch/>
        </p:blipFill>
        <p:spPr>
          <a:xfrm>
            <a:off x="7717680" y="1620000"/>
            <a:ext cx="4341600" cy="3239280"/>
          </a:xfrm>
          <a:prstGeom prst="rect">
            <a:avLst/>
          </a:prstGeom>
          <a:ln w="0">
            <a:noFill/>
          </a:ln>
        </p:spPr>
      </p:pic>
      <p:pic>
        <p:nvPicPr>
          <p:cNvPr id="124" name="" descr=""/>
          <p:cNvPicPr/>
          <p:nvPr/>
        </p:nvPicPr>
        <p:blipFill>
          <a:blip r:embed="rId2"/>
          <a:stretch/>
        </p:blipFill>
        <p:spPr>
          <a:xfrm>
            <a:off x="2880000" y="4860000"/>
            <a:ext cx="2699640" cy="8078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sp>
        <p:nvSpPr>
          <p:cNvPr id="126" name="PlaceHolder 2"/>
          <p:cNvSpPr/>
          <p:nvPr/>
        </p:nvSpPr>
        <p:spPr>
          <a:xfrm>
            <a:off x="838080" y="1260000"/>
            <a:ext cx="6541200" cy="434844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1" lang="es-ES" sz="2400" spc="-1" strike="noStrike">
                <a:solidFill>
                  <a:srgbClr val="000000"/>
                </a:solidFill>
                <a:latin typeface="Calibri"/>
                <a:ea typeface="DejaVu Sans"/>
              </a:rPr>
              <a:t>Elección del número de grupos (K)</a:t>
            </a:r>
            <a:endParaRPr b="0" lang="en-US" sz="2400" spc="-1" strike="noStrike">
              <a:latin typeface="Arial"/>
            </a:endParaRPr>
          </a:p>
          <a:p>
            <a:pPr>
              <a:lnSpc>
                <a:spcPct val="100000"/>
              </a:lnSpc>
              <a:buNone/>
            </a:pPr>
            <a:endParaRPr b="0" lang="en-US" sz="2400" spc="-1" strike="noStrike">
              <a:latin typeface="Arial"/>
            </a:endParaRPr>
          </a:p>
          <a:p>
            <a:pPr marL="216000" indent="-324000">
              <a:lnSpc>
                <a:spcPct val="100000"/>
              </a:lnSpc>
              <a:buClr>
                <a:srgbClr val="000000"/>
              </a:buClr>
              <a:buFont typeface="Wingdings" charset="2"/>
              <a:buChar char=""/>
            </a:pPr>
            <a:r>
              <a:rPr b="0" lang="es-ES" sz="2400" spc="-1" strike="noStrike">
                <a:solidFill>
                  <a:srgbClr val="000000"/>
                </a:solidFill>
                <a:latin typeface="Calibri"/>
                <a:ea typeface="DejaVu Sans"/>
              </a:rPr>
              <a:t> </a:t>
            </a:r>
            <a:r>
              <a:rPr b="1" lang="es-ES" sz="2400" spc="-1" strike="noStrike">
                <a:solidFill>
                  <a:srgbClr val="000000"/>
                </a:solidFill>
                <a:latin typeface="Calibri"/>
                <a:ea typeface="DejaVu Sans"/>
              </a:rPr>
              <a:t>Método del codo</a:t>
            </a:r>
            <a:endParaRPr b="0" lang="en-US" sz="2400" spc="-1" strike="noStrike">
              <a:latin typeface="Arial"/>
            </a:endParaRPr>
          </a:p>
          <a:p>
            <a:pPr>
              <a:lnSpc>
                <a:spcPct val="100000"/>
              </a:lnSpc>
              <a:buNone/>
            </a:pPr>
            <a:endParaRPr b="0" lang="en-US" sz="1800" spc="-1" strike="noStrike">
              <a:latin typeface="Arial"/>
            </a:endParaRPr>
          </a:p>
          <a:p>
            <a:pPr marL="216000" indent="-324000">
              <a:lnSpc>
                <a:spcPct val="100000"/>
              </a:lnSpc>
              <a:buClr>
                <a:srgbClr val="000000"/>
              </a:buClr>
              <a:buFont typeface="Wingdings" charset="2"/>
              <a:buChar char=""/>
            </a:pPr>
            <a:r>
              <a:rPr b="0" lang="es-ES" sz="1800" spc="-1" strike="noStrike">
                <a:solidFill>
                  <a:srgbClr val="000000"/>
                </a:solidFill>
                <a:latin typeface="Calibri"/>
                <a:ea typeface="DejaVu Sans"/>
              </a:rPr>
              <a:t> </a:t>
            </a:r>
            <a:r>
              <a:rPr b="0" lang="es-ES" sz="1800" spc="-1" strike="noStrike">
                <a:solidFill>
                  <a:srgbClr val="000000"/>
                </a:solidFill>
                <a:latin typeface="Calibri"/>
                <a:ea typeface="DejaVu Sans"/>
              </a:rPr>
              <a:t>Graficar k vs. SSE:</a:t>
            </a:r>
            <a:endParaRPr b="0" lang="en-US" sz="1800" spc="-1" strike="noStrike">
              <a:latin typeface="Arial"/>
            </a:endParaRPr>
          </a:p>
          <a:p>
            <a:pPr lvl="1" marL="864000" indent="-324000">
              <a:lnSpc>
                <a:spcPct val="100000"/>
              </a:lnSpc>
              <a:spcBef>
                <a:spcPts val="1134"/>
              </a:spcBef>
              <a:buClr>
                <a:srgbClr val="000000"/>
              </a:buClr>
              <a:buSzPct val="75000"/>
              <a:buFont typeface="Symbol"/>
              <a:buChar char=""/>
            </a:pPr>
            <a:r>
              <a:rPr b="0" lang="es-ES" sz="1800" spc="-1" strike="noStrike">
                <a:solidFill>
                  <a:srgbClr val="000000"/>
                </a:solidFill>
                <a:latin typeface="Calibri"/>
                <a:ea typeface="DejaVu Sans"/>
              </a:rPr>
              <a:t>El eje X representa el número de clusters.</a:t>
            </a:r>
            <a:endParaRPr b="0" lang="en-US" sz="1800" spc="-1" strike="noStrike">
              <a:latin typeface="Arial"/>
            </a:endParaRPr>
          </a:p>
          <a:p>
            <a:pPr lvl="1" marL="864000" indent="-324000">
              <a:lnSpc>
                <a:spcPct val="100000"/>
              </a:lnSpc>
              <a:spcBef>
                <a:spcPts val="1134"/>
              </a:spcBef>
              <a:buClr>
                <a:srgbClr val="000000"/>
              </a:buClr>
              <a:buSzPct val="75000"/>
              <a:buFont typeface="Symbol"/>
              <a:buChar char=""/>
            </a:pPr>
            <a:r>
              <a:rPr b="0" lang="es-ES" sz="1800" spc="-1" strike="noStrike">
                <a:solidFill>
                  <a:srgbClr val="000000"/>
                </a:solidFill>
                <a:latin typeface="Calibri"/>
                <a:ea typeface="DejaVu Sans"/>
              </a:rPr>
              <a:t>El eje Y representa el SSE.</a:t>
            </a:r>
            <a:endParaRPr b="0" lang="en-US" sz="1800" spc="-1" strike="noStrike">
              <a:latin typeface="Arial"/>
            </a:endParaRPr>
          </a:p>
          <a:p>
            <a:pPr>
              <a:lnSpc>
                <a:spcPct val="100000"/>
              </a:lnSpc>
              <a:buNone/>
            </a:pPr>
            <a:endParaRPr b="0" lang="en-US" sz="1800" spc="-1" strike="noStrike">
              <a:latin typeface="Arial"/>
            </a:endParaRPr>
          </a:p>
          <a:p>
            <a:pPr marL="216000" indent="-324000">
              <a:lnSpc>
                <a:spcPct val="100000"/>
              </a:lnSpc>
              <a:buClr>
                <a:srgbClr val="000000"/>
              </a:buClr>
              <a:buFont typeface="Wingdings" charset="2"/>
              <a:buChar char=""/>
            </a:pPr>
            <a:r>
              <a:rPr b="0" lang="es-ES" sz="1800" spc="-1" strike="noStrike">
                <a:solidFill>
                  <a:srgbClr val="000000"/>
                </a:solidFill>
                <a:latin typeface="Calibri"/>
                <a:ea typeface="DejaVu Sans"/>
              </a:rPr>
              <a:t> </a:t>
            </a:r>
            <a:r>
              <a:rPr b="0" lang="es-ES" sz="1800" spc="-1" strike="noStrike">
                <a:solidFill>
                  <a:srgbClr val="000000"/>
                </a:solidFill>
                <a:latin typeface="Calibri"/>
                <a:ea typeface="DejaVu Sans"/>
              </a:rPr>
              <a:t>Identificar el “codo”:</a:t>
            </a:r>
            <a:endParaRPr b="0" lang="en-US" sz="1800" spc="-1" strike="noStrike">
              <a:latin typeface="Arial"/>
            </a:endParaRPr>
          </a:p>
          <a:p>
            <a:pPr lvl="1" marL="864000" indent="-324000">
              <a:lnSpc>
                <a:spcPct val="100000"/>
              </a:lnSpc>
              <a:spcBef>
                <a:spcPts val="1134"/>
              </a:spcBef>
              <a:buClr>
                <a:srgbClr val="000000"/>
              </a:buClr>
              <a:buSzPct val="75000"/>
              <a:buFont typeface="Symbol"/>
              <a:buChar char=""/>
            </a:pPr>
            <a:r>
              <a:rPr b="0" lang="es-ES" sz="1800" spc="-1" strike="noStrike">
                <a:solidFill>
                  <a:srgbClr val="000000"/>
                </a:solidFill>
                <a:latin typeface="Calibri"/>
                <a:ea typeface="DejaVu Sans"/>
              </a:rPr>
              <a:t>Es el punto donde la reducción de SSE comienza a disminuir de forma notable.</a:t>
            </a:r>
            <a:endParaRPr b="0" lang="en-US" sz="1800" spc="-1" strike="noStrike">
              <a:latin typeface="Arial"/>
            </a:endParaRPr>
          </a:p>
          <a:p>
            <a:pPr lvl="1" marL="864000" indent="-324000">
              <a:lnSpc>
                <a:spcPct val="100000"/>
              </a:lnSpc>
              <a:spcBef>
                <a:spcPts val="1134"/>
              </a:spcBef>
              <a:buClr>
                <a:srgbClr val="000000"/>
              </a:buClr>
              <a:buSzPct val="75000"/>
              <a:buFont typeface="Symbol"/>
              <a:buChar char=""/>
            </a:pPr>
            <a:r>
              <a:rPr b="0" lang="es-ES" sz="1800" spc="-1" strike="noStrike">
                <a:solidFill>
                  <a:srgbClr val="000000"/>
                </a:solidFill>
                <a:latin typeface="Calibri"/>
                <a:ea typeface="DejaVu Sans"/>
              </a:rPr>
              <a:t>A partir de ese punto, añadir más clusters no mejora significativamente la agrupación.</a:t>
            </a:r>
            <a:endParaRPr b="0" lang="en-US" sz="1800" spc="-1" strike="noStrike">
              <a:latin typeface="Arial"/>
            </a:endParaRPr>
          </a:p>
        </p:txBody>
      </p:sp>
      <p:pic>
        <p:nvPicPr>
          <p:cNvPr id="127" name="" descr=""/>
          <p:cNvPicPr/>
          <p:nvPr/>
        </p:nvPicPr>
        <p:blipFill>
          <a:blip r:embed="rId1"/>
          <a:stretch/>
        </p:blipFill>
        <p:spPr>
          <a:xfrm>
            <a:off x="7380000" y="1980000"/>
            <a:ext cx="4341600" cy="323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sp>
        <p:nvSpPr>
          <p:cNvPr id="129" name="PlaceHolder 2"/>
          <p:cNvSpPr>
            <a:spLocks noGrp="1"/>
          </p:cNvSpPr>
          <p:nvPr>
            <p:ph/>
          </p:nvPr>
        </p:nvSpPr>
        <p:spPr>
          <a:xfrm>
            <a:off x="838080" y="1124640"/>
            <a:ext cx="10512720" cy="434844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1" lang="es-ES" sz="2400" spc="-1" strike="noStrike">
                <a:latin typeface="Calibri"/>
              </a:rPr>
              <a:t>Elección del número de grupos (K)</a:t>
            </a:r>
            <a:endParaRPr b="0" lang="en-US" sz="2400" spc="-1" strike="noStrike">
              <a:latin typeface="Arial"/>
            </a:endParaRPr>
          </a:p>
          <a:p>
            <a:pPr>
              <a:lnSpc>
                <a:spcPct val="100000"/>
              </a:lnSpc>
              <a:buNone/>
            </a:pPr>
            <a:endParaRPr b="0" lang="en-US" sz="2400" spc="-1" strike="noStrike">
              <a:latin typeface="Arial"/>
            </a:endParaRPr>
          </a:p>
          <a:p>
            <a:pPr marL="432000" indent="-324000">
              <a:lnSpc>
                <a:spcPct val="100000"/>
              </a:lnSpc>
              <a:buClr>
                <a:srgbClr val="000000"/>
              </a:buClr>
              <a:buFont typeface="Wingdings" charset="2"/>
              <a:buChar char=""/>
            </a:pPr>
            <a:r>
              <a:rPr b="0" lang="es-ES" sz="2400" spc="-1" strike="noStrike">
                <a:latin typeface="Calibri"/>
              </a:rPr>
              <a:t> </a:t>
            </a:r>
            <a:r>
              <a:rPr b="1" lang="es-ES" sz="2400" spc="-1" strike="noStrike">
                <a:latin typeface="Calibri"/>
              </a:rPr>
              <a:t>Coeficiente de Silhouette:</a:t>
            </a:r>
            <a:endParaRPr b="0" lang="en-US" sz="2400" spc="-1" strike="noStrike">
              <a:latin typeface="Arial"/>
            </a:endParaRPr>
          </a:p>
          <a:p>
            <a:pPr lvl="1" marL="432000" indent="-216000">
              <a:lnSpc>
                <a:spcPct val="100000"/>
              </a:lnSpc>
              <a:spcBef>
                <a:spcPts val="1134"/>
              </a:spcBef>
              <a:buClr>
                <a:srgbClr val="000000"/>
              </a:buClr>
              <a:buSzPct val="45000"/>
              <a:buFont typeface="Wingdings" charset="2"/>
              <a:buChar char=""/>
            </a:pPr>
            <a:r>
              <a:rPr b="0" lang="es-ES" sz="2000" spc="-1" strike="noStrike">
                <a:latin typeface="Calibri"/>
              </a:rPr>
              <a:t>es una métrica que evalúa qué tan bien se ha asignado cada punto a su cluster en comparación con otros clusters.</a:t>
            </a:r>
            <a:endParaRPr b="0" lang="en-US" sz="2000" spc="-1" strike="noStrike">
              <a:latin typeface="Arial"/>
            </a:endParaRPr>
          </a:p>
          <a:p>
            <a:pPr lvl="1" marL="432000" indent="-216000">
              <a:lnSpc>
                <a:spcPct val="100000"/>
              </a:lnSpc>
              <a:spcBef>
                <a:spcPts val="1134"/>
              </a:spcBef>
              <a:buClr>
                <a:srgbClr val="000000"/>
              </a:buClr>
              <a:buSzPct val="45000"/>
              <a:buFont typeface="Wingdings" charset="2"/>
              <a:buChar char=""/>
            </a:pPr>
            <a:r>
              <a:rPr b="0" lang="es-ES" sz="2000" spc="-1" strike="noStrike">
                <a:latin typeface="Calibri"/>
              </a:rPr>
              <a:t>Mide</a:t>
            </a:r>
            <a:endParaRPr b="0" lang="en-US" sz="2000" spc="-1" strike="noStrike">
              <a:latin typeface="Arial"/>
            </a:endParaRPr>
          </a:p>
          <a:p>
            <a:pPr lvl="2" marL="648000" indent="-216000">
              <a:lnSpc>
                <a:spcPct val="100000"/>
              </a:lnSpc>
              <a:spcBef>
                <a:spcPts val="850"/>
              </a:spcBef>
              <a:buClr>
                <a:srgbClr val="000000"/>
              </a:buClr>
              <a:buSzPct val="45000"/>
              <a:buFont typeface="Wingdings" charset="2"/>
              <a:buChar char=""/>
            </a:pPr>
            <a:r>
              <a:rPr b="0" lang="es-ES" sz="2000" spc="-1" strike="noStrike">
                <a:latin typeface="Calibri"/>
              </a:rPr>
              <a:t>Cohesión: qué cerca está un punto de los otros puntos de su mismo cluster</a:t>
            </a:r>
            <a:endParaRPr b="0" lang="en-US" sz="2000" spc="-1" strike="noStrike">
              <a:latin typeface="Arial"/>
            </a:endParaRPr>
          </a:p>
          <a:p>
            <a:pPr lvl="2" marL="648000" indent="-216000">
              <a:lnSpc>
                <a:spcPct val="100000"/>
              </a:lnSpc>
              <a:spcBef>
                <a:spcPts val="850"/>
              </a:spcBef>
              <a:buClr>
                <a:srgbClr val="000000"/>
              </a:buClr>
              <a:buSzPct val="45000"/>
              <a:buFont typeface="Wingdings" charset="2"/>
              <a:buChar char=""/>
            </a:pPr>
            <a:r>
              <a:rPr b="0" lang="es-ES" sz="2000" spc="-1" strike="noStrike">
                <a:latin typeface="Calibri"/>
              </a:rPr>
              <a:t>Separación: qué tan lejos está ese punto de los puntos del cluster más cercano.</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pic>
        <p:nvPicPr>
          <p:cNvPr id="131" name="" descr=""/>
          <p:cNvPicPr/>
          <p:nvPr/>
        </p:nvPicPr>
        <p:blipFill>
          <a:blip r:embed="rId1"/>
          <a:stretch/>
        </p:blipFill>
        <p:spPr>
          <a:xfrm>
            <a:off x="900000" y="1080000"/>
            <a:ext cx="10511640" cy="3059280"/>
          </a:xfrm>
          <a:prstGeom prst="rect">
            <a:avLst/>
          </a:prstGeom>
          <a:ln w="0">
            <a:noFill/>
          </a:ln>
        </p:spPr>
      </p:pic>
      <p:pic>
        <p:nvPicPr>
          <p:cNvPr id="132" name="" descr=""/>
          <p:cNvPicPr/>
          <p:nvPr/>
        </p:nvPicPr>
        <p:blipFill>
          <a:blip r:embed="rId2"/>
          <a:stretch/>
        </p:blipFill>
        <p:spPr>
          <a:xfrm>
            <a:off x="3600000" y="4320000"/>
            <a:ext cx="5865120" cy="161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sp>
        <p:nvSpPr>
          <p:cNvPr id="134" name="PlaceHolder 2"/>
          <p:cNvSpPr>
            <a:spLocks noGrp="1"/>
          </p:cNvSpPr>
          <p:nvPr>
            <p:ph/>
          </p:nvPr>
        </p:nvSpPr>
        <p:spPr>
          <a:xfrm>
            <a:off x="838080" y="1124640"/>
            <a:ext cx="10512720" cy="139464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1" lang="es-ES" sz="2400" spc="-1" strike="noStrike">
                <a:latin typeface="Calibri"/>
              </a:rPr>
              <a:t>Elección del número de grupos (K)</a:t>
            </a:r>
            <a:endParaRPr b="0" lang="en-US" sz="2400" spc="-1" strike="noStrike">
              <a:latin typeface="Arial"/>
            </a:endParaRPr>
          </a:p>
          <a:p>
            <a:pPr>
              <a:lnSpc>
                <a:spcPct val="100000"/>
              </a:lnSpc>
              <a:buNone/>
            </a:pPr>
            <a:endParaRPr b="0" lang="en-US" sz="2400" spc="-1" strike="noStrike">
              <a:latin typeface="Arial"/>
            </a:endParaRPr>
          </a:p>
          <a:p>
            <a:pPr marL="432000" indent="-324000">
              <a:lnSpc>
                <a:spcPct val="100000"/>
              </a:lnSpc>
              <a:buClr>
                <a:srgbClr val="000000"/>
              </a:buClr>
              <a:buFont typeface="Wingdings" charset="2"/>
              <a:buChar char=""/>
            </a:pPr>
            <a:r>
              <a:rPr b="0" lang="es-ES" sz="2400" spc="-1" strike="noStrike">
                <a:latin typeface="Calibri"/>
              </a:rPr>
              <a:t> </a:t>
            </a:r>
            <a:r>
              <a:rPr b="1" lang="es-ES" sz="2400" spc="-1" strike="noStrike">
                <a:latin typeface="Calibri"/>
              </a:rPr>
              <a:t>Coeficiente de Silhouette:</a:t>
            </a:r>
            <a:endParaRPr b="0" lang="en-US" sz="2400" spc="-1" strike="noStrike">
              <a:latin typeface="Arial"/>
            </a:endParaRPr>
          </a:p>
        </p:txBody>
      </p:sp>
      <p:pic>
        <p:nvPicPr>
          <p:cNvPr id="135" name="" descr=""/>
          <p:cNvPicPr/>
          <p:nvPr/>
        </p:nvPicPr>
        <p:blipFill>
          <a:blip r:embed="rId1"/>
          <a:stretch/>
        </p:blipFill>
        <p:spPr>
          <a:xfrm>
            <a:off x="3600000" y="2520000"/>
            <a:ext cx="4859280" cy="34707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pic>
        <p:nvPicPr>
          <p:cNvPr id="137" name="" descr=""/>
          <p:cNvPicPr/>
          <p:nvPr/>
        </p:nvPicPr>
        <p:blipFill>
          <a:blip r:embed="rId1"/>
          <a:stretch/>
        </p:blipFill>
        <p:spPr>
          <a:xfrm>
            <a:off x="1260000" y="1080000"/>
            <a:ext cx="9719640" cy="46735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pic>
        <p:nvPicPr>
          <p:cNvPr id="139" name="" descr=""/>
          <p:cNvPicPr/>
          <p:nvPr/>
        </p:nvPicPr>
        <p:blipFill>
          <a:blip r:embed="rId1"/>
          <a:stretch/>
        </p:blipFill>
        <p:spPr>
          <a:xfrm>
            <a:off x="1061640" y="988560"/>
            <a:ext cx="10153080" cy="48664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pic>
        <p:nvPicPr>
          <p:cNvPr id="141" name="" descr=""/>
          <p:cNvPicPr/>
          <p:nvPr/>
        </p:nvPicPr>
        <p:blipFill>
          <a:blip r:embed="rId1"/>
          <a:stretch/>
        </p:blipFill>
        <p:spPr>
          <a:xfrm>
            <a:off x="2700000" y="113040"/>
            <a:ext cx="9158040" cy="60069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pic>
        <p:nvPicPr>
          <p:cNvPr id="143" name="" descr=""/>
          <p:cNvPicPr/>
          <p:nvPr/>
        </p:nvPicPr>
        <p:blipFill>
          <a:blip r:embed="rId1"/>
          <a:stretch/>
        </p:blipFill>
        <p:spPr>
          <a:xfrm>
            <a:off x="2880000" y="1375920"/>
            <a:ext cx="8566920" cy="2043360"/>
          </a:xfrm>
          <a:prstGeom prst="rect">
            <a:avLst/>
          </a:prstGeom>
          <a:ln w="0">
            <a:noFill/>
          </a:ln>
        </p:spPr>
      </p:pic>
      <p:pic>
        <p:nvPicPr>
          <p:cNvPr id="144" name="" descr=""/>
          <p:cNvPicPr/>
          <p:nvPr/>
        </p:nvPicPr>
        <p:blipFill>
          <a:blip r:embed="rId2"/>
          <a:srcRect l="0" t="0" r="4540" b="0"/>
          <a:stretch/>
        </p:blipFill>
        <p:spPr>
          <a:xfrm>
            <a:off x="2952360" y="3780000"/>
            <a:ext cx="9106920" cy="1979280"/>
          </a:xfrm>
          <a:prstGeom prst="rect">
            <a:avLst/>
          </a:prstGeom>
          <a:ln w="0">
            <a:noFill/>
          </a:ln>
        </p:spPr>
      </p:pic>
      <p:pic>
        <p:nvPicPr>
          <p:cNvPr id="145" name="" descr=""/>
          <p:cNvPicPr/>
          <p:nvPr/>
        </p:nvPicPr>
        <p:blipFill>
          <a:blip r:embed="rId3"/>
          <a:stretch/>
        </p:blipFill>
        <p:spPr>
          <a:xfrm>
            <a:off x="540000" y="1440000"/>
            <a:ext cx="1979280" cy="1979280"/>
          </a:xfrm>
          <a:prstGeom prst="rect">
            <a:avLst/>
          </a:prstGeom>
          <a:ln w="0">
            <a:noFill/>
          </a:ln>
        </p:spPr>
      </p:pic>
      <p:pic>
        <p:nvPicPr>
          <p:cNvPr id="146" name="" descr=""/>
          <p:cNvPicPr/>
          <p:nvPr/>
        </p:nvPicPr>
        <p:blipFill>
          <a:blip r:embed="rId4"/>
          <a:stretch/>
        </p:blipFill>
        <p:spPr>
          <a:xfrm>
            <a:off x="520920" y="3780000"/>
            <a:ext cx="2023920" cy="197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pic>
        <p:nvPicPr>
          <p:cNvPr id="148" name="" descr=""/>
          <p:cNvPicPr/>
          <p:nvPr/>
        </p:nvPicPr>
        <p:blipFill>
          <a:blip r:embed="rId1"/>
          <a:stretch/>
        </p:blipFill>
        <p:spPr>
          <a:xfrm>
            <a:off x="3331080" y="720000"/>
            <a:ext cx="6568200" cy="51919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sp>
        <p:nvSpPr>
          <p:cNvPr id="150" name="PlaceHolder 2"/>
          <p:cNvSpPr>
            <a:spLocks noGrp="1"/>
          </p:cNvSpPr>
          <p:nvPr>
            <p:ph/>
          </p:nvPr>
        </p:nvSpPr>
        <p:spPr>
          <a:xfrm>
            <a:off x="838080" y="1124640"/>
            <a:ext cx="10512720" cy="67464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Parámetros</a:t>
            </a:r>
            <a:endParaRPr b="0" lang="en-US" sz="2400" spc="-1" strike="noStrike">
              <a:latin typeface="Arial"/>
            </a:endParaRPr>
          </a:p>
        </p:txBody>
      </p:sp>
      <p:pic>
        <p:nvPicPr>
          <p:cNvPr id="151" name="" descr=""/>
          <p:cNvPicPr/>
          <p:nvPr/>
        </p:nvPicPr>
        <p:blipFill>
          <a:blip r:embed="rId1"/>
          <a:stretch/>
        </p:blipFill>
        <p:spPr>
          <a:xfrm>
            <a:off x="2032920" y="1729440"/>
            <a:ext cx="9966240" cy="413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sp>
        <p:nvSpPr>
          <p:cNvPr id="153" name="PlaceHolder 8"/>
          <p:cNvSpPr/>
          <p:nvPr/>
        </p:nvSpPr>
        <p:spPr>
          <a:xfrm>
            <a:off x="838080" y="1124640"/>
            <a:ext cx="10512720" cy="67464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n-US" sz="1800" spc="-1" strike="noStrike">
                <a:solidFill>
                  <a:srgbClr val="000000"/>
                </a:solidFill>
                <a:latin typeface="Arial"/>
                <a:ea typeface="DejaVu Sans"/>
              </a:rPr>
              <a:t> </a:t>
            </a:r>
            <a:r>
              <a:rPr b="1" lang="es-ES" sz="2400" spc="-1" strike="noStrike">
                <a:solidFill>
                  <a:srgbClr val="000000"/>
                </a:solidFill>
                <a:latin typeface="Calibri"/>
                <a:ea typeface="DejaVu Sans"/>
              </a:rPr>
              <a:t>Parámetros</a:t>
            </a:r>
            <a:endParaRPr b="0" lang="en-US" sz="2400" spc="-1" strike="noStrike">
              <a:latin typeface="Arial"/>
            </a:endParaRPr>
          </a:p>
        </p:txBody>
      </p:sp>
      <p:pic>
        <p:nvPicPr>
          <p:cNvPr id="154" name="" descr=""/>
          <p:cNvPicPr/>
          <p:nvPr/>
        </p:nvPicPr>
        <p:blipFill>
          <a:blip r:embed="rId1"/>
          <a:stretch/>
        </p:blipFill>
        <p:spPr>
          <a:xfrm>
            <a:off x="2387160" y="1800000"/>
            <a:ext cx="8469720" cy="413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K-Medians y K-Medoids</a:t>
            </a:r>
            <a:endParaRPr b="0" lang="en-US" sz="2400" spc="-1" strike="noStrike">
              <a:latin typeface="Arial"/>
            </a:endParaRPr>
          </a:p>
        </p:txBody>
      </p:sp>
      <p:sp>
        <p:nvSpPr>
          <p:cNvPr id="156" name="PlaceHolder 10"/>
          <p:cNvSpPr/>
          <p:nvPr/>
        </p:nvSpPr>
        <p:spPr>
          <a:xfrm>
            <a:off x="838080" y="1124640"/>
            <a:ext cx="10512720" cy="67464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n-US" sz="1800" spc="-1" strike="noStrike">
                <a:solidFill>
                  <a:srgbClr val="000000"/>
                </a:solidFill>
                <a:latin typeface="Arial"/>
                <a:ea typeface="DejaVu Sans"/>
              </a:rPr>
              <a:t> </a:t>
            </a:r>
            <a:r>
              <a:rPr b="1" lang="es-ES" sz="2400" spc="-1" strike="noStrike">
                <a:solidFill>
                  <a:srgbClr val="000000"/>
                </a:solidFill>
                <a:latin typeface="Calibri"/>
                <a:ea typeface="DejaVu Sans"/>
              </a:rPr>
              <a:t>Diferencias con K-Means</a:t>
            </a:r>
            <a:endParaRPr b="0" lang="en-US" sz="2400" spc="-1" strike="noStrike">
              <a:latin typeface="Arial"/>
            </a:endParaRPr>
          </a:p>
          <a:p>
            <a:pPr lvl="1" marL="432000" indent="-216000">
              <a:lnSpc>
                <a:spcPct val="100000"/>
              </a:lnSpc>
              <a:buClr>
                <a:srgbClr val="000000"/>
              </a:buClr>
              <a:buSzPct val="45000"/>
              <a:buFont typeface="Wingdings" charset="2"/>
              <a:buChar char=""/>
            </a:pPr>
            <a:r>
              <a:rPr b="1" lang="es-ES" sz="2000" spc="-1" strike="noStrike">
                <a:solidFill>
                  <a:srgbClr val="000000"/>
                </a:solidFill>
                <a:latin typeface="Calibri"/>
                <a:ea typeface="DejaVu Sans"/>
              </a:rPr>
              <a:t>Medoide:</a:t>
            </a:r>
            <a:r>
              <a:rPr b="0" lang="es-ES" sz="2000" spc="-1" strike="noStrike">
                <a:solidFill>
                  <a:srgbClr val="000000"/>
                </a:solidFill>
                <a:latin typeface="Calibri"/>
                <a:ea typeface="DejaVu Sans"/>
              </a:rPr>
              <a:t> Es un punto real del cluster que minimiza la distancia total a los demás puntos del cluster</a:t>
            </a:r>
            <a:endParaRPr b="0" lang="en-US" sz="2000" spc="-1" strike="noStrike">
              <a:latin typeface="Arial"/>
            </a:endParaRPr>
          </a:p>
        </p:txBody>
      </p:sp>
      <p:pic>
        <p:nvPicPr>
          <p:cNvPr id="157" name="" descr=""/>
          <p:cNvPicPr/>
          <p:nvPr/>
        </p:nvPicPr>
        <p:blipFill>
          <a:blip r:embed="rId1"/>
          <a:stretch/>
        </p:blipFill>
        <p:spPr>
          <a:xfrm>
            <a:off x="540000" y="4860000"/>
            <a:ext cx="11268720" cy="539640"/>
          </a:xfrm>
          <a:prstGeom prst="rect">
            <a:avLst/>
          </a:prstGeom>
          <a:ln w="0">
            <a:noFill/>
          </a:ln>
        </p:spPr>
      </p:pic>
      <p:pic>
        <p:nvPicPr>
          <p:cNvPr id="158" name="" descr=""/>
          <p:cNvPicPr/>
          <p:nvPr/>
        </p:nvPicPr>
        <p:blipFill>
          <a:blip r:embed="rId2"/>
          <a:stretch/>
        </p:blipFill>
        <p:spPr>
          <a:xfrm>
            <a:off x="1150920" y="2505240"/>
            <a:ext cx="10623960" cy="18144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K-Means</a:t>
            </a:r>
            <a:endParaRPr b="0" lang="en-US" sz="2400" spc="-1" strike="noStrike">
              <a:latin typeface="Arial"/>
            </a:endParaRPr>
          </a:p>
        </p:txBody>
      </p:sp>
      <p:pic>
        <p:nvPicPr>
          <p:cNvPr id="160" name="" descr=""/>
          <p:cNvPicPr/>
          <p:nvPr/>
        </p:nvPicPr>
        <p:blipFill>
          <a:blip r:embed="rId1"/>
          <a:stretch/>
        </p:blipFill>
        <p:spPr>
          <a:xfrm>
            <a:off x="6120000" y="169200"/>
            <a:ext cx="5382000" cy="5770080"/>
          </a:xfrm>
          <a:prstGeom prst="rect">
            <a:avLst/>
          </a:prstGeom>
          <a:ln w="0">
            <a:noFill/>
          </a:ln>
        </p:spPr>
      </p:pic>
      <p:sp>
        <p:nvSpPr>
          <p:cNvPr id="161" name=""/>
          <p:cNvSpPr/>
          <p:nvPr/>
        </p:nvSpPr>
        <p:spPr>
          <a:xfrm>
            <a:off x="540000" y="1980000"/>
            <a:ext cx="4679640" cy="26996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s-ES" sz="2000" spc="-1" strike="noStrike">
                <a:latin typeface="Calibri"/>
              </a:rPr>
              <a:t>Cada método agrupa los píxeles en clusters basados en similitud de color, pero con enfoques distintos:</a:t>
            </a:r>
            <a:endParaRPr b="0" lang="en-US" sz="2000" spc="-1" strike="noStrike">
              <a:latin typeface="Arial"/>
            </a:endParaRPr>
          </a:p>
          <a:p>
            <a:pPr>
              <a:lnSpc>
                <a:spcPct val="100000"/>
              </a:lnSpc>
              <a:spcBef>
                <a:spcPts val="1191"/>
              </a:spcBef>
              <a:spcAft>
                <a:spcPts val="992"/>
              </a:spcAft>
              <a:buNone/>
            </a:pPr>
            <a:r>
              <a:rPr b="1" lang="es-ES" sz="2000" spc="-1" strike="noStrike">
                <a:latin typeface="Calibri"/>
              </a:rPr>
              <a:t>K-Means</a:t>
            </a:r>
            <a:endParaRPr b="0" lang="en-US" sz="2000" spc="-1" strike="noStrike">
              <a:latin typeface="Arial"/>
            </a:endParaRPr>
          </a:p>
          <a:p>
            <a:pPr>
              <a:lnSpc>
                <a:spcPct val="100000"/>
              </a:lnSpc>
              <a:spcBef>
                <a:spcPts val="1191"/>
              </a:spcBef>
              <a:spcAft>
                <a:spcPts val="992"/>
              </a:spcAft>
              <a:buNone/>
            </a:pPr>
            <a:r>
              <a:rPr b="1" lang="es-ES" sz="2000" spc="-1" strike="noStrike">
                <a:latin typeface="Calibri"/>
              </a:rPr>
              <a:t>FCM (Fuzzy C-Means)</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DBSCAN</a:t>
            </a:r>
            <a:endParaRPr b="0" lang="en-US" sz="2400" spc="-1" strike="noStrike">
              <a:latin typeface="Arial"/>
            </a:endParaRPr>
          </a:p>
        </p:txBody>
      </p:sp>
      <p:sp>
        <p:nvSpPr>
          <p:cNvPr id="163" name="PlaceHolder 2"/>
          <p:cNvSpPr>
            <a:spLocks noGrp="1"/>
          </p:cNvSpPr>
          <p:nvPr>
            <p:ph/>
          </p:nvPr>
        </p:nvSpPr>
        <p:spPr>
          <a:xfrm>
            <a:off x="838080" y="1124640"/>
            <a:ext cx="10512720" cy="21150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DBSCAN</a:t>
            </a:r>
            <a:r>
              <a:rPr b="0" lang="es-ES" sz="2000" spc="-1" strike="noStrike">
                <a:latin typeface="Calibri"/>
              </a:rPr>
              <a:t>: Es un algoritmo de clustering que agrupa puntos que están densamente conectados y detecta automáticamente los otliers (ruido)</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 </a:t>
            </a:r>
            <a:r>
              <a:rPr b="0" lang="es-ES" sz="2000" spc="-1" strike="noStrike">
                <a:latin typeface="Calibri"/>
              </a:rPr>
              <a:t>No requiere especificar el número de clusters</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 </a:t>
            </a:r>
            <a:r>
              <a:rPr b="0" lang="es-ES" sz="2000" spc="-1" strike="noStrike">
                <a:latin typeface="Calibri"/>
              </a:rPr>
              <a:t>Ideal para detectar formas arbitrarias de clusters</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 </a:t>
            </a:r>
            <a:r>
              <a:rPr b="0" lang="es-ES" sz="2000" spc="-1" strike="noStrike">
                <a:latin typeface="Calibri"/>
              </a:rPr>
              <a:t>Identifica puntos aislados como ruido</a:t>
            </a:r>
            <a:endParaRPr b="0" lang="en-US" sz="2000" spc="-1" strike="noStrike">
              <a:latin typeface="Arial"/>
            </a:endParaRPr>
          </a:p>
        </p:txBody>
      </p:sp>
      <p:pic>
        <p:nvPicPr>
          <p:cNvPr id="164" name="" descr=""/>
          <p:cNvPicPr/>
          <p:nvPr/>
        </p:nvPicPr>
        <p:blipFill>
          <a:blip r:embed="rId1"/>
          <a:stretch/>
        </p:blipFill>
        <p:spPr>
          <a:xfrm>
            <a:off x="3960000" y="3442320"/>
            <a:ext cx="3779280" cy="25610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DBSCAN</a:t>
            </a:r>
            <a:endParaRPr b="0" lang="en-US" sz="2400" spc="-1" strike="noStrike">
              <a:latin typeface="Arial"/>
            </a:endParaRPr>
          </a:p>
        </p:txBody>
      </p:sp>
      <p:sp>
        <p:nvSpPr>
          <p:cNvPr id="166" name="PlaceHolder 2"/>
          <p:cNvSpPr>
            <a:spLocks noGrp="1"/>
          </p:cNvSpPr>
          <p:nvPr>
            <p:ph/>
          </p:nvPr>
        </p:nvSpPr>
        <p:spPr>
          <a:xfrm>
            <a:off x="838080" y="1124640"/>
            <a:ext cx="10512720" cy="67464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ea typeface="DejaVu Sans"/>
              </a:rPr>
              <a:t> </a:t>
            </a:r>
            <a:r>
              <a:rPr b="1" lang="es-ES" sz="2400" spc="-1" strike="noStrike">
                <a:latin typeface="Calibri"/>
                <a:ea typeface="DejaVu Sans"/>
              </a:rPr>
              <a:t>Parámetros</a:t>
            </a:r>
            <a:endParaRPr b="0" lang="en-US" sz="2400" spc="-1" strike="noStrike">
              <a:latin typeface="Arial"/>
            </a:endParaRPr>
          </a:p>
        </p:txBody>
      </p:sp>
      <p:pic>
        <p:nvPicPr>
          <p:cNvPr id="167" name="" descr=""/>
          <p:cNvPicPr/>
          <p:nvPr/>
        </p:nvPicPr>
        <p:blipFill>
          <a:blip r:embed="rId1"/>
          <a:srcRect l="0" t="0" r="0" b="29412"/>
          <a:stretch/>
        </p:blipFill>
        <p:spPr>
          <a:xfrm>
            <a:off x="1080000" y="1802520"/>
            <a:ext cx="9719280" cy="2156760"/>
          </a:xfrm>
          <a:prstGeom prst="rect">
            <a:avLst/>
          </a:prstGeom>
          <a:ln w="0">
            <a:noFill/>
          </a:ln>
        </p:spPr>
      </p:pic>
      <p:pic>
        <p:nvPicPr>
          <p:cNvPr id="168" name="" descr=""/>
          <p:cNvPicPr/>
          <p:nvPr/>
        </p:nvPicPr>
        <p:blipFill>
          <a:blip r:embed="rId2"/>
          <a:srcRect l="0" t="0" r="0" b="33009"/>
          <a:stretch/>
        </p:blipFill>
        <p:spPr>
          <a:xfrm>
            <a:off x="4564800" y="4299120"/>
            <a:ext cx="2634840" cy="18367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DBSCAN</a:t>
            </a:r>
            <a:endParaRPr b="0" lang="en-US" sz="2400" spc="-1" strike="noStrike">
              <a:latin typeface="Arial"/>
            </a:endParaRPr>
          </a:p>
        </p:txBody>
      </p:sp>
      <p:pic>
        <p:nvPicPr>
          <p:cNvPr id="170" name="" descr=""/>
          <p:cNvPicPr/>
          <p:nvPr/>
        </p:nvPicPr>
        <p:blipFill>
          <a:blip r:embed="rId1"/>
          <a:stretch/>
        </p:blipFill>
        <p:spPr>
          <a:xfrm>
            <a:off x="1334880" y="1980000"/>
            <a:ext cx="10322640" cy="3059280"/>
          </a:xfrm>
          <a:prstGeom prst="rect">
            <a:avLst/>
          </a:prstGeom>
          <a:ln w="0">
            <a:noFill/>
          </a:ln>
        </p:spPr>
      </p:pic>
      <p:sp>
        <p:nvSpPr>
          <p:cNvPr id="171" name="PlaceHolder 20"/>
          <p:cNvSpPr/>
          <p:nvPr/>
        </p:nvSpPr>
        <p:spPr>
          <a:xfrm>
            <a:off x="838080" y="1124640"/>
            <a:ext cx="10512720" cy="67464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n-US" sz="1800" spc="-1" strike="noStrike">
                <a:solidFill>
                  <a:srgbClr val="000000"/>
                </a:solidFill>
                <a:latin typeface="Arial"/>
                <a:ea typeface="DejaVu Sans"/>
              </a:rPr>
              <a:t> </a:t>
            </a:r>
            <a:r>
              <a:rPr b="1" lang="es-ES" sz="2400" spc="-1" strike="noStrike">
                <a:solidFill>
                  <a:srgbClr val="000000"/>
                </a:solidFill>
                <a:latin typeface="Calibri"/>
                <a:ea typeface="DejaVu Sans"/>
              </a:rPr>
              <a:t>Parámetros</a:t>
            </a: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DBSCAN</a:t>
            </a:r>
            <a:endParaRPr b="0" lang="en-US" sz="2400" spc="-1" strike="noStrike">
              <a:latin typeface="Arial"/>
            </a:endParaRPr>
          </a:p>
        </p:txBody>
      </p:sp>
      <p:sp>
        <p:nvSpPr>
          <p:cNvPr id="173" name="PlaceHolder 2"/>
          <p:cNvSpPr>
            <a:spLocks noGrp="1"/>
          </p:cNvSpPr>
          <p:nvPr>
            <p:ph/>
          </p:nvPr>
        </p:nvSpPr>
        <p:spPr>
          <a:xfrm>
            <a:off x="838080" y="1124640"/>
            <a:ext cx="6721200" cy="391464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1" lang="es-ES" sz="2400" spc="-1" strike="noStrike">
                <a:latin typeface="Calibri"/>
              </a:rPr>
              <a:t>Tipos de puntos</a:t>
            </a:r>
            <a:endParaRPr b="0" lang="en-US" sz="2400" spc="-1" strike="noStrike">
              <a:latin typeface="Arial"/>
            </a:endParaRPr>
          </a:p>
          <a:p>
            <a:pPr>
              <a:lnSpc>
                <a:spcPct val="100000"/>
              </a:lnSpc>
              <a:buNone/>
            </a:pPr>
            <a:endParaRPr b="0" lang="en-US" sz="2000" spc="-1" strike="noStrike">
              <a:latin typeface="Arial"/>
            </a:endParaRPr>
          </a:p>
          <a:p>
            <a:pPr marL="432000" indent="-324000">
              <a:lnSpc>
                <a:spcPct val="100000"/>
              </a:lnSpc>
              <a:buClr>
                <a:srgbClr val="000000"/>
              </a:buClr>
              <a:buFont typeface="Wingdings" charset="2"/>
              <a:buChar char=""/>
            </a:pPr>
            <a:r>
              <a:rPr b="0" lang="es-ES" sz="2000" spc="-1" strike="noStrike">
                <a:latin typeface="Calibri"/>
              </a:rPr>
              <a:t> </a:t>
            </a:r>
            <a:r>
              <a:rPr b="0" lang="es-ES" sz="2000" spc="-1" strike="noStrike">
                <a:latin typeface="Calibri"/>
              </a:rPr>
              <a:t>Punto núcleo (core point):</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Tiene al menos min_samples vecinos dentro de eps.</a:t>
            </a:r>
            <a:endParaRPr b="0" lang="en-US" sz="2000" spc="-1" strike="noStrike">
              <a:latin typeface="Arial"/>
            </a:endParaRPr>
          </a:p>
          <a:p>
            <a:pPr>
              <a:lnSpc>
                <a:spcPct val="100000"/>
              </a:lnSpc>
              <a:buNone/>
            </a:pPr>
            <a:endParaRPr b="0" lang="en-US" sz="2000" spc="-1" strike="noStrike">
              <a:latin typeface="Arial"/>
            </a:endParaRPr>
          </a:p>
          <a:p>
            <a:pPr marL="432000" indent="-324000">
              <a:lnSpc>
                <a:spcPct val="100000"/>
              </a:lnSpc>
              <a:buClr>
                <a:srgbClr val="000000"/>
              </a:buClr>
              <a:buFont typeface="Wingdings" charset="2"/>
              <a:buChar char=""/>
            </a:pPr>
            <a:r>
              <a:rPr b="0" lang="es-ES" sz="2000" spc="-1" strike="noStrike">
                <a:latin typeface="Calibri"/>
              </a:rPr>
              <a:t> </a:t>
            </a:r>
            <a:r>
              <a:rPr b="0" lang="es-ES" sz="2000" spc="-1" strike="noStrike">
                <a:latin typeface="Calibri"/>
              </a:rPr>
              <a:t>Punto frontera (border point):</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Tiene menos de min_samples vecinos, pero está cerca de un punto núcleo.</a:t>
            </a:r>
            <a:endParaRPr b="0" lang="en-US" sz="2000" spc="-1" strike="noStrike">
              <a:latin typeface="Arial"/>
            </a:endParaRPr>
          </a:p>
          <a:p>
            <a:pPr>
              <a:lnSpc>
                <a:spcPct val="100000"/>
              </a:lnSpc>
              <a:buNone/>
            </a:pPr>
            <a:endParaRPr b="0" lang="en-US" sz="2000" spc="-1" strike="noStrike">
              <a:latin typeface="Arial"/>
            </a:endParaRPr>
          </a:p>
          <a:p>
            <a:pPr marL="432000" indent="-324000">
              <a:lnSpc>
                <a:spcPct val="100000"/>
              </a:lnSpc>
              <a:buClr>
                <a:srgbClr val="000000"/>
              </a:buClr>
              <a:buFont typeface="Wingdings" charset="2"/>
              <a:buChar char=""/>
            </a:pPr>
            <a:r>
              <a:rPr b="0" lang="es-ES" sz="2000" spc="-1" strike="noStrike">
                <a:latin typeface="Calibri"/>
              </a:rPr>
              <a:t> </a:t>
            </a:r>
            <a:r>
              <a:rPr b="0" lang="es-ES" sz="2000" spc="-1" strike="noStrike">
                <a:latin typeface="Calibri"/>
              </a:rPr>
              <a:t>Ruido (noise point):</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No es núcleo ni frontera. Se considera un outlier.</a:t>
            </a:r>
            <a:endParaRPr b="0" lang="en-US" sz="2000" spc="-1" strike="noStrike">
              <a:latin typeface="Arial"/>
            </a:endParaRPr>
          </a:p>
        </p:txBody>
      </p:sp>
      <p:pic>
        <p:nvPicPr>
          <p:cNvPr id="174" name="" descr=""/>
          <p:cNvPicPr/>
          <p:nvPr/>
        </p:nvPicPr>
        <p:blipFill>
          <a:blip r:embed="rId1"/>
          <a:stretch/>
        </p:blipFill>
        <p:spPr>
          <a:xfrm>
            <a:off x="8171280" y="1980000"/>
            <a:ext cx="3822120" cy="25196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DBSCAN</a:t>
            </a:r>
            <a:endParaRPr b="0" lang="en-US" sz="2400" spc="-1" strike="noStrike">
              <a:latin typeface="Arial"/>
            </a:endParaRPr>
          </a:p>
        </p:txBody>
      </p:sp>
      <p:sp>
        <p:nvSpPr>
          <p:cNvPr id="176" name="PlaceHolder 24"/>
          <p:cNvSpPr/>
          <p:nvPr/>
        </p:nvSpPr>
        <p:spPr>
          <a:xfrm>
            <a:off x="838080" y="1124640"/>
            <a:ext cx="10512720" cy="67464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n-US" sz="1800" spc="-1" strike="noStrike">
                <a:solidFill>
                  <a:srgbClr val="000000"/>
                </a:solidFill>
                <a:latin typeface="Arial"/>
                <a:ea typeface="DejaVu Sans"/>
              </a:rPr>
              <a:t> </a:t>
            </a:r>
            <a:r>
              <a:rPr b="1" lang="es-ES" sz="2400" spc="-1" strike="noStrike">
                <a:solidFill>
                  <a:srgbClr val="000000"/>
                </a:solidFill>
                <a:latin typeface="Calibri"/>
                <a:ea typeface="DejaVu Sans"/>
              </a:rPr>
              <a:t>Funcionamiento</a:t>
            </a:r>
            <a:endParaRPr b="0" lang="en-US" sz="2400" spc="-1" strike="noStrike">
              <a:latin typeface="Arial"/>
            </a:endParaRPr>
          </a:p>
        </p:txBody>
      </p:sp>
      <p:pic>
        <p:nvPicPr>
          <p:cNvPr id="177" name="" descr=""/>
          <p:cNvPicPr/>
          <p:nvPr/>
        </p:nvPicPr>
        <p:blipFill>
          <a:blip r:embed="rId1"/>
          <a:srcRect l="21791" t="18467" r="20622" b="10661"/>
          <a:stretch/>
        </p:blipFill>
        <p:spPr>
          <a:xfrm>
            <a:off x="3971520" y="365040"/>
            <a:ext cx="7908120" cy="5474520"/>
          </a:xfrm>
          <a:prstGeom prst="rect">
            <a:avLst/>
          </a:prstGeom>
          <a:ln w="0">
            <a:noFill/>
          </a:ln>
        </p:spPr>
      </p:pic>
      <p:sp>
        <p:nvSpPr>
          <p:cNvPr id="178" name="PlaceHolder 11"/>
          <p:cNvSpPr/>
          <p:nvPr/>
        </p:nvSpPr>
        <p:spPr>
          <a:xfrm>
            <a:off x="540000" y="1980000"/>
            <a:ext cx="2412720" cy="89964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s-ES" sz="2400" spc="-1" strike="noStrike">
                <a:solidFill>
                  <a:srgbClr val="000000"/>
                </a:solidFill>
                <a:latin typeface="Calibri"/>
                <a:ea typeface="DejaVu Sans"/>
              </a:rPr>
              <a:t>DBSCAN es determinista</a:t>
            </a: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DBSCAN</a:t>
            </a:r>
            <a:endParaRPr b="0" lang="en-US" sz="2400" spc="-1" strike="noStrike">
              <a:latin typeface="Arial"/>
            </a:endParaRPr>
          </a:p>
        </p:txBody>
      </p:sp>
      <p:pic>
        <p:nvPicPr>
          <p:cNvPr id="180" name="" descr=""/>
          <p:cNvPicPr/>
          <p:nvPr/>
        </p:nvPicPr>
        <p:blipFill>
          <a:blip r:embed="rId1"/>
          <a:stretch/>
        </p:blipFill>
        <p:spPr>
          <a:xfrm>
            <a:off x="900000" y="1440000"/>
            <a:ext cx="10259640" cy="657720"/>
          </a:xfrm>
          <a:prstGeom prst="rect">
            <a:avLst/>
          </a:prstGeom>
          <a:ln w="0">
            <a:noFill/>
          </a:ln>
        </p:spPr>
      </p:pic>
      <p:pic>
        <p:nvPicPr>
          <p:cNvPr id="181" name="" descr=""/>
          <p:cNvPicPr/>
          <p:nvPr/>
        </p:nvPicPr>
        <p:blipFill>
          <a:blip r:embed="rId2"/>
          <a:stretch/>
        </p:blipFill>
        <p:spPr>
          <a:xfrm>
            <a:off x="900000" y="2700000"/>
            <a:ext cx="9606600" cy="1879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DBSCAN</a:t>
            </a:r>
            <a:endParaRPr b="0" lang="en-US" sz="2400" spc="-1" strike="noStrike">
              <a:latin typeface="Arial"/>
            </a:endParaRPr>
          </a:p>
        </p:txBody>
      </p:sp>
      <p:pic>
        <p:nvPicPr>
          <p:cNvPr id="183" name="" descr=""/>
          <p:cNvPicPr/>
          <p:nvPr/>
        </p:nvPicPr>
        <p:blipFill>
          <a:blip r:embed="rId1"/>
          <a:stretch/>
        </p:blipFill>
        <p:spPr>
          <a:xfrm>
            <a:off x="3780000" y="1086480"/>
            <a:ext cx="6785280" cy="2512800"/>
          </a:xfrm>
          <a:prstGeom prst="rect">
            <a:avLst/>
          </a:prstGeom>
          <a:ln w="0">
            <a:noFill/>
          </a:ln>
        </p:spPr>
      </p:pic>
      <p:pic>
        <p:nvPicPr>
          <p:cNvPr id="184" name="" descr=""/>
          <p:cNvPicPr/>
          <p:nvPr/>
        </p:nvPicPr>
        <p:blipFill>
          <a:blip r:embed="rId2"/>
          <a:stretch/>
        </p:blipFill>
        <p:spPr>
          <a:xfrm>
            <a:off x="3780000" y="3780000"/>
            <a:ext cx="7786080" cy="1979280"/>
          </a:xfrm>
          <a:prstGeom prst="rect">
            <a:avLst/>
          </a:prstGeom>
          <a:ln w="0">
            <a:noFill/>
          </a:ln>
        </p:spPr>
      </p:pic>
      <p:pic>
        <p:nvPicPr>
          <p:cNvPr id="185" name="" descr=""/>
          <p:cNvPicPr/>
          <p:nvPr/>
        </p:nvPicPr>
        <p:blipFill>
          <a:blip r:embed="rId3"/>
          <a:stretch/>
        </p:blipFill>
        <p:spPr>
          <a:xfrm>
            <a:off x="1260000" y="1440000"/>
            <a:ext cx="1799280" cy="1799280"/>
          </a:xfrm>
          <a:prstGeom prst="rect">
            <a:avLst/>
          </a:prstGeom>
          <a:ln w="0">
            <a:noFill/>
          </a:ln>
        </p:spPr>
      </p:pic>
      <p:pic>
        <p:nvPicPr>
          <p:cNvPr id="186" name="" descr=""/>
          <p:cNvPicPr/>
          <p:nvPr/>
        </p:nvPicPr>
        <p:blipFill>
          <a:blip r:embed="rId4"/>
          <a:stretch/>
        </p:blipFill>
        <p:spPr>
          <a:xfrm>
            <a:off x="1260000" y="3780000"/>
            <a:ext cx="1839960" cy="179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internas</a:t>
            </a:r>
            <a:endParaRPr b="0" lang="en-US" sz="2400" spc="-1" strike="noStrike">
              <a:latin typeface="Arial"/>
            </a:endParaRPr>
          </a:p>
        </p:txBody>
      </p:sp>
      <p:sp>
        <p:nvSpPr>
          <p:cNvPr id="188" name="PlaceHolder 32"/>
          <p:cNvSpPr/>
          <p:nvPr/>
        </p:nvSpPr>
        <p:spPr>
          <a:xfrm>
            <a:off x="820440" y="720000"/>
            <a:ext cx="10512720" cy="2879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endParaRPr b="0" lang="en-US" sz="2400" spc="-1" strike="noStrike">
              <a:latin typeface="Arial"/>
            </a:endParaRPr>
          </a:p>
          <a:p>
            <a:pPr marL="216000" indent="-324000">
              <a:lnSpc>
                <a:spcPct val="100000"/>
              </a:lnSpc>
              <a:buClr>
                <a:srgbClr val="000000"/>
              </a:buClr>
              <a:buFont typeface="Wingdings" charset="2"/>
              <a:buChar char=""/>
            </a:pPr>
            <a:r>
              <a:rPr b="0" lang="es-ES" sz="2400" spc="-1" strike="noStrike">
                <a:solidFill>
                  <a:srgbClr val="000000"/>
                </a:solidFill>
                <a:latin typeface="Calibri"/>
                <a:ea typeface="DejaVu Sans"/>
              </a:rPr>
              <a:t> </a:t>
            </a:r>
            <a:r>
              <a:rPr b="1" lang="es-ES" sz="2400" spc="-1" strike="noStrike">
                <a:solidFill>
                  <a:srgbClr val="000000"/>
                </a:solidFill>
                <a:latin typeface="Calibri"/>
                <a:ea typeface="DejaVu Sans"/>
              </a:rPr>
              <a:t>Coeficiente de Silhouette:</a:t>
            </a:r>
            <a:endParaRPr b="0" lang="en-US" sz="24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solidFill>
                  <a:srgbClr val="000000"/>
                </a:solidFill>
                <a:latin typeface="Calibri"/>
                <a:ea typeface="DejaVu Sans"/>
              </a:rPr>
              <a:t>es una métrica que evalúa qué tan bien se ha asignado cada punto a su cluster en comparación con otros clusters.</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solidFill>
                  <a:srgbClr val="000000"/>
                </a:solidFill>
                <a:latin typeface="Calibri"/>
                <a:ea typeface="DejaVu Sans"/>
              </a:rPr>
              <a:t>Mide</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solidFill>
                  <a:srgbClr val="000000"/>
                </a:solidFill>
                <a:latin typeface="Calibri"/>
                <a:ea typeface="DejaVu Sans"/>
              </a:rPr>
              <a:t>Cohesión: qué cerca está un punto de los otros puntos de su mismo cluster</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solidFill>
                  <a:srgbClr val="000000"/>
                </a:solidFill>
                <a:latin typeface="Calibri"/>
                <a:ea typeface="DejaVu Sans"/>
              </a:rPr>
              <a:t>Separación: qué tan lejos está ese punto de los puntos del cluster más cercano.</a:t>
            </a:r>
            <a:endParaRPr b="0" lang="en-US" sz="2000" spc="-1" strike="noStrike">
              <a:latin typeface="Arial"/>
            </a:endParaRPr>
          </a:p>
        </p:txBody>
      </p:sp>
      <p:pic>
        <p:nvPicPr>
          <p:cNvPr id="189" name="" descr=""/>
          <p:cNvPicPr/>
          <p:nvPr/>
        </p:nvPicPr>
        <p:blipFill>
          <a:blip r:embed="rId1"/>
          <a:srcRect l="0" t="9365" r="0" b="0"/>
          <a:stretch/>
        </p:blipFill>
        <p:spPr>
          <a:xfrm>
            <a:off x="3516840" y="3600000"/>
            <a:ext cx="4942440" cy="251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internas</a:t>
            </a:r>
            <a:endParaRPr b="0" lang="en-US" sz="2400" spc="-1" strike="noStrike">
              <a:latin typeface="Arial"/>
            </a:endParaRPr>
          </a:p>
        </p:txBody>
      </p:sp>
      <p:pic>
        <p:nvPicPr>
          <p:cNvPr id="191" name="" descr=""/>
          <p:cNvPicPr/>
          <p:nvPr/>
        </p:nvPicPr>
        <p:blipFill>
          <a:blip r:embed="rId1"/>
          <a:stretch/>
        </p:blipFill>
        <p:spPr>
          <a:xfrm>
            <a:off x="900000" y="1080000"/>
            <a:ext cx="10511640" cy="3059280"/>
          </a:xfrm>
          <a:prstGeom prst="rect">
            <a:avLst/>
          </a:prstGeom>
          <a:ln w="0">
            <a:noFill/>
          </a:ln>
        </p:spPr>
      </p:pic>
      <p:pic>
        <p:nvPicPr>
          <p:cNvPr id="192" name="" descr=""/>
          <p:cNvPicPr/>
          <p:nvPr/>
        </p:nvPicPr>
        <p:blipFill>
          <a:blip r:embed="rId2"/>
          <a:stretch/>
        </p:blipFill>
        <p:spPr>
          <a:xfrm>
            <a:off x="3600000" y="4320000"/>
            <a:ext cx="5865120" cy="161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internas</a:t>
            </a:r>
            <a:endParaRPr b="0" lang="en-US" sz="2400" spc="-1" strike="noStrike">
              <a:latin typeface="Arial"/>
            </a:endParaRPr>
          </a:p>
        </p:txBody>
      </p:sp>
      <p:pic>
        <p:nvPicPr>
          <p:cNvPr id="194" name="" descr=""/>
          <p:cNvPicPr/>
          <p:nvPr/>
        </p:nvPicPr>
        <p:blipFill>
          <a:blip r:embed="rId1"/>
          <a:stretch/>
        </p:blipFill>
        <p:spPr>
          <a:xfrm>
            <a:off x="42480" y="1051560"/>
            <a:ext cx="12191040" cy="47401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internas</a:t>
            </a:r>
            <a:endParaRPr b="0" lang="en-US" sz="2400" spc="-1" strike="noStrike">
              <a:latin typeface="Arial"/>
            </a:endParaRPr>
          </a:p>
        </p:txBody>
      </p:sp>
      <p:sp>
        <p:nvSpPr>
          <p:cNvPr id="196" name="PlaceHolder 30"/>
          <p:cNvSpPr/>
          <p:nvPr/>
        </p:nvSpPr>
        <p:spPr>
          <a:xfrm>
            <a:off x="820440" y="540000"/>
            <a:ext cx="10512720" cy="2879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endParaRPr b="0" lang="en-US" sz="2400" spc="-1" strike="noStrike">
              <a:latin typeface="Arial"/>
            </a:endParaRPr>
          </a:p>
          <a:p>
            <a:pPr marL="216000" indent="-324000">
              <a:lnSpc>
                <a:spcPct val="100000"/>
              </a:lnSpc>
              <a:buClr>
                <a:srgbClr val="000000"/>
              </a:buClr>
              <a:buFont typeface="Wingdings" charset="2"/>
              <a:buChar char=""/>
            </a:pPr>
            <a:r>
              <a:rPr b="0" lang="es-ES" sz="2400" spc="-1" strike="noStrike">
                <a:solidFill>
                  <a:srgbClr val="000000"/>
                </a:solidFill>
                <a:latin typeface="Calibri"/>
                <a:ea typeface="DejaVu Sans"/>
              </a:rPr>
              <a:t> </a:t>
            </a:r>
            <a:r>
              <a:rPr b="1" lang="es-ES" sz="2400" spc="-1" strike="noStrike">
                <a:solidFill>
                  <a:srgbClr val="000000"/>
                </a:solidFill>
                <a:latin typeface="Calibri"/>
                <a:ea typeface="DejaVu Sans"/>
              </a:rPr>
              <a:t>Calinski-Harabasz Index (CH):</a:t>
            </a:r>
            <a:endParaRPr b="0" lang="en-US" sz="24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solidFill>
                  <a:srgbClr val="000000"/>
                </a:solidFill>
                <a:latin typeface="Calibri"/>
                <a:ea typeface="DejaVu Sans"/>
              </a:rPr>
              <a:t>es una métrica que evalúa la calidad de un clustering comparando la dispersión entre clusters con la dispersión dentro de los clusteres.</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solidFill>
                  <a:srgbClr val="000000"/>
                </a:solidFill>
                <a:latin typeface="Calibri"/>
                <a:ea typeface="DejaVu Sans"/>
              </a:rPr>
              <a:t>Mide</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solidFill>
                  <a:srgbClr val="000000"/>
                </a:solidFill>
                <a:latin typeface="Calibri"/>
                <a:ea typeface="DejaVu Sans"/>
              </a:rPr>
              <a:t>Valor alto significa clusters más separados y compactos</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solidFill>
                  <a:srgbClr val="000000"/>
                </a:solidFill>
                <a:latin typeface="Calibri"/>
                <a:ea typeface="DejaVu Sans"/>
              </a:rPr>
              <a:t>Se utiliza para comparar diferentes valores de k y elegir el óptmo</a:t>
            </a:r>
            <a:endParaRPr b="0" lang="en-US" sz="2000" spc="-1" strike="noStrike">
              <a:latin typeface="Arial"/>
            </a:endParaRPr>
          </a:p>
        </p:txBody>
      </p:sp>
      <p:pic>
        <p:nvPicPr>
          <p:cNvPr id="197" name="" descr=""/>
          <p:cNvPicPr/>
          <p:nvPr/>
        </p:nvPicPr>
        <p:blipFill>
          <a:blip r:embed="rId1"/>
          <a:stretch/>
        </p:blipFill>
        <p:spPr>
          <a:xfrm>
            <a:off x="7560000" y="3600000"/>
            <a:ext cx="3599280" cy="2438640"/>
          </a:xfrm>
          <a:prstGeom prst="rect">
            <a:avLst/>
          </a:prstGeom>
          <a:ln w="0">
            <a:noFill/>
          </a:ln>
        </p:spPr>
      </p:pic>
      <p:pic>
        <p:nvPicPr>
          <p:cNvPr id="198" name="" descr=""/>
          <p:cNvPicPr/>
          <p:nvPr/>
        </p:nvPicPr>
        <p:blipFill>
          <a:blip r:embed="rId2"/>
          <a:stretch/>
        </p:blipFill>
        <p:spPr>
          <a:xfrm>
            <a:off x="820440" y="3692880"/>
            <a:ext cx="6065280" cy="22464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internas</a:t>
            </a:r>
            <a:endParaRPr b="0" lang="en-US" sz="2400" spc="-1" strike="noStrike">
              <a:latin typeface="Arial"/>
            </a:endParaRPr>
          </a:p>
        </p:txBody>
      </p:sp>
      <p:sp>
        <p:nvSpPr>
          <p:cNvPr id="200" name="PlaceHolder 38"/>
          <p:cNvSpPr/>
          <p:nvPr/>
        </p:nvSpPr>
        <p:spPr>
          <a:xfrm>
            <a:off x="460440" y="1260000"/>
            <a:ext cx="5838840" cy="2879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endParaRPr b="0" lang="en-US" sz="2400" spc="-1" strike="noStrike">
              <a:latin typeface="Arial"/>
            </a:endParaRPr>
          </a:p>
          <a:p>
            <a:pPr marL="216000" indent="-324000">
              <a:lnSpc>
                <a:spcPct val="100000"/>
              </a:lnSpc>
              <a:buClr>
                <a:srgbClr val="000000"/>
              </a:buClr>
              <a:buFont typeface="Wingdings" charset="2"/>
              <a:buChar char=""/>
            </a:pPr>
            <a:r>
              <a:rPr b="0" lang="es-ES" sz="2400" spc="-1" strike="noStrike">
                <a:solidFill>
                  <a:srgbClr val="000000"/>
                </a:solidFill>
                <a:latin typeface="Calibri"/>
                <a:ea typeface="DejaVu Sans"/>
              </a:rPr>
              <a:t> </a:t>
            </a:r>
            <a:r>
              <a:rPr b="1" lang="es-ES" sz="2400" spc="-1" strike="noStrike">
                <a:solidFill>
                  <a:srgbClr val="000000"/>
                </a:solidFill>
                <a:latin typeface="Calibri"/>
                <a:ea typeface="DejaVu Sans"/>
              </a:rPr>
              <a:t>Davies-Bouldin Index (DBI):</a:t>
            </a:r>
            <a:endParaRPr b="0" lang="en-US" sz="24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solidFill>
                  <a:srgbClr val="000000"/>
                </a:solidFill>
                <a:latin typeface="Calibri"/>
                <a:ea typeface="DejaVu Sans"/>
              </a:rPr>
              <a:t>es una métrica que evalúa la calidad de un clustering considerando la similitud entre clusters.</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solidFill>
                  <a:srgbClr val="000000"/>
                </a:solidFill>
                <a:latin typeface="Calibri"/>
                <a:ea typeface="DejaVu Sans"/>
              </a:rPr>
              <a:t>Mide</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solidFill>
                  <a:srgbClr val="000000"/>
                </a:solidFill>
                <a:latin typeface="Calibri"/>
                <a:ea typeface="DejaVu Sans"/>
              </a:rPr>
              <a:t>Valor bajo significa clusters más separados y compactos</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solidFill>
                  <a:srgbClr val="000000"/>
                </a:solidFill>
                <a:latin typeface="Calibri"/>
                <a:ea typeface="DejaVu Sans"/>
              </a:rPr>
              <a:t>Se utiliza para comparar diferentes valores de k y elegir el óptmo</a:t>
            </a:r>
            <a:endParaRPr b="0" lang="en-US" sz="2000" spc="-1" strike="noStrike">
              <a:latin typeface="Arial"/>
            </a:endParaRPr>
          </a:p>
        </p:txBody>
      </p:sp>
      <p:pic>
        <p:nvPicPr>
          <p:cNvPr id="201" name="" descr=""/>
          <p:cNvPicPr/>
          <p:nvPr/>
        </p:nvPicPr>
        <p:blipFill>
          <a:blip r:embed="rId1"/>
          <a:stretch/>
        </p:blipFill>
        <p:spPr>
          <a:xfrm>
            <a:off x="6840000" y="3060000"/>
            <a:ext cx="4529880" cy="3020400"/>
          </a:xfrm>
          <a:prstGeom prst="rect">
            <a:avLst/>
          </a:prstGeom>
          <a:ln w="0">
            <a:noFill/>
          </a:ln>
        </p:spPr>
      </p:pic>
      <p:pic>
        <p:nvPicPr>
          <p:cNvPr id="202" name="" descr=""/>
          <p:cNvPicPr/>
          <p:nvPr/>
        </p:nvPicPr>
        <p:blipFill>
          <a:blip r:embed="rId2"/>
          <a:stretch/>
        </p:blipFill>
        <p:spPr>
          <a:xfrm>
            <a:off x="5940000" y="180000"/>
            <a:ext cx="6137640" cy="27111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externas</a:t>
            </a:r>
            <a:endParaRPr b="0" lang="en-US" sz="2400" spc="-1" strike="noStrike">
              <a:latin typeface="Arial"/>
            </a:endParaRPr>
          </a:p>
        </p:txBody>
      </p:sp>
      <p:sp>
        <p:nvSpPr>
          <p:cNvPr id="204" name="PlaceHolder 40"/>
          <p:cNvSpPr/>
          <p:nvPr/>
        </p:nvSpPr>
        <p:spPr>
          <a:xfrm>
            <a:off x="820440" y="720000"/>
            <a:ext cx="10512720" cy="2879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endParaRPr b="0" lang="en-US" sz="2400" spc="-1" strike="noStrike">
              <a:latin typeface="Arial"/>
            </a:endParaRPr>
          </a:p>
          <a:p>
            <a:pPr marL="216000" indent="-324000">
              <a:lnSpc>
                <a:spcPct val="100000"/>
              </a:lnSpc>
              <a:buClr>
                <a:srgbClr val="000000"/>
              </a:buClr>
              <a:buFont typeface="Wingdings" charset="2"/>
              <a:buChar char=""/>
            </a:pPr>
            <a:r>
              <a:rPr b="0" lang="es-ES" sz="2400" spc="-1" strike="noStrike">
                <a:solidFill>
                  <a:srgbClr val="000000"/>
                </a:solidFill>
                <a:latin typeface="Calibri"/>
                <a:ea typeface="DejaVu Sans"/>
              </a:rPr>
              <a:t> </a:t>
            </a:r>
            <a:r>
              <a:rPr b="1" lang="es-ES" sz="2400" spc="-1" strike="noStrike">
                <a:solidFill>
                  <a:srgbClr val="000000"/>
                </a:solidFill>
                <a:latin typeface="Calibri"/>
                <a:ea typeface="DejaVu Sans"/>
              </a:rPr>
              <a:t>Adjusted Rand Index (ARI):</a:t>
            </a:r>
            <a:endParaRPr b="0" lang="en-US" sz="24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solidFill>
                  <a:srgbClr val="000000"/>
                </a:solidFill>
                <a:latin typeface="Calibri"/>
                <a:ea typeface="DejaVu Sans"/>
              </a:rPr>
              <a:t>es una métrica que mide la similitud entre dos agrupamientos (clustering vs etiquetas reales), ajustando por coincidencias aleatorias.</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solidFill>
                  <a:srgbClr val="000000"/>
                </a:solidFill>
                <a:latin typeface="Calibri"/>
                <a:ea typeface="DejaVu Sans"/>
              </a:rPr>
              <a:t>Uso</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solidFill>
                  <a:srgbClr val="000000"/>
                </a:solidFill>
                <a:latin typeface="Calibri"/>
                <a:ea typeface="DejaVu Sans"/>
              </a:rPr>
              <a:t>Evaluar algoritmos de clustering cuando se conocen las etiquetas reales</a:t>
            </a:r>
            <a:endParaRPr b="0" lang="en-US" sz="2000" spc="-1" strike="noStrike">
              <a:latin typeface="Arial"/>
            </a:endParaRPr>
          </a:p>
          <a:p>
            <a:pPr lvl="2" marL="1296000" indent="-288000">
              <a:lnSpc>
                <a:spcPct val="100000"/>
              </a:lnSpc>
              <a:spcBef>
                <a:spcPts val="850"/>
              </a:spcBef>
              <a:buClr>
                <a:srgbClr val="000000"/>
              </a:buClr>
              <a:buSzPct val="45000"/>
              <a:buFont typeface="Wingdings" charset="2"/>
              <a:buChar char=""/>
            </a:pPr>
            <a:r>
              <a:rPr b="0" lang="es-ES" sz="2000" spc="-1" strike="noStrike">
                <a:solidFill>
                  <a:srgbClr val="000000"/>
                </a:solidFill>
                <a:latin typeface="Calibri"/>
                <a:ea typeface="DejaVu Sans"/>
              </a:rPr>
              <a:t>No se ve afectado si los dos agrupamientos comparados tienen diferente número de clusters</a:t>
            </a:r>
            <a:endParaRPr b="0" lang="en-US" sz="2000" spc="-1" strike="noStrike">
              <a:latin typeface="Arial"/>
            </a:endParaRPr>
          </a:p>
        </p:txBody>
      </p:sp>
      <p:pic>
        <p:nvPicPr>
          <p:cNvPr id="205" name="" descr=""/>
          <p:cNvPicPr/>
          <p:nvPr/>
        </p:nvPicPr>
        <p:blipFill>
          <a:blip r:embed="rId1"/>
          <a:stretch/>
        </p:blipFill>
        <p:spPr>
          <a:xfrm>
            <a:off x="3960000" y="3960000"/>
            <a:ext cx="5219280" cy="18759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externas</a:t>
            </a:r>
            <a:endParaRPr b="0" lang="en-US" sz="2400" spc="-1" strike="noStrike">
              <a:latin typeface="Arial"/>
            </a:endParaRPr>
          </a:p>
        </p:txBody>
      </p:sp>
      <p:pic>
        <p:nvPicPr>
          <p:cNvPr id="207" name="" descr=""/>
          <p:cNvPicPr/>
          <p:nvPr/>
        </p:nvPicPr>
        <p:blipFill>
          <a:blip r:embed="rId1"/>
          <a:stretch/>
        </p:blipFill>
        <p:spPr>
          <a:xfrm>
            <a:off x="1741320" y="1109160"/>
            <a:ext cx="9154080" cy="42901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externas</a:t>
            </a:r>
            <a:endParaRPr b="0" lang="en-US" sz="2400" spc="-1" strike="noStrike">
              <a:latin typeface="Arial"/>
            </a:endParaRPr>
          </a:p>
        </p:txBody>
      </p:sp>
      <p:pic>
        <p:nvPicPr>
          <p:cNvPr id="209" name="" descr=""/>
          <p:cNvPicPr/>
          <p:nvPr/>
        </p:nvPicPr>
        <p:blipFill>
          <a:blip r:embed="rId1"/>
          <a:stretch/>
        </p:blipFill>
        <p:spPr>
          <a:xfrm>
            <a:off x="900000" y="1440000"/>
            <a:ext cx="10628280" cy="377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externas</a:t>
            </a:r>
            <a:endParaRPr b="0" lang="en-US" sz="2400" spc="-1" strike="noStrike">
              <a:latin typeface="Arial"/>
            </a:endParaRPr>
          </a:p>
        </p:txBody>
      </p:sp>
      <p:pic>
        <p:nvPicPr>
          <p:cNvPr id="211" name="" descr=""/>
          <p:cNvPicPr/>
          <p:nvPr/>
        </p:nvPicPr>
        <p:blipFill>
          <a:blip r:embed="rId1"/>
          <a:stretch/>
        </p:blipFill>
        <p:spPr>
          <a:xfrm>
            <a:off x="1172520" y="1440000"/>
            <a:ext cx="10346760" cy="377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externas</a:t>
            </a:r>
            <a:endParaRPr b="0" lang="en-US" sz="2400" spc="-1" strike="noStrike">
              <a:latin typeface="Arial"/>
            </a:endParaRPr>
          </a:p>
        </p:txBody>
      </p:sp>
      <p:pic>
        <p:nvPicPr>
          <p:cNvPr id="213" name="" descr=""/>
          <p:cNvPicPr/>
          <p:nvPr/>
        </p:nvPicPr>
        <p:blipFill>
          <a:blip r:embed="rId1"/>
          <a:stretch/>
        </p:blipFill>
        <p:spPr>
          <a:xfrm>
            <a:off x="720000" y="1800000"/>
            <a:ext cx="11180160" cy="3239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838080" y="365040"/>
            <a:ext cx="10512720" cy="540720"/>
          </a:xfrm>
          <a:prstGeom prst="rect">
            <a:avLst/>
          </a:prstGeom>
          <a:noFill/>
          <a:ln w="0">
            <a:noFill/>
          </a:ln>
        </p:spPr>
        <p:txBody>
          <a:bodyPr lIns="90000" rIns="90000" tIns="45000" bIns="45000" anchor="ctr">
            <a:noAutofit/>
          </a:bodyPr>
          <a:p>
            <a:pPr algn="ctr">
              <a:buNone/>
            </a:pPr>
            <a:endParaRPr b="0" lang="en-US" sz="4400" spc="-1" strike="noStrike">
              <a:latin typeface="Arial"/>
            </a:endParaRPr>
          </a:p>
        </p:txBody>
      </p:sp>
      <p:sp>
        <p:nvSpPr>
          <p:cNvPr id="215" name="PlaceHolder 2"/>
          <p:cNvSpPr>
            <a:spLocks noGrp="1"/>
          </p:cNvSpPr>
          <p:nvPr>
            <p:ph/>
          </p:nvPr>
        </p:nvSpPr>
        <p:spPr>
          <a:xfrm>
            <a:off x="838080" y="1124640"/>
            <a:ext cx="10512720" cy="4348440"/>
          </a:xfrm>
          <a:prstGeom prst="rect">
            <a:avLst/>
          </a:prstGeom>
          <a:noFill/>
          <a:ln w="0">
            <a:noFill/>
          </a:ln>
        </p:spPr>
        <p:txBody>
          <a:bodyPr lIns="90000" rIns="90000" tIns="45000" bIns="45000" anchor="t">
            <a:noAutofit/>
          </a:bodyPr>
          <a:p>
            <a:endParaRPr b="0" lang="en-US" sz="32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3796"/>
        </a:solidFill>
      </p:bgPr>
    </p:bg>
    <p:spTree>
      <p:nvGrpSpPr>
        <p:cNvPr id="1" name=""/>
        <p:cNvGrpSpPr/>
        <p:nvPr/>
      </p:nvGrpSpPr>
      <p:grpSpPr>
        <a:xfrm>
          <a:off x="0" y="0"/>
          <a:ext cx="0" cy="0"/>
          <a:chOff x="0" y="0"/>
          <a:chExt cx="0" cy="0"/>
        </a:xfrm>
      </p:grpSpPr>
      <p:sp>
        <p:nvSpPr>
          <p:cNvPr id="216" name="10 CuadroTexto"/>
          <p:cNvSpPr/>
          <p:nvPr/>
        </p:nvSpPr>
        <p:spPr>
          <a:xfrm>
            <a:off x="5150160" y="5508000"/>
            <a:ext cx="188964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s-ES" sz="2400" spc="-1" strike="noStrike">
                <a:solidFill>
                  <a:srgbClr val="ffffff"/>
                </a:solidFill>
                <a:latin typeface="Calibri"/>
                <a:ea typeface="DejaVu Sans"/>
              </a:rPr>
              <a:t>www.ceste.es</a:t>
            </a:r>
            <a:endParaRPr b="0" lang="en-US" sz="2400" spc="-1" strike="noStrike">
              <a:latin typeface="Arial"/>
            </a:endParaRPr>
          </a:p>
        </p:txBody>
      </p:sp>
      <p:pic>
        <p:nvPicPr>
          <p:cNvPr id="217" name="11 Imagen" descr=""/>
          <p:cNvPicPr/>
          <p:nvPr/>
        </p:nvPicPr>
        <p:blipFill>
          <a:blip r:embed="rId1"/>
          <a:stretch/>
        </p:blipFill>
        <p:spPr>
          <a:xfrm>
            <a:off x="4227480" y="2349000"/>
            <a:ext cx="3735000" cy="18230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61D317CF2309C4E8DA448EE42D88B65" ma:contentTypeVersion="16" ma:contentTypeDescription="Crear nuevo documento." ma:contentTypeScope="" ma:versionID="73b97258e99d47497b96ecb181da94f2">
  <xsd:schema xmlns:xsd="http://www.w3.org/2001/XMLSchema" xmlns:xs="http://www.w3.org/2001/XMLSchema" xmlns:p="http://schemas.microsoft.com/office/2006/metadata/properties" xmlns:ns2="e24c3f89-b1e2-4b5c-81e1-9b07710f5189" xmlns:ns3="ce845bb0-6f82-4cf9-8b02-3916bb6268df" targetNamespace="http://schemas.microsoft.com/office/2006/metadata/properties" ma:root="true" ma:fieldsID="47e9c207501d1d53c375c00c242f54b4" ns2:_="" ns3:_="">
    <xsd:import namespace="e24c3f89-b1e2-4b5c-81e1-9b07710f5189"/>
    <xsd:import namespace="ce845bb0-6f82-4cf9-8b02-3916bb6268d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4c3f89-b1e2-4b5c-81e1-9b07710f51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Etiquetas de imagen" ma:readOnly="false" ma:fieldId="{5cf76f15-5ced-4ddc-b409-7134ff3c332f}" ma:taxonomyMulti="true" ma:sspId="59dbaa74-2a60-464d-988b-bba989cac70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e845bb0-6f82-4cf9-8b02-3916bb6268df" elementFormDefault="qualified">
    <xsd:import namespace="http://schemas.microsoft.com/office/2006/documentManagement/types"/>
    <xsd:import namespace="http://schemas.microsoft.com/office/infopath/2007/PartnerControls"/>
    <xsd:element name="SharedWithUsers" ma:index="15"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Detalles de uso compartido" ma:internalName="SharedWithDetails" ma:readOnly="true">
      <xsd:simpleType>
        <xsd:restriction base="dms:Note">
          <xsd:maxLength value="255"/>
        </xsd:restriction>
      </xsd:simpleType>
    </xsd:element>
    <xsd:element name="TaxCatchAll" ma:index="21" nillable="true" ma:displayName="Taxonomy Catch All Column" ma:hidden="true" ma:list="{51e47c2f-83de-443c-9b77-fbf0d35e4197}" ma:internalName="TaxCatchAll" ma:showField="CatchAllData" ma:web="ce845bb0-6f82-4cf9-8b02-3916bb6268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24c3f89-b1e2-4b5c-81e1-9b07710f5189">
      <Terms xmlns="http://schemas.microsoft.com/office/infopath/2007/PartnerControls"/>
    </lcf76f155ced4ddcb4097134ff3c332f>
    <TaxCatchAll xmlns="ce845bb0-6f82-4cf9-8b02-3916bb6268df" xsi:nil="true"/>
  </documentManagement>
</p:properties>
</file>

<file path=customXml/itemProps1.xml><?xml version="1.0" encoding="utf-8"?>
<ds:datastoreItem xmlns:ds="http://schemas.openxmlformats.org/officeDocument/2006/customXml" ds:itemID="{F27A6D2C-8CE5-46A4-ADEC-6FD7C5F7EDCC}"/>
</file>

<file path=customXml/itemProps2.xml><?xml version="1.0" encoding="utf-8"?>
<ds:datastoreItem xmlns:ds="http://schemas.openxmlformats.org/officeDocument/2006/customXml" ds:itemID="{7557D189-32A8-411C-A1FE-5D98FC6CCF4F}"/>
</file>

<file path=customXml/itemProps3.xml><?xml version="1.0" encoding="utf-8"?>
<ds:datastoreItem xmlns:ds="http://schemas.openxmlformats.org/officeDocument/2006/customXml" ds:itemID="{E8D8D8A5-1EAA-41DC-A1E3-E107219891EB}"/>
</file>

<file path=docProps/app.xml><?xml version="1.0" encoding="utf-8"?>
<Properties xmlns="http://schemas.openxmlformats.org/officeDocument/2006/extended-properties" xmlns:vt="http://schemas.openxmlformats.org/officeDocument/2006/docPropsVTypes">
  <Template/>
  <TotalTime>2593</TotalTime>
  <Application>LibreOffice/7.3.7.2$Linux_X86_64 LibreOffice_project/30$Build-2</Application>
  <AppVersion>15.0000</AppVersion>
  <Words>12</Words>
  <Paragraphs>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2014-05-13T08:36:54Z</dcterms:created>
  <dc:creator>psoria</dc:creator>
  <dc:description/>
  <dc:language>es-ES</dc:language>
  <cp:lastModifiedBy/>
  <cp:lastPrinted>2018-06-15T07:54:48Z</cp:lastPrinted>
  <dcterms:modified xsi:type="dcterms:W3CDTF">2025-11-10T18:46:35Z</dcterms:modified>
  <cp:revision>486</cp:revision>
  <dc:subject/>
  <dc:title>Diapositiva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0x010100D61D317CF2309C4E8DA448EE42D88B65</vt:lpwstr>
  </property>
  <property fmtid="{D5CDD505-2E9C-101B-9397-08002B2CF9AE}" pid="3" name="PresentationFormat">
    <vt:lpwstr>Panorámica</vt:lpwstr>
  </property>
  <property fmtid="{D5CDD505-2E9C-101B-9397-08002B2CF9AE}" pid="4" name="Slides">
    <vt:i4>3</vt:i4>
  </property>
</Properties>
</file>