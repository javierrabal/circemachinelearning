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26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4.png" ContentType="image/png"/>
  <Override PartName="/ppt/media/image24.png" ContentType="image/png"/>
  <Override PartName="/ppt/media/image1.png" ContentType="image/png"/>
  <Override PartName="/ppt/media/image31.png" ContentType="image/png"/>
  <Override PartName="/ppt/media/image15.png" ContentType="image/png"/>
  <Override PartName="/ppt/media/image3.jpeg" ContentType="image/jpeg"/>
  <Override PartName="/ppt/media/image30.png" ContentType="image/png"/>
  <Override PartName="/ppt/media/image12.png" ContentType="image/png"/>
  <Override PartName="/ppt/media/image33.png" ContentType="image/png"/>
  <Override PartName="/ppt/media/image13.png" ContentType="image/png"/>
  <Override PartName="/ppt/media/image8.png" ContentType="image/png"/>
  <Override PartName="/ppt/media/image38.png" ContentType="image/png"/>
  <Override PartName="/ppt/media/image40.png" ContentType="image/png"/>
  <Override PartName="/ppt/media/image9.png" ContentType="image/png"/>
  <Override PartName="/ppt/media/image39.png" ContentType="image/png"/>
  <Override PartName="/ppt/media/image41.png" ContentType="image/png"/>
  <Override PartName="/ppt/media/image42.png" ContentType="image/png"/>
  <Override PartName="/ppt/media/image43.png" ContentType="image/png"/>
  <Override PartName="/ppt/media/image44.png" ContentType="image/png"/>
  <Override PartName="/ppt/media/image45.png" ContentType="image/png"/>
  <Override PartName="/ppt/media/image10.png" ContentType="image/png"/>
  <Override PartName="/ppt/media/image37.png" ContentType="image/png"/>
  <Override PartName="/ppt/media/image7.png" ContentType="image/png"/>
  <Override PartName="/ppt/media/image11.png" ContentType="image/png"/>
  <Override PartName="/ppt/media/image36.png" ContentType="image/png"/>
  <Override PartName="/ppt/media/image6.png" ContentType="image/png"/>
  <Override PartName="/ppt/media/image29.png" ContentType="image/png"/>
  <Override PartName="/ppt/media/image35.png" ContentType="image/png"/>
  <Override PartName="/ppt/media/image5.png" ContentType="image/png"/>
  <Override PartName="/ppt/media/image28.png" ContentType="image/png"/>
  <Override PartName="/ppt/media/image34.png" ContentType="image/png"/>
  <Override PartName="/ppt/media/image4.png" ContentType="image/png"/>
  <Override PartName="/ppt/media/image27.png" ContentType="image/png"/>
  <Override PartName="/ppt/media/image32.png" ContentType="image/png"/>
  <Override PartName="/ppt/media/image2.png" ContentType="image/png"/>
  <Override PartName="/ppt/media/image25.png" ContentType="image/png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40.xml.rels" ContentType="application/vnd.openxmlformats-package.relationships+xml"/>
  <Override PartName="/ppt/slides/_rels/slide33.xml.rels" ContentType="application/vnd.openxmlformats-package.relationships+xml"/>
  <Override PartName="/ppt/slides/_rels/slide6.xml.rels" ContentType="application/vnd.openxmlformats-package.relationships+xml"/>
  <Override PartName="/ppt/slides/_rels/slide41.xml.rels" ContentType="application/vnd.openxmlformats-package.relationships+xml"/>
  <Override PartName="/ppt/slides/_rels/slide34.xml.rels" ContentType="application/vnd.openxmlformats-package.relationships+xml"/>
  <Override PartName="/ppt/slides/_rels/slide7.xml.rels" ContentType="application/vnd.openxmlformats-package.relationships+xml"/>
  <Override PartName="/ppt/slides/_rels/slide42.xml.rels" ContentType="application/vnd.openxmlformats-package.relationships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0.xml.rels" ContentType="application/vnd.openxmlformats-package.relationships+xml"/>
  <Override PartName="/ppt/slides/_rels/slide29.xml.rels" ContentType="application/vnd.openxmlformats-package.relationships+xml"/>
  <Override PartName="/ppt/slides/_rels/slide14.xml.rels" ContentType="application/vnd.openxmlformats-package.relationships+xml"/>
  <Override PartName="/ppt/slides/_rels/slide30.xml.rels" ContentType="application/vnd.openxmlformats-package.relationships+xml"/>
  <Override PartName="/ppt/slides/_rels/slide23.xml.rels" ContentType="application/vnd.openxmlformats-package.relationships+xml"/>
  <Override PartName="/ppt/slides/_rels/slide38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37.xml.rels" ContentType="application/vnd.openxmlformats-package.relationships+xml"/>
  <Override PartName="/ppt/slides/_rels/slide22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28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24.xml.rels" ContentType="application/vnd.openxmlformats-package.relationships+xml"/>
  <Override PartName="/ppt/slides/_rels/slide39.xml.rels" ContentType="application/vnd.openxmlformats-package.relationships+xml"/>
  <Override PartName="/ppt/slides/_rels/slide31.xml.rels" ContentType="application/vnd.openxmlformats-package.relationships+xml"/>
  <Override PartName="/ppt/slides/_rels/slide15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21.xml.rels" ContentType="application/vnd.openxmlformats-package.relationships+xml"/>
  <Override PartName="/ppt/slides/_rels/slide36.xml.rels" ContentType="application/vnd.openxmlformats-package.relationships+xml"/>
  <Override PartName="/ppt/slides/_rels/slide27.xml.rels" ContentType="application/vnd.openxmlformats-package.relationships+xml"/>
  <Override PartName="/ppt/slides/_rels/slide2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5.xml.rels" ContentType="application/vnd.openxmlformats-package.relationships+xml"/>
  <Override PartName="/ppt/slides/_rels/slide32.xml.rels" ContentType="application/vnd.openxmlformats-package.relationships+xml"/>
  <Override PartName="/ppt/slides/_rels/slide16.xml.rels" ContentType="application/vnd.openxmlformats-package.relationships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13.xml" ContentType="application/vnd.openxmlformats-officedocument.presentationml.slide+xml"/>
  <Override PartName="/ppt/slides/slide37.xml" ContentType="application/vnd.openxmlformats-officedocument.presentationml.slide+xml"/>
  <Override PartName="/ppt/slides/slide1.xml" ContentType="application/vnd.openxmlformats-officedocument.presentationml.slide+xml"/>
  <Override PartName="/ppt/slides/slide38.xml" ContentType="application/vnd.openxmlformats-officedocument.presentationml.slide+xml"/>
  <Override PartName="/ppt/slides/slide2.xml" ContentType="application/vnd.openxmlformats-officedocument.presentationml.slide+xml"/>
  <Override PartName="/ppt/slides/slide3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42.xml" ContentType="application/vnd.openxmlformats-officedocument.presentationml.slide+xml"/>
  <Override PartName="/ppt/slides/slide4.xml" ContentType="application/vnd.openxmlformats-officedocument.presentationml.slide+xml"/>
  <Override PartName="/ppt/slides/slide41.xml" ContentType="application/vnd.openxmlformats-officedocument.presentationml.slide+xml"/>
  <Override PartName="/ppt/slides/slide6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Pulse para editar el formato del texto de título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Pulse para editar el formato de texto del esquema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Segundo nivel del esquema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Tercer nivel del esquema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Cuarto nivel del esquema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Quinto nivel del esquema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Sexto nivel del esquema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Séptimo nivel del esquema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6 Rectángulo"/>
          <p:cNvSpPr/>
          <p:nvPr/>
        </p:nvSpPr>
        <p:spPr>
          <a:xfrm>
            <a:off x="0" y="6179400"/>
            <a:ext cx="12188160" cy="68868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39" name="Picture 4" descr="http://www.ceste.es/wp-content/uploads/2016/06/CESTE-Diamante.png"/>
          <p:cNvPicPr/>
          <p:nvPr/>
        </p:nvPicPr>
        <p:blipFill>
          <a:blip r:embed="rId2"/>
          <a:stretch/>
        </p:blipFill>
        <p:spPr>
          <a:xfrm flipH="1">
            <a:off x="1683360" y="5883840"/>
            <a:ext cx="598680" cy="600840"/>
          </a:xfrm>
          <a:prstGeom prst="rect">
            <a:avLst/>
          </a:prstGeom>
          <a:ln w="0">
            <a:noFill/>
          </a:ln>
        </p:spPr>
      </p:pic>
      <p:pic>
        <p:nvPicPr>
          <p:cNvPr id="40" name="8 Imagen" descr="CESTE blanco estrella roja sin coletilla.png"/>
          <p:cNvPicPr/>
          <p:nvPr/>
        </p:nvPicPr>
        <p:blipFill>
          <a:blip r:embed="rId3"/>
          <a:stretch/>
        </p:blipFill>
        <p:spPr>
          <a:xfrm>
            <a:off x="9936360" y="6184800"/>
            <a:ext cx="1363680" cy="648720"/>
          </a:xfrm>
          <a:prstGeom prst="rect">
            <a:avLst/>
          </a:prstGeom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Pulse para editar el formato del texto de título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Pulse para editar el formato de texto del esquema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Segundo nivel del esquema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Tercer nivel del esquema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Cuarto nivel del esquema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Quinto nivel del esquema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Sexto nivel del esquema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Séptimo nivel del esquema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1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13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13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13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slideLayout" Target="../slideLayouts/slideLayout13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slideLayout" Target="../slideLayouts/slideLayout13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slideLayout" Target="../slideLayouts/slideLayout13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Imagen 3" descr="Una mujer en frente de laptop&#10;&#10;Descripción generada automáticamente"/>
          <p:cNvPicPr/>
          <p:nvPr/>
        </p:nvPicPr>
        <p:blipFill>
          <a:blip r:embed="rId1"/>
          <a:srcRect l="1742" t="12716" r="9979" b="12799"/>
          <a:stretch/>
        </p:blipFill>
        <p:spPr>
          <a:xfrm>
            <a:off x="0" y="0"/>
            <a:ext cx="12188160" cy="6854040"/>
          </a:xfrm>
          <a:prstGeom prst="rect">
            <a:avLst/>
          </a:prstGeom>
          <a:ln w="0">
            <a:noFill/>
          </a:ln>
        </p:spPr>
      </p:pic>
      <p:sp>
        <p:nvSpPr>
          <p:cNvPr id="80" name="7 Rectángulo"/>
          <p:cNvSpPr/>
          <p:nvPr/>
        </p:nvSpPr>
        <p:spPr>
          <a:xfrm>
            <a:off x="852840" y="6682680"/>
            <a:ext cx="11388240" cy="34884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1" name="Picture 4" descr="http://www.ceste.es/wp-content/uploads/2016/06/CESTE-Diamante.png"/>
          <p:cNvPicPr/>
          <p:nvPr/>
        </p:nvPicPr>
        <p:blipFill>
          <a:blip r:embed="rId2"/>
          <a:stretch/>
        </p:blipFill>
        <p:spPr>
          <a:xfrm flipH="1">
            <a:off x="555480" y="6582960"/>
            <a:ext cx="598680" cy="600840"/>
          </a:xfrm>
          <a:prstGeom prst="rect">
            <a:avLst/>
          </a:prstGeom>
          <a:ln w="0">
            <a:noFill/>
          </a:ln>
        </p:spPr>
      </p:pic>
      <p:sp>
        <p:nvSpPr>
          <p:cNvPr id="82" name="7 Rectángulo"/>
          <p:cNvSpPr/>
          <p:nvPr/>
        </p:nvSpPr>
        <p:spPr>
          <a:xfrm>
            <a:off x="-96840" y="-99360"/>
            <a:ext cx="11485080" cy="28404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3" name="Picture 4" descr="http://www.ceste.es/wp-content/uploads/2016/06/CESTE-Diamante.png"/>
          <p:cNvPicPr/>
          <p:nvPr/>
        </p:nvPicPr>
        <p:blipFill>
          <a:blip r:embed="rId3"/>
          <a:stretch/>
        </p:blipFill>
        <p:spPr>
          <a:xfrm flipH="1">
            <a:off x="11094840" y="-316440"/>
            <a:ext cx="598680" cy="600840"/>
          </a:xfrm>
          <a:prstGeom prst="rect">
            <a:avLst/>
          </a:prstGeom>
          <a:ln w="0">
            <a:noFill/>
          </a:ln>
        </p:spPr>
      </p:pic>
      <p:grpSp>
        <p:nvGrpSpPr>
          <p:cNvPr id="84" name="Grupo 14"/>
          <p:cNvGrpSpPr/>
          <p:nvPr/>
        </p:nvGrpSpPr>
        <p:grpSpPr>
          <a:xfrm>
            <a:off x="504000" y="405720"/>
            <a:ext cx="5252400" cy="2403000"/>
            <a:chOff x="504000" y="405720"/>
            <a:chExt cx="5252400" cy="2403000"/>
          </a:xfrm>
        </p:grpSpPr>
        <p:sp>
          <p:nvSpPr>
            <p:cNvPr id="85" name="12 Rectángulo"/>
            <p:cNvSpPr/>
            <p:nvPr/>
          </p:nvSpPr>
          <p:spPr>
            <a:xfrm>
              <a:off x="504000" y="405720"/>
              <a:ext cx="4851000" cy="2403000"/>
            </a:xfrm>
            <a:prstGeom prst="rect">
              <a:avLst/>
            </a:prstGeom>
            <a:solidFill>
              <a:srgbClr val="003594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86" name="Grupo 5"/>
            <p:cNvGrpSpPr/>
            <p:nvPr/>
          </p:nvGrpSpPr>
          <p:grpSpPr>
            <a:xfrm>
              <a:off x="734760" y="980640"/>
              <a:ext cx="5021640" cy="1828080"/>
              <a:chOff x="734760" y="980640"/>
              <a:chExt cx="5021640" cy="1828080"/>
            </a:xfrm>
          </p:grpSpPr>
          <p:sp>
            <p:nvSpPr>
              <p:cNvPr id="87" name="2 Subtítulo"/>
              <p:cNvSpPr/>
              <p:nvPr/>
            </p:nvSpPr>
            <p:spPr>
              <a:xfrm>
                <a:off x="778680" y="2277000"/>
                <a:ext cx="4977720" cy="531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rm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es-ES" sz="1800" spc="-1" strike="noStrike">
                    <a:solidFill>
                      <a:srgbClr val="ffffff"/>
                    </a:solidFill>
                    <a:latin typeface="Calibri"/>
                    <a:ea typeface="DejaVu Sans"/>
                  </a:rPr>
                  <a:t>Aprendizaje supervisado</a:t>
                </a:r>
                <a:endParaRPr b="0" lang="en-US" sz="1800" spc="-1" strike="noStrike">
                  <a:latin typeface="Arial"/>
                </a:endParaRPr>
              </a:p>
            </p:txBody>
          </p:sp>
          <p:sp>
            <p:nvSpPr>
              <p:cNvPr id="88" name="1 Título"/>
              <p:cNvSpPr/>
              <p:nvPr/>
            </p:nvSpPr>
            <p:spPr>
              <a:xfrm>
                <a:off x="734760" y="980640"/>
                <a:ext cx="4013640" cy="1319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buNone/>
                </a:pPr>
                <a:endParaRPr b="0" lang="en-US" sz="1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endParaRPr b="0" lang="en-US" sz="1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r>
                  <a:rPr b="1" lang="es-ES" sz="3500" spc="-1" strike="noStrike">
                    <a:solidFill>
                      <a:srgbClr val="ffffff"/>
                    </a:solidFill>
                    <a:latin typeface="Calibri"/>
                    <a:ea typeface="DejaVu Sans"/>
                  </a:rPr>
                  <a:t>Formación IA</a:t>
                </a:r>
                <a:endParaRPr b="0" lang="en-US" sz="3500" spc="-1" strike="noStrike">
                  <a:latin typeface="Arial"/>
                </a:endParaRPr>
              </a:p>
            </p:txBody>
          </p:sp>
        </p:grpSp>
      </p:grpSp>
      <p:pic>
        <p:nvPicPr>
          <p:cNvPr id="89" name="Imagen 9" descr="Logotipo&#10;&#10;El contenido generado por IA puede ser incorrecto."/>
          <p:cNvPicPr/>
          <p:nvPr/>
        </p:nvPicPr>
        <p:blipFill>
          <a:blip r:embed="rId4"/>
          <a:stretch/>
        </p:blipFill>
        <p:spPr>
          <a:xfrm>
            <a:off x="3575880" y="532440"/>
            <a:ext cx="1650240" cy="804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64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Aprendizaje supervisado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1" name="" descr=""/>
          <p:cNvPicPr/>
          <p:nvPr/>
        </p:nvPicPr>
        <p:blipFill>
          <a:blip r:embed="rId1"/>
          <a:stretch/>
        </p:blipFill>
        <p:spPr>
          <a:xfrm>
            <a:off x="2160000" y="1440000"/>
            <a:ext cx="8361720" cy="395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64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Aprendizaje supervisado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11640" cy="157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000" spc="-1" strike="noStrike">
                <a:latin typeface="Calibri"/>
              </a:rPr>
              <a:t>Definición:</a:t>
            </a:r>
            <a:r>
              <a:rPr b="0" lang="es-ES" sz="2000" spc="-1" strike="noStrike">
                <a:latin typeface="Calibri"/>
              </a:rPr>
              <a:t> es un tipo de método de machine learning (aprendizaje automático) que utiliza datos etiquetados para entrenar un modelo. El modelo aprende a encontrar la relación entre los datos de entrada y sus etiquetas correspondientes. Una vez entrenado con un conjunto de datos suficientemente grande y variado, el modelo puede hacer predicciones precisas sobre datos nuevos y no vistos anteriormente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  <p:pic>
        <p:nvPicPr>
          <p:cNvPr id="94" name="" descr=""/>
          <p:cNvPicPr/>
          <p:nvPr/>
        </p:nvPicPr>
        <p:blipFill>
          <a:blip r:embed="rId1"/>
          <a:stretch/>
        </p:blipFill>
        <p:spPr>
          <a:xfrm>
            <a:off x="3600000" y="2700000"/>
            <a:ext cx="5039280" cy="3364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64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Aprendizaje supervisado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11640" cy="391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  <a:ea typeface="DejaVu Sans"/>
              </a:rPr>
              <a:t>Esquema del proceso</a:t>
            </a:r>
            <a:endParaRPr b="0" lang="en-US" sz="2400" spc="-1" strike="noStrike">
              <a:latin typeface="Arial"/>
            </a:endParaRPr>
          </a:p>
          <a:p>
            <a:pPr marL="450360" indent="-179640">
              <a:lnSpc>
                <a:spcPct val="115000"/>
              </a:lnSpc>
              <a:spcAft>
                <a:spcPts val="1236"/>
              </a:spcAft>
              <a:buClr>
                <a:srgbClr val="000000"/>
              </a:buClr>
              <a:buSzPct val="45000"/>
              <a:buFont typeface="Wingdings" charset="2"/>
              <a:buChar char=""/>
              <a:tabLst>
                <a:tab algn="l" pos="450360"/>
              </a:tabLst>
            </a:pPr>
            <a:r>
              <a:rPr b="0" lang="es-ES" sz="2000" spc="-1" strike="noStrike">
                <a:latin typeface="Calibir"/>
                <a:ea typeface="DejaVu Sans"/>
              </a:rPr>
              <a:t>Datos de entrenamiento → conjunto de ejemplos con entrada y salida conocida.</a:t>
            </a: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15000"/>
              </a:lnSpc>
              <a:spcAft>
                <a:spcPts val="1236"/>
              </a:spcAft>
              <a:buClr>
                <a:srgbClr val="000000"/>
              </a:buClr>
              <a:buSzPct val="45000"/>
              <a:buFont typeface="Wingdings" charset="2"/>
              <a:buChar char=""/>
              <a:tabLst>
                <a:tab algn="l" pos="450360"/>
              </a:tabLst>
            </a:pPr>
            <a:r>
              <a:rPr b="0" lang="es-ES" sz="2000" spc="-1" strike="noStrike">
                <a:latin typeface="Calibir"/>
                <a:ea typeface="DejaVu Sans"/>
              </a:rPr>
              <a:t>Entrenamiento del modelo → el algoritmo ajusta parámetros internos para minimizar el error entre predicción y realidad.</a:t>
            </a: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15000"/>
              </a:lnSpc>
              <a:spcAft>
                <a:spcPts val="1236"/>
              </a:spcAft>
              <a:buClr>
                <a:srgbClr val="000000"/>
              </a:buClr>
              <a:buSzPct val="45000"/>
              <a:buFont typeface="Wingdings" charset="2"/>
              <a:buChar char=""/>
              <a:tabLst>
                <a:tab algn="l" pos="450360"/>
              </a:tabLst>
            </a:pPr>
            <a:r>
              <a:rPr b="0" lang="es-ES" sz="2000" spc="-1" strike="noStrike">
                <a:latin typeface="Calibir"/>
                <a:ea typeface="DejaVu Sans"/>
              </a:rPr>
              <a:t>Validación → se evalúa el desempeño en datos no vistos durante el entrenamiento.</a:t>
            </a: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15000"/>
              </a:lnSpc>
              <a:spcAft>
                <a:spcPts val="1236"/>
              </a:spcAft>
              <a:buClr>
                <a:srgbClr val="000000"/>
              </a:buClr>
              <a:buSzPct val="45000"/>
              <a:buFont typeface="Wingdings" charset="2"/>
              <a:buChar char=""/>
              <a:tabLst>
                <a:tab algn="l" pos="450360"/>
              </a:tabLst>
            </a:pPr>
            <a:r>
              <a:rPr b="0" lang="es-ES" sz="2000" spc="-1" strike="noStrike">
                <a:latin typeface="Calibir"/>
                <a:ea typeface="DejaVu Sans"/>
              </a:rPr>
              <a:t>Predicción → el modelo se usa sobre nuevos datos para inferir resultados.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64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Aprendizaje supervisado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1260000" y="1462680"/>
            <a:ext cx="10135440" cy="3576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64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Aprendizaje supervisado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025080" y="1180080"/>
            <a:ext cx="6694560" cy="493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64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Aprendizaje supervisado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11640" cy="283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s-ES" sz="2000" spc="-1" strike="noStrike">
                <a:latin typeface="Calibri"/>
              </a:rPr>
              <a:t> </a:t>
            </a:r>
            <a:r>
              <a:rPr b="1" lang="es-ES" sz="2400" spc="-1" strike="noStrike">
                <a:latin typeface="Calibri"/>
              </a:rPr>
              <a:t>Clasificación:</a:t>
            </a:r>
            <a:r>
              <a:rPr b="0" lang="es-ES" sz="2000" spc="-1" strike="noStrike">
                <a:latin typeface="Calibri"/>
              </a:rPr>
              <a:t> Se utiliza cuando la variable de salida es categórica. El modelo aprende a asignar los datos a clases o categorías predefinidas.</a:t>
            </a:r>
            <a:endParaRPr b="0" lang="en-US" sz="20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s-ES" sz="2000" spc="-1" strike="noStrike">
                <a:latin typeface="Calibri"/>
              </a:rPr>
              <a:t>Ejemplo: Un filtro de spam que clasifica los correos electrónicos como "spam" o "no spam".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buNone/>
            </a:pPr>
            <a:endParaRPr b="0" lang="en-US" sz="20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1" lang="es-ES" sz="2400" spc="-1" strike="noStrike">
                <a:latin typeface="Calibri"/>
              </a:rPr>
              <a:t> </a:t>
            </a:r>
            <a:r>
              <a:rPr b="1" lang="es-ES" sz="2400" spc="-1" strike="noStrike">
                <a:latin typeface="Calibri"/>
              </a:rPr>
              <a:t>Regresión:</a:t>
            </a:r>
            <a:r>
              <a:rPr b="0" lang="es-ES" sz="2000" spc="-1" strike="noStrike">
                <a:latin typeface="Calibri"/>
              </a:rPr>
              <a:t> Se utiliza para predecir valores numéricos o continuos.</a:t>
            </a:r>
            <a:endParaRPr b="0" lang="en-US" sz="20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s-ES" sz="2000" spc="-1" strike="noStrike">
                <a:latin typeface="Calibri"/>
              </a:rPr>
              <a:t>Ejemplo: Predecir el precio de una casa en función de su ubicación, tamaño y número de habitaciones.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4860000" y="3821040"/>
            <a:ext cx="3422880" cy="2298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64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Aprendizaje supervisado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4658400" y="427680"/>
            <a:ext cx="6681240" cy="5511960"/>
          </a:xfrm>
          <a:prstGeom prst="rect">
            <a:avLst/>
          </a:prstGeom>
          <a:ln w="0">
            <a:noFill/>
          </a:ln>
        </p:spPr>
      </p:pic>
      <p:pic>
        <p:nvPicPr>
          <p:cNvPr id="106" name="" descr=""/>
          <p:cNvPicPr/>
          <p:nvPr/>
        </p:nvPicPr>
        <p:blipFill>
          <a:blip r:embed="rId2"/>
          <a:stretch/>
        </p:blipFill>
        <p:spPr>
          <a:xfrm>
            <a:off x="568080" y="2160000"/>
            <a:ext cx="3391560" cy="2586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64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Aprendizaje supervisado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8" name="" descr=""/>
          <p:cNvPicPr/>
          <p:nvPr/>
        </p:nvPicPr>
        <p:blipFill>
          <a:blip r:embed="rId1"/>
          <a:stretch/>
        </p:blipFill>
        <p:spPr>
          <a:xfrm>
            <a:off x="4658400" y="427680"/>
            <a:ext cx="6681240" cy="5511960"/>
          </a:xfrm>
          <a:prstGeom prst="rect">
            <a:avLst/>
          </a:prstGeom>
          <a:ln w="0">
            <a:noFill/>
          </a:ln>
        </p:spPr>
      </p:pic>
      <p:pic>
        <p:nvPicPr>
          <p:cNvPr id="109" name="" descr=""/>
          <p:cNvPicPr/>
          <p:nvPr/>
        </p:nvPicPr>
        <p:blipFill>
          <a:blip r:embed="rId2"/>
          <a:stretch/>
        </p:blipFill>
        <p:spPr>
          <a:xfrm>
            <a:off x="624600" y="2088360"/>
            <a:ext cx="3695040" cy="2771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64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Aprendizaje supervisado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11" name="" descr=""/>
          <p:cNvPicPr/>
          <p:nvPr/>
        </p:nvPicPr>
        <p:blipFill>
          <a:blip r:embed="rId1"/>
          <a:stretch/>
        </p:blipFill>
        <p:spPr>
          <a:xfrm>
            <a:off x="720000" y="1080000"/>
            <a:ext cx="7945560" cy="2339640"/>
          </a:xfrm>
          <a:prstGeom prst="rect">
            <a:avLst/>
          </a:prstGeom>
          <a:ln w="0">
            <a:noFill/>
          </a:ln>
        </p:spPr>
      </p:pic>
      <p:pic>
        <p:nvPicPr>
          <p:cNvPr id="112" name="" descr=""/>
          <p:cNvPicPr/>
          <p:nvPr/>
        </p:nvPicPr>
        <p:blipFill>
          <a:blip r:embed="rId2"/>
          <a:stretch/>
        </p:blipFill>
        <p:spPr>
          <a:xfrm>
            <a:off x="2804760" y="3313080"/>
            <a:ext cx="7094880" cy="2648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64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Aprendizaje supervisado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11640" cy="265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  <a:ea typeface="DejaVu Sans"/>
              </a:rPr>
              <a:t>Diferencia entre clasificar y clusterizar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 marL="450360" indent="-17964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1" lang="es-ES" sz="2000" spc="-1" strike="noStrike">
                <a:latin typeface="Calibri"/>
                <a:ea typeface="DejaVu Sans"/>
              </a:rPr>
              <a:t>Clasificación:</a:t>
            </a:r>
            <a:r>
              <a:rPr b="0" lang="es-ES" sz="2000" spc="-1" strike="noStrike">
                <a:latin typeface="Calibri"/>
                <a:ea typeface="DejaVu Sans"/>
              </a:rPr>
              <a:t> Es un proceso de aprendizaje supervisado. Asigna nuevos datos a clases conocidas y predefinidas</a:t>
            </a: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1" lang="es-ES" sz="2000" spc="-1" strike="noStrike">
                <a:latin typeface="Calibri"/>
                <a:ea typeface="DejaVu Sans"/>
              </a:rPr>
              <a:t>Clusterización:</a:t>
            </a:r>
            <a:r>
              <a:rPr b="0" lang="es-ES" sz="2000" spc="-1" strike="noStrike">
                <a:latin typeface="Calibri"/>
                <a:ea typeface="DejaVu Sans"/>
              </a:rPr>
              <a:t> Es un proceso de aprendizaje no supervisado con datos sin etiquetar. Se usa para descubrir nuevos grupos o patrones ocultos en los datos</a:t>
            </a: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pic>
        <p:nvPicPr>
          <p:cNvPr id="115" name="" descr=""/>
          <p:cNvPicPr/>
          <p:nvPr/>
        </p:nvPicPr>
        <p:blipFill>
          <a:blip r:embed="rId1"/>
          <a:stretch/>
        </p:blipFill>
        <p:spPr>
          <a:xfrm>
            <a:off x="3240000" y="3544920"/>
            <a:ext cx="5219640" cy="2574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64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Aprendizaje supervisado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11640" cy="373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  <a:ea typeface="DejaVu Sans"/>
              </a:rPr>
              <a:t>Características clave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400" spc="-1" strike="noStrike">
              <a:latin typeface="Arial"/>
            </a:endParaRPr>
          </a:p>
          <a:p>
            <a:pPr marL="450360" indent="-17964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1" lang="es-ES" sz="2000" spc="-1" strike="noStrike">
                <a:latin typeface="Calibri"/>
                <a:ea typeface="DejaVu Sans"/>
              </a:rPr>
              <a:t>Necesidad de etiquetas:</a:t>
            </a:r>
            <a:r>
              <a:rPr b="0" lang="es-ES" sz="2000" spc="-1" strike="noStrike">
                <a:latin typeface="Calibri"/>
                <a:ea typeface="DejaVu Sans"/>
              </a:rPr>
              <a:t> se requiere un dataset previamente anotado.</a:t>
            </a: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1" lang="es-ES" sz="2000" spc="-1" strike="noStrike">
                <a:latin typeface="Calibri"/>
                <a:ea typeface="DejaVu Sans"/>
              </a:rPr>
              <a:t>Métrica:</a:t>
            </a:r>
            <a:r>
              <a:rPr b="0" lang="es-ES" sz="2000" spc="-1" strike="noStrike">
                <a:latin typeface="Calibri"/>
                <a:ea typeface="DejaVu Sans"/>
              </a:rPr>
              <a:t> guía el aprendizaje, mide el error entre predicciones y realidad.</a:t>
            </a: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1" lang="es-ES" sz="2000" spc="-1" strike="noStrike">
                <a:latin typeface="Calibri"/>
                <a:ea typeface="DejaVu Sans"/>
              </a:rPr>
              <a:t>Capacidad de generalización:</a:t>
            </a:r>
            <a:r>
              <a:rPr b="0" lang="es-ES" sz="2000" spc="-1" strike="noStrike">
                <a:latin typeface="Calibri"/>
                <a:ea typeface="DejaVu Sans"/>
              </a:rPr>
              <a:t> el éxito del modelo no depende de memorizar los datos, sino de su capacidad de funcionar en ejemplos nuevos.</a:t>
            </a: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1" lang="es-ES" sz="2000" spc="-1" strike="noStrike">
                <a:latin typeface="Calibri"/>
                <a:ea typeface="DejaVu Sans"/>
              </a:rPr>
              <a:t>Equilibrio entre sesgo y varianza:</a:t>
            </a:r>
            <a:r>
              <a:rPr b="0" lang="es-ES" sz="2000" spc="-1" strike="noStrike">
                <a:latin typeface="Calibri"/>
                <a:ea typeface="DejaVu Sans"/>
              </a:rPr>
              <a:t> los modelos deben encontrar un punto óptimo entre simplicidad y complejidad para evitar tanto el </a:t>
            </a:r>
            <a:r>
              <a:rPr b="0" i="1" lang="es-ES" sz="2000" spc="-1" strike="noStrike">
                <a:latin typeface="Calibri"/>
                <a:ea typeface="DejaVu Sans"/>
              </a:rPr>
              <a:t>underfitting</a:t>
            </a:r>
            <a:r>
              <a:rPr b="0" lang="es-ES" sz="2000" spc="-1" strike="noStrike">
                <a:latin typeface="Calibri"/>
                <a:ea typeface="DejaVu Sans"/>
              </a:rPr>
              <a:t> como el </a:t>
            </a:r>
            <a:r>
              <a:rPr b="0" i="1" lang="es-ES" sz="2000" spc="-1" strike="noStrike">
                <a:latin typeface="Calibri"/>
                <a:ea typeface="DejaVu Sans"/>
              </a:rPr>
              <a:t>overfitting</a:t>
            </a:r>
            <a:r>
              <a:rPr b="0" lang="es-ES" sz="2000" spc="-1" strike="noStrike">
                <a:latin typeface="Calibri"/>
                <a:ea typeface="DejaVu Sans"/>
              </a:rPr>
              <a:t>.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64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Aprendizaje supervisado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11640" cy="265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s-ES" sz="2000" spc="-1" strike="noStrike">
                <a:latin typeface="calibri"/>
              </a:rPr>
              <a:t> </a:t>
            </a:r>
            <a:r>
              <a:rPr b="1" lang="es-ES" sz="2400" spc="-1" strike="noStrike">
                <a:latin typeface="calibri"/>
                <a:ea typeface="DejaVu Sans"/>
              </a:rPr>
              <a:t>Ejemplos prácticos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1" lang="es-ES" sz="2000" spc="-1" strike="noStrike">
                <a:latin typeface="calibri"/>
                <a:ea typeface="DejaVu Sans"/>
              </a:rPr>
              <a:t>Regresión:</a:t>
            </a:r>
            <a:r>
              <a:rPr b="0" lang="es-ES" sz="2000" spc="-1" strike="noStrike">
                <a:latin typeface="calibri"/>
                <a:ea typeface="DejaVu Sans"/>
              </a:rPr>
              <a:t> predecir el consumo eléctrico de un edificio en función de la hora, la temperatura y la ocupación.</a:t>
            </a: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1" lang="es-ES" sz="2000" spc="-1" strike="noStrike">
                <a:latin typeface="calibri"/>
                <a:ea typeface="DejaVu Sans"/>
              </a:rPr>
              <a:t>Clasificación binaria:</a:t>
            </a:r>
            <a:r>
              <a:rPr b="0" lang="es-ES" sz="2000" spc="-1" strike="noStrike">
                <a:latin typeface="calibri"/>
                <a:ea typeface="DejaVu Sans"/>
              </a:rPr>
              <a:t> clasificar transacciones financieras como fraudulentas o legítimas.</a:t>
            </a: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1" lang="es-ES" sz="2000" spc="-1" strike="noStrike">
                <a:latin typeface="calibri"/>
                <a:ea typeface="DejaVu Sans"/>
              </a:rPr>
              <a:t>Clasificación multiclase:</a:t>
            </a:r>
            <a:r>
              <a:rPr b="0" lang="es-ES" sz="2000" spc="-1" strike="noStrike">
                <a:latin typeface="calibri"/>
                <a:ea typeface="DejaVu Sans"/>
              </a:rPr>
              <a:t> reconocer especies de pingüinos ap partir de medir el pico y la aleta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20" name="" descr=""/>
          <p:cNvPicPr/>
          <p:nvPr/>
        </p:nvPicPr>
        <p:blipFill>
          <a:blip r:embed="rId1"/>
          <a:srcRect l="0" t="0" r="0" b="10479"/>
          <a:stretch/>
        </p:blipFill>
        <p:spPr>
          <a:xfrm>
            <a:off x="4140000" y="3780000"/>
            <a:ext cx="4499640" cy="224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64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Separación de los datos: Entrenamiento y Test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11640" cy="434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1" lang="es-ES" sz="2400" spc="-1" strike="noStrike">
                <a:latin typeface="Calibri"/>
              </a:rPr>
              <a:t>Objetivo:</a:t>
            </a:r>
            <a:r>
              <a:rPr b="0" lang="es-ES" sz="2000" spc="-1" strike="noStrike">
                <a:latin typeface="Calibri"/>
              </a:rPr>
              <a:t> es evitar el sobreajuste (overfitting) y medir la capacidad de generalización del modelo</a:t>
            </a:r>
            <a:endParaRPr b="0" lang="en-US" sz="20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1" lang="es-ES" sz="2400" spc="-1" strike="noStrike">
                <a:latin typeface="Calibri"/>
              </a:rPr>
              <a:t>Problema</a:t>
            </a:r>
            <a:r>
              <a:rPr b="0" lang="es-ES" sz="2000" spc="-1" strike="noStrike">
                <a:latin typeface="Calibri"/>
              </a:rPr>
              <a:t>: Un modelo entrenado y evaluado con los mismos datos no aprende; memoriza</a:t>
            </a:r>
            <a:endParaRPr b="0" lang="en-US" sz="20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1" lang="es-ES" sz="2400" spc="-1" strike="noStrike">
                <a:latin typeface="Calibri"/>
              </a:rPr>
              <a:t>Conjunto de entrenamiento:</a:t>
            </a:r>
            <a:r>
              <a:rPr b="0" lang="es-ES" sz="2000" spc="-1" strike="noStrike">
                <a:latin typeface="Calibri"/>
              </a:rPr>
              <a:t> se utiliza para que el algoritmo aprenda los patrones y relaciones subyacentes en los datos</a:t>
            </a:r>
            <a:endParaRPr b="0" lang="en-US" sz="20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1" lang="es-ES" sz="2400" spc="-1" strike="noStrike">
                <a:latin typeface="Calibri"/>
              </a:rPr>
              <a:t>Conjunto de test:</a:t>
            </a:r>
            <a:r>
              <a:rPr b="0" lang="es-ES" sz="2000" spc="-1" strike="noStrike">
                <a:latin typeface="Calibri"/>
              </a:rPr>
              <a:t> Proporciona una evaluación objetiva y realista de su rendimiento en escenarios del mundo real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64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Separación de los datos: Entrenamiento y Test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4" name="" descr=""/>
          <p:cNvPicPr/>
          <p:nvPr/>
        </p:nvPicPr>
        <p:blipFill>
          <a:blip r:embed="rId1"/>
          <a:stretch/>
        </p:blipFill>
        <p:spPr>
          <a:xfrm>
            <a:off x="1440000" y="1333440"/>
            <a:ext cx="9523080" cy="4066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64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Separación de los datos: Entrenamiento y Test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1207440" y="1454760"/>
            <a:ext cx="10132200" cy="3764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64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Separación de los datos: Entrenamiento y Test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3600000" y="1620000"/>
            <a:ext cx="8099640" cy="229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Conjunto de Entrenamiento (Train Set)</a:t>
            </a:r>
            <a:endParaRPr b="0" lang="en-US" sz="24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s-ES" sz="2000" spc="-1" strike="noStrike">
                <a:latin typeface="Calibri"/>
              </a:rPr>
              <a:t>Propósito: Aprender.</a:t>
            </a:r>
            <a:endParaRPr b="0" lang="en-US" sz="20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s-ES" sz="2000" spc="-1" strike="noStrike">
                <a:latin typeface="Calibri"/>
              </a:rPr>
              <a:t>Esta es la mayor parte de los datos. El modelo utiliza este conjunto para analizar los </a:t>
            </a:r>
            <a:r>
              <a:rPr b="0" lang="es-ES" sz="2000" spc="-1" strike="noStrike">
                <a:latin typeface="Calibri"/>
              </a:rPr>
              <a:t>patrones, encontrar relaciones y construir su lógica interna. Aquí es donde ocurre el </a:t>
            </a:r>
            <a:r>
              <a:rPr b="0" lang="es-ES" sz="2000" spc="-1" strike="noStrike">
                <a:latin typeface="Calibri"/>
              </a:rPr>
              <a:t>model.fit().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  <p:pic>
        <p:nvPicPr>
          <p:cNvPr id="129" name="" descr=""/>
          <p:cNvPicPr/>
          <p:nvPr/>
        </p:nvPicPr>
        <p:blipFill>
          <a:blip r:embed="rId1"/>
          <a:stretch/>
        </p:blipFill>
        <p:spPr>
          <a:xfrm>
            <a:off x="109440" y="1260000"/>
            <a:ext cx="3490200" cy="431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64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Separación de los datos: Entrenamiento y Test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3600000" y="1124640"/>
            <a:ext cx="8099640" cy="434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s-ES" sz="2000" spc="-1" strike="noStrike">
                <a:latin typeface="Calibri"/>
              </a:rPr>
              <a:t> </a:t>
            </a:r>
            <a:r>
              <a:rPr b="1" lang="es-ES" sz="2400" spc="-1" strike="noStrike">
                <a:latin typeface="Calibri"/>
              </a:rPr>
              <a:t>Conjunto de Validación (Validation Set)</a:t>
            </a:r>
            <a:endParaRPr b="0" lang="en-US" sz="24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s-ES" sz="2000" spc="-1" strike="noStrike">
                <a:latin typeface="Calibri"/>
              </a:rPr>
              <a:t>Propósito: Ajustar (Tuning).</a:t>
            </a:r>
            <a:endParaRPr b="0" lang="en-US" sz="20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s-ES" sz="2000" spc="-1" strike="noStrike">
                <a:latin typeface="Calibri"/>
              </a:rPr>
              <a:t>El modelo usa este conjunto para tomar decisiones de configuración (llamadas hiperparámetros). </a:t>
            </a:r>
            <a:endParaRPr b="0" lang="en-US" sz="20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s-ES" sz="2000" spc="-1" strike="noStrike">
                <a:latin typeface="Calibri"/>
              </a:rPr>
              <a:t>El modelo se evalúa repetidamente contra este set para encontrar la configuración óptima sin tocar el conjunto de prueba final</a:t>
            </a:r>
            <a:r>
              <a:rPr b="0" lang="en-US" sz="1800" spc="-1" strike="noStrike">
                <a:latin typeface="Arial"/>
              </a:rPr>
              <a:t>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109440" y="1260000"/>
            <a:ext cx="3490200" cy="431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64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Separación de los datos: Entrenamiento y Test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3600000" y="1124640"/>
            <a:ext cx="8099640" cy="355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s-ES" sz="2000" spc="-1" strike="noStrike">
                <a:latin typeface="Calibri"/>
              </a:rPr>
              <a:t> </a:t>
            </a:r>
            <a:r>
              <a:rPr b="1" lang="es-ES" sz="2400" spc="-1" strike="noStrike">
                <a:latin typeface="Calibri"/>
              </a:rPr>
              <a:t>Conjunto de Prueba (Test Set)</a:t>
            </a:r>
            <a:endParaRPr b="0" lang="en-US" sz="24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s-ES" sz="2000" spc="-1" strike="noStrike">
                <a:latin typeface="Calibri"/>
              </a:rPr>
              <a:t>Propósito: Evaluar.</a:t>
            </a:r>
            <a:endParaRPr b="0" lang="en-US" sz="20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s-ES" sz="2000" spc="-1" strike="noStrike">
                <a:latin typeface="Calibri"/>
              </a:rPr>
              <a:t>Este conjunto se mantiene totalmente separado y se usa una sola vez al final, cuando el </a:t>
            </a:r>
            <a:r>
              <a:rPr b="0" lang="es-ES" sz="2000" spc="-1" strike="noStrike">
                <a:latin typeface="Calibri"/>
              </a:rPr>
              <a:t>modelo ya está entrenado y ajustado.</a:t>
            </a:r>
            <a:endParaRPr b="0" lang="en-US" sz="20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s-ES" sz="2000" spc="-1" strike="noStrike">
                <a:latin typeface="Calibri"/>
              </a:rPr>
              <a:t>Proporciona la métrica final y honesta de cómo el modelo generalizará a datos nuevos que </a:t>
            </a:r>
            <a:r>
              <a:rPr b="0" lang="es-ES" sz="2000" spc="-1" strike="noStrike">
                <a:latin typeface="Calibri"/>
              </a:rPr>
              <a:t>nunca ha visto.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109440" y="1260000"/>
            <a:ext cx="3490200" cy="431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64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Separación de los datos: Entrenamiento y Test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7" name="" descr=""/>
          <p:cNvPicPr/>
          <p:nvPr/>
        </p:nvPicPr>
        <p:blipFill>
          <a:blip r:embed="rId1"/>
          <a:stretch/>
        </p:blipFill>
        <p:spPr>
          <a:xfrm>
            <a:off x="2391120" y="936720"/>
            <a:ext cx="8768520" cy="500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64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Validación cruzada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11640" cy="301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s-ES" sz="2000" spc="-1" strike="noStrike">
                <a:latin typeface="Calibri"/>
              </a:rPr>
              <a:t> </a:t>
            </a:r>
            <a:r>
              <a:rPr b="1" lang="es-ES" sz="2400" spc="-1" strike="noStrike">
                <a:latin typeface="Calibri"/>
              </a:rPr>
              <a:t>Definición:</a:t>
            </a:r>
            <a:r>
              <a:rPr b="0" lang="es-ES" sz="2000" spc="-1" strike="noStrike">
                <a:latin typeface="Calibri"/>
              </a:rPr>
              <a:t> La validación cruzada k-fold es un procedimiento de remuestreo que divide el conjunto de datos original de forma aleatoria en k subconjuntos (o "folds") de igual tamaño. El proceso se repite k veces (iteraciones): </a:t>
            </a:r>
            <a:endParaRPr b="0" lang="en-US" sz="20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s-ES" sz="2000" spc="-1" strike="noStrike">
                <a:latin typeface="Calibri"/>
              </a:rPr>
              <a:t>En cada iteración, un único fold se retiene como conjunto de prueba (o validación)</a:t>
            </a:r>
            <a:endParaRPr b="0" lang="en-US" sz="20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s-ES" sz="2000" spc="-1" strike="noStrike">
                <a:latin typeface="Calibri"/>
              </a:rPr>
              <a:t>Los k-1 folds restantes se combinan para formar el conjunto de entrenamiento.</a:t>
            </a:r>
            <a:endParaRPr b="0" lang="en-US" sz="20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s-ES" sz="2000" spc="-1" strike="noStrike">
                <a:latin typeface="Calibri"/>
              </a:rPr>
              <a:t>Se entrena el modelo con el conjunto de entrenamiento y se evalúa su rendimiento con el conjunto de prueba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64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Validación cruzada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41" name="" descr=""/>
          <p:cNvPicPr/>
          <p:nvPr/>
        </p:nvPicPr>
        <p:blipFill>
          <a:blip r:embed="rId1"/>
          <a:stretch/>
        </p:blipFill>
        <p:spPr>
          <a:xfrm>
            <a:off x="1981800" y="1080000"/>
            <a:ext cx="7917840" cy="4677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64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Validación cruzada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43" name="" descr=""/>
          <p:cNvPicPr/>
          <p:nvPr/>
        </p:nvPicPr>
        <p:blipFill>
          <a:blip r:embed="rId1"/>
          <a:srcRect l="0" t="28963" r="0" b="10658"/>
          <a:stretch/>
        </p:blipFill>
        <p:spPr>
          <a:xfrm>
            <a:off x="1271880" y="1080000"/>
            <a:ext cx="10247760" cy="4537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64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Validación cruzada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2880000" y="1124640"/>
            <a:ext cx="8469720" cy="499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s-ES" sz="2000" spc="-1" strike="noStrike">
                <a:latin typeface="Calibri"/>
              </a:rPr>
              <a:t> </a:t>
            </a:r>
            <a:r>
              <a:rPr b="1" lang="es-ES" sz="2400" spc="-1" strike="noStrike">
                <a:latin typeface="Calibri"/>
              </a:rPr>
              <a:t>Ventajas</a:t>
            </a:r>
            <a:endParaRPr b="0" lang="en-US" sz="24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1" lang="es-ES" sz="2000" spc="-1" strike="noStrike">
                <a:latin typeface="Calibri"/>
              </a:rPr>
              <a:t>Evaluación Robusta</a:t>
            </a:r>
            <a:r>
              <a:rPr b="0" lang="es-ES" sz="2000" spc="-1" strike="noStrike">
                <a:latin typeface="Calibri"/>
              </a:rPr>
              <a:t>: Al promediar los resultados de las \(k\) iteraciones, se obtiene una métrica de rendimiento general que es menos sensible a la división aleatoria específica de los datos.</a:t>
            </a:r>
            <a:endParaRPr b="0" lang="en-US" sz="20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1" lang="es-ES" sz="2000" spc="-1" strike="noStrike">
                <a:latin typeface="Calibri"/>
              </a:rPr>
              <a:t>Mitiga el Sobreajuste (Overfitting):</a:t>
            </a:r>
            <a:r>
              <a:rPr b="0" lang="es-ES" sz="2000" spc="-1" strike="noStrike">
                <a:latin typeface="Calibri"/>
              </a:rPr>
              <a:t> Ayuda a asegurar que el modelo no se ha ajustado demasiado a un subconjunto particular de datos, proporcionando una mejor idea de cómo se desempeñará en datos realmente nuevos.</a:t>
            </a:r>
            <a:endParaRPr b="0" lang="en-US" sz="20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1" lang="es-ES" sz="2000" spc="-1" strike="noStrike">
                <a:latin typeface="Calibri"/>
              </a:rPr>
              <a:t>Uso Eficiente de los Datos: </a:t>
            </a:r>
            <a:r>
              <a:rPr b="0" lang="es-ES" sz="2000" spc="-1" strike="noStrike">
                <a:latin typeface="Calibri"/>
              </a:rPr>
              <a:t>Permite utilizar todo el conjunto de datos tanto para entrenar como para validar el modelo, lo cual es crucial cuando se dispone de una muestra limitada</a:t>
            </a:r>
            <a:endParaRPr b="0" lang="en-US" sz="20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1" lang="es-ES" sz="2000" spc="-1" strike="noStrike">
                <a:latin typeface="Calibri"/>
              </a:rPr>
              <a:t>Permite la Comparación de Modelos</a:t>
            </a:r>
            <a:r>
              <a:rPr b="0" lang="es-ES" sz="2000" spc="-1" strike="noStrike">
                <a:latin typeface="Calibri"/>
              </a:rPr>
              <a:t>: Facilita una comparación justa y objetiva entre diferentes algoritmos o configuraciones de modelos, ya que todos se evalúan sobre las mismas divisiones de datos subyacentes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46" name="" descr=""/>
          <p:cNvPicPr/>
          <p:nvPr/>
        </p:nvPicPr>
        <p:blipFill>
          <a:blip r:embed="rId1"/>
          <a:stretch/>
        </p:blipFill>
        <p:spPr>
          <a:xfrm>
            <a:off x="541080" y="2701080"/>
            <a:ext cx="1978560" cy="1978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64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Validación cruzada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3060000" y="1440000"/>
            <a:ext cx="8289720" cy="427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Desventajas</a:t>
            </a:r>
            <a:endParaRPr b="0" lang="en-US" sz="24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s-ES" sz="2000" spc="-1" strike="noStrike">
                <a:latin typeface="calibri"/>
              </a:rPr>
              <a:t> </a:t>
            </a:r>
            <a:r>
              <a:rPr b="1" lang="es-ES" sz="2000" spc="-1" strike="noStrike">
                <a:latin typeface="calibri"/>
              </a:rPr>
              <a:t>Alto Costo Computacional: </a:t>
            </a:r>
            <a:r>
              <a:rPr b="0" lang="es-ES" sz="2000" spc="-1" strike="noStrike">
                <a:latin typeface="calibri"/>
              </a:rPr>
              <a:t>La desventaja más significativa. Si se utiliza k=10, el modelo debe ser entrenado y evaluado diez veces en lugar de solo una. Esto puede ser prohibitivo para modelos complejos o conjuntos de datos muy grandes.</a:t>
            </a:r>
            <a:endParaRPr b="0" lang="en-US" sz="20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s-ES" sz="2000" spc="-1" strike="noStrike">
                <a:latin typeface="calibri"/>
              </a:rPr>
              <a:t> </a:t>
            </a:r>
            <a:r>
              <a:rPr b="1" lang="es-ES" sz="2000" spc="-1" strike="noStrike">
                <a:latin typeface="calibri"/>
              </a:rPr>
              <a:t>Mayor Tiempo de Ejecución:</a:t>
            </a:r>
            <a:r>
              <a:rPr b="0" lang="es-ES" sz="2000" spc="-1" strike="noStrike">
                <a:latin typeface="calibri"/>
              </a:rPr>
              <a:t> Consecuencia directa del punto anterior, el tiempo total para completar el proceso de evaluación es significativamente mayor.</a:t>
            </a:r>
            <a:endParaRPr b="0" lang="en-US" sz="20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1" lang="es-ES" sz="2000" spc="-1" strike="noStrike">
                <a:latin typeface="calibri"/>
              </a:rPr>
              <a:t>Cuidado en Datos Secuenciales:</a:t>
            </a:r>
            <a:r>
              <a:rPr b="0" lang="es-ES" sz="2000" spc="-1" strike="noStrike">
                <a:latin typeface="calibri"/>
              </a:rPr>
              <a:t> Si los datos tienen una dependencia temporal (series temporales), una división aleatoria simple no es adecuada, ya que mezclaría el futuro con el pasado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49" name="" descr=""/>
          <p:cNvPicPr/>
          <p:nvPr/>
        </p:nvPicPr>
        <p:blipFill>
          <a:blip r:embed="rId1"/>
          <a:stretch/>
        </p:blipFill>
        <p:spPr>
          <a:xfrm>
            <a:off x="540000" y="2520000"/>
            <a:ext cx="2023200" cy="1978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64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Validación cruzada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51" name="" descr=""/>
          <p:cNvPicPr/>
          <p:nvPr/>
        </p:nvPicPr>
        <p:blipFill>
          <a:blip r:embed="rId1"/>
          <a:stretch/>
        </p:blipFill>
        <p:spPr>
          <a:xfrm>
            <a:off x="2587320" y="1148040"/>
            <a:ext cx="7312320" cy="4791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64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Hiperparámetros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11640" cy="193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Definiciçon:</a:t>
            </a:r>
            <a:r>
              <a:rPr b="0" lang="es-ES" sz="2000" spc="-1" strike="noStrike">
                <a:latin typeface="Calibri"/>
              </a:rPr>
              <a:t> son variables de configuración externas que se establecen manualmente antes de que comience el proceso de entrenamiento de un modelo de machine learning. A diferencia de los parámetros del modelo (que se aprenden automáticamente a partir de los datos durante el entrenamiento), los hiperparámetros controlan la arquitectura y el comportamiento del algoritmo de aprendizaje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54" name="" descr=""/>
          <p:cNvPicPr/>
          <p:nvPr/>
        </p:nvPicPr>
        <p:blipFill>
          <a:blip r:embed="rId1"/>
          <a:srcRect l="5113" t="0" r="13517" b="0"/>
          <a:stretch/>
        </p:blipFill>
        <p:spPr>
          <a:xfrm>
            <a:off x="2700360" y="3060000"/>
            <a:ext cx="3059280" cy="2684160"/>
          </a:xfrm>
          <a:prstGeom prst="rect">
            <a:avLst/>
          </a:prstGeom>
          <a:ln w="0">
            <a:noFill/>
          </a:ln>
        </p:spPr>
      </p:pic>
      <p:pic>
        <p:nvPicPr>
          <p:cNvPr id="155" name="" descr=""/>
          <p:cNvPicPr/>
          <p:nvPr/>
        </p:nvPicPr>
        <p:blipFill>
          <a:blip r:embed="rId2"/>
          <a:srcRect l="17486" t="18740" r="16012" b="6254"/>
          <a:stretch/>
        </p:blipFill>
        <p:spPr>
          <a:xfrm>
            <a:off x="6300360" y="3060360"/>
            <a:ext cx="4319280" cy="2727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64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Hiperparámetros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11640" cy="434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</a:rPr>
              <a:t>Optimización de hiperparámetros:</a:t>
            </a:r>
            <a:endParaRPr b="0" lang="en-US" sz="24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s-ES" sz="2000" spc="-1" strike="noStrike">
                <a:latin typeface="Calibri"/>
              </a:rPr>
              <a:t>Consiste en buscar la mejor combinación de estos valores para mejorar el rendimiento del modelo</a:t>
            </a:r>
            <a:endParaRPr b="0" lang="en-US" sz="20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s-ES" sz="2000" spc="-1" strike="noStrike">
                <a:latin typeface="Calibri"/>
              </a:rPr>
              <a:t>influyen directamente en la capacidad del modelo para aprender patrones complejos. Una configuración inadecuada puede llevar a un modelo que no aprende lo suficiente (subajuste) o a uno que memoriza los datos de entrenamiento (sobreajuste)</a:t>
            </a:r>
            <a:endParaRPr b="0" lang="en-US" sz="20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s-ES" sz="2000" spc="-1" strike="noStrike">
                <a:latin typeface="Calibri"/>
              </a:rPr>
              <a:t>La optimización permite adaptar el algoritmo a las características específicas de los datos y los requisitos de la tarea</a:t>
            </a:r>
            <a:endParaRPr b="0" lang="en-US" sz="20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s-ES" sz="2000" spc="-1" strike="noStrike">
                <a:latin typeface="Calibri"/>
              </a:rPr>
              <a:t>La elección de hiperparámetros puede afectar significativamente la velocidad a la que se entrena un modelo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15000"/>
              </a:lnSpc>
              <a:spcAft>
                <a:spcPts val="1236"/>
              </a:spcAft>
              <a:buNone/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64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Hiperparámetros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59" name="" descr=""/>
          <p:cNvPicPr/>
          <p:nvPr/>
        </p:nvPicPr>
        <p:blipFill>
          <a:blip r:embed="rId1"/>
          <a:stretch/>
        </p:blipFill>
        <p:spPr>
          <a:xfrm>
            <a:off x="2340000" y="1668960"/>
            <a:ext cx="7074000" cy="3190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64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Hiperparámetros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61" name="" descr=""/>
          <p:cNvPicPr/>
          <p:nvPr/>
        </p:nvPicPr>
        <p:blipFill>
          <a:blip r:embed="rId1"/>
          <a:stretch/>
        </p:blipFill>
        <p:spPr>
          <a:xfrm>
            <a:off x="1288440" y="1260000"/>
            <a:ext cx="9511200" cy="4624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64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Métodos de búsqueda de Hiperparámetros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11640" cy="247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  <a:ea typeface="DejaVu Sans"/>
              </a:rPr>
              <a:t>Búsqueda manual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15000"/>
              </a:lnSpc>
              <a:spcAft>
                <a:spcPts val="1236"/>
              </a:spcAft>
              <a:buClr>
                <a:srgbClr val="000000"/>
              </a:buClr>
              <a:buSzPct val="45000"/>
              <a:buFont typeface="Wingdings" charset="2"/>
              <a:buChar char=""/>
              <a:tabLst>
                <a:tab algn="l" pos="450360"/>
              </a:tabLst>
            </a:pPr>
            <a:r>
              <a:rPr b="0" lang="es-ES" sz="2000" spc="-1" strike="noStrike">
                <a:latin typeface="Calibri"/>
                <a:ea typeface="DejaVu Sans"/>
              </a:rPr>
              <a:t>El analista prueba combinaciones basadas en experiencia o </a:t>
            </a:r>
            <a:r>
              <a:rPr b="0" lang="es-ES" sz="2000" spc="-1" strike="noStrike">
                <a:latin typeface="Calibri"/>
                <a:ea typeface="DejaVu Sans"/>
              </a:rPr>
              <a:t>intuición.</a:t>
            </a: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15000"/>
              </a:lnSpc>
              <a:spcAft>
                <a:spcPts val="1236"/>
              </a:spcAft>
              <a:buClr>
                <a:srgbClr val="000000"/>
              </a:buClr>
              <a:buSzPct val="45000"/>
              <a:buFont typeface="Wingdings" charset="2"/>
              <a:buChar char=""/>
              <a:tabLst>
                <a:tab algn="l" pos="450360"/>
              </a:tabLst>
            </a:pPr>
            <a:r>
              <a:rPr b="0" lang="es-ES" sz="2000" spc="-1" strike="noStrike">
                <a:latin typeface="Calibri"/>
                <a:ea typeface="DejaVu Sans"/>
              </a:rPr>
              <a:t>Ventaja: sencillo en problemas pequeños.</a:t>
            </a: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15000"/>
              </a:lnSpc>
              <a:spcAft>
                <a:spcPts val="1236"/>
              </a:spcAft>
              <a:buClr>
                <a:srgbClr val="000000"/>
              </a:buClr>
              <a:buSzPct val="45000"/>
              <a:buFont typeface="Wingdings" charset="2"/>
              <a:buChar char=""/>
              <a:tabLst>
                <a:tab algn="l" pos="450360"/>
              </a:tabLst>
            </a:pPr>
            <a:r>
              <a:rPr b="0" lang="es-ES" sz="2000" spc="-1" strike="noStrike">
                <a:latin typeface="Calibri"/>
                <a:ea typeface="DejaVu Sans"/>
              </a:rPr>
              <a:t>Desventaja: poco sistemático y fácilmente subóptimo.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64" name="" descr=""/>
          <p:cNvPicPr/>
          <p:nvPr/>
        </p:nvPicPr>
        <p:blipFill>
          <a:blip r:embed="rId1"/>
          <a:stretch/>
        </p:blipFill>
        <p:spPr>
          <a:xfrm>
            <a:off x="3420000" y="3335040"/>
            <a:ext cx="5258160" cy="2771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64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Métodos de búsqueda de Hiperparámetros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838080" y="1484640"/>
            <a:ext cx="7261560" cy="355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s-ES" sz="2000" spc="-1" strike="noStrike">
                <a:latin typeface="Calibri"/>
              </a:rPr>
              <a:t> </a:t>
            </a:r>
            <a:r>
              <a:rPr b="1" lang="es-ES" sz="2400" spc="-1" strike="noStrike">
                <a:latin typeface="Calibri"/>
                <a:ea typeface="DejaVu Sans"/>
              </a:rPr>
              <a:t>Random Search (búsqueda aleatoria)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15000"/>
              </a:lnSpc>
              <a:spcAft>
                <a:spcPts val="1236"/>
              </a:spcAft>
              <a:buClr>
                <a:srgbClr val="000000"/>
              </a:buClr>
              <a:buSzPct val="45000"/>
              <a:buFont typeface="Wingdings" charset="2"/>
              <a:buChar char=""/>
              <a:tabLst>
                <a:tab algn="l" pos="450360"/>
              </a:tabLst>
            </a:pPr>
            <a:r>
              <a:rPr b="0" lang="es-ES" sz="2000" spc="-1" strike="noStrike">
                <a:latin typeface="Calibri"/>
                <a:ea typeface="DejaVu Sans"/>
              </a:rPr>
              <a:t>En lugar de probar todas las combinaciones, se eligen valores de manera aleatoria dentro de rangos predefinidos.</a:t>
            </a: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15000"/>
              </a:lnSpc>
              <a:spcAft>
                <a:spcPts val="1236"/>
              </a:spcAft>
              <a:buClr>
                <a:srgbClr val="000000"/>
              </a:buClr>
              <a:buSzPct val="45000"/>
              <a:buFont typeface="Wingdings" charset="2"/>
              <a:buChar char=""/>
              <a:tabLst>
                <a:tab algn="l" pos="450360"/>
              </a:tabLst>
            </a:pPr>
            <a:r>
              <a:rPr b="1" lang="es-ES" sz="2000" spc="-1" strike="noStrike">
                <a:latin typeface="Calibri"/>
                <a:ea typeface="DejaVu Sans"/>
              </a:rPr>
              <a:t>Ventaja:</a:t>
            </a:r>
            <a:r>
              <a:rPr b="0" lang="es-ES" sz="2000" spc="-1" strike="noStrike">
                <a:latin typeface="Calibri"/>
                <a:ea typeface="DejaVu Sans"/>
              </a:rPr>
              <a:t> más eficiente, puede encontrar buenas combinaciones en menos tiempo.</a:t>
            </a: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15000"/>
              </a:lnSpc>
              <a:spcAft>
                <a:spcPts val="1236"/>
              </a:spcAft>
              <a:buClr>
                <a:srgbClr val="000000"/>
              </a:buClr>
              <a:buSzPct val="45000"/>
              <a:buFont typeface="Wingdings" charset="2"/>
              <a:buChar char=""/>
              <a:tabLst>
                <a:tab algn="l" pos="450360"/>
              </a:tabLst>
            </a:pPr>
            <a:r>
              <a:rPr b="1" lang="es-ES" sz="2000" spc="-1" strike="noStrike">
                <a:latin typeface="Calibri"/>
                <a:ea typeface="DejaVu Sans"/>
              </a:rPr>
              <a:t>Desventaja</a:t>
            </a:r>
            <a:r>
              <a:rPr b="0" lang="es-ES" sz="2000" spc="-1" strike="noStrike">
                <a:latin typeface="Calibri"/>
                <a:ea typeface="DejaVu Sans"/>
              </a:rPr>
              <a:t>: no garantiza encontrar el óptimo absoluto.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67" name="" descr=""/>
          <p:cNvPicPr/>
          <p:nvPr/>
        </p:nvPicPr>
        <p:blipFill>
          <a:blip r:embed="rId1"/>
          <a:srcRect l="52183" t="0" r="0" b="20046"/>
          <a:stretch/>
        </p:blipFill>
        <p:spPr>
          <a:xfrm>
            <a:off x="8111520" y="1440000"/>
            <a:ext cx="3768120" cy="359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64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Métodos de búsqueda de Hiperparámetros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720000" y="1440000"/>
            <a:ext cx="6901560" cy="395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s-ES" sz="2000" spc="-1" strike="noStrike">
                <a:latin typeface="Calibri"/>
              </a:rPr>
              <a:t> </a:t>
            </a:r>
            <a:r>
              <a:rPr b="1" lang="es-ES" sz="2400" spc="-1" strike="noStrike">
                <a:latin typeface="Calibri"/>
                <a:ea typeface="DejaVu Sans"/>
              </a:rPr>
              <a:t>Grid Search (búsqueda en rejilla)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15000"/>
              </a:lnSpc>
              <a:spcAft>
                <a:spcPts val="1236"/>
              </a:spcAft>
              <a:buClr>
                <a:srgbClr val="000000"/>
              </a:buClr>
              <a:buSzPct val="45000"/>
              <a:buFont typeface="Wingdings" charset="2"/>
              <a:buChar char=""/>
              <a:tabLst>
                <a:tab algn="l" pos="450360"/>
              </a:tabLst>
            </a:pPr>
            <a:r>
              <a:rPr b="0" lang="es-ES" sz="2000" spc="-1" strike="noStrike">
                <a:latin typeface="Calibri"/>
                <a:ea typeface="DejaVu Sans"/>
              </a:rPr>
              <a:t>Se define un conjunto discreto de valores posibles para cada hiperparámetro.</a:t>
            </a: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15000"/>
              </a:lnSpc>
              <a:spcAft>
                <a:spcPts val="1236"/>
              </a:spcAft>
              <a:buClr>
                <a:srgbClr val="000000"/>
              </a:buClr>
              <a:buSzPct val="45000"/>
              <a:buFont typeface="Wingdings" charset="2"/>
              <a:buChar char=""/>
              <a:tabLst>
                <a:tab algn="l" pos="450360"/>
              </a:tabLst>
            </a:pPr>
            <a:r>
              <a:rPr b="0" lang="es-ES" sz="2000" spc="-1" strike="noStrike">
                <a:latin typeface="Calibri"/>
                <a:ea typeface="DejaVu Sans"/>
              </a:rPr>
              <a:t>El algoritmo prueba todas las combinaciones posibles.</a:t>
            </a: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15000"/>
              </a:lnSpc>
              <a:spcAft>
                <a:spcPts val="1236"/>
              </a:spcAft>
              <a:buClr>
                <a:srgbClr val="000000"/>
              </a:buClr>
              <a:buSzPct val="45000"/>
              <a:buFont typeface="Wingdings" charset="2"/>
              <a:buChar char=""/>
              <a:tabLst>
                <a:tab algn="l" pos="450360"/>
              </a:tabLst>
            </a:pPr>
            <a:r>
              <a:rPr b="1" lang="es-ES" sz="2000" spc="-1" strike="noStrike">
                <a:latin typeface="Calibri"/>
                <a:ea typeface="DejaVu Sans"/>
              </a:rPr>
              <a:t>Ventaja:</a:t>
            </a:r>
            <a:r>
              <a:rPr b="0" lang="es-ES" sz="2000" spc="-1" strike="noStrike">
                <a:latin typeface="Calibri"/>
                <a:ea typeface="DejaVu Sans"/>
              </a:rPr>
              <a:t> exhaustivo, garantiza encontrar el mejor en el espacio definido.</a:t>
            </a: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15000"/>
              </a:lnSpc>
              <a:spcAft>
                <a:spcPts val="1236"/>
              </a:spcAft>
              <a:buClr>
                <a:srgbClr val="000000"/>
              </a:buClr>
              <a:buSzPct val="45000"/>
              <a:buFont typeface="Wingdings" charset="2"/>
              <a:buChar char=""/>
              <a:tabLst>
                <a:tab algn="l" pos="450360"/>
              </a:tabLst>
            </a:pPr>
            <a:r>
              <a:rPr b="1" lang="es-ES" sz="2000" spc="-1" strike="noStrike">
                <a:latin typeface="Calibri"/>
                <a:ea typeface="DejaVu Sans"/>
              </a:rPr>
              <a:t>Desventaja:</a:t>
            </a:r>
            <a:r>
              <a:rPr b="0" lang="es-ES" sz="2000" spc="-1" strike="noStrike">
                <a:latin typeface="Calibri"/>
                <a:ea typeface="DejaVu Sans"/>
              </a:rPr>
              <a:t> coste computacional alto, crece exponencialmente con el número de hiperparámetros.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70" name="" descr=""/>
          <p:cNvPicPr/>
          <p:nvPr/>
        </p:nvPicPr>
        <p:blipFill>
          <a:blip r:embed="rId1"/>
          <a:srcRect l="0" t="0" r="59919" b="20046"/>
          <a:stretch/>
        </p:blipFill>
        <p:spPr>
          <a:xfrm>
            <a:off x="8100000" y="1440000"/>
            <a:ext cx="3631680" cy="413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64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Métodos de búsqueda de Hiperparámetros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6901560" cy="445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 </a:t>
            </a:r>
            <a:r>
              <a:rPr b="1" lang="es-ES" sz="2400" spc="-1" strike="noStrike">
                <a:latin typeface="Calibri"/>
                <a:ea typeface="DejaVu Sans"/>
              </a:rPr>
              <a:t>Búsqueda bayesiana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es-ES" sz="2000" spc="-1" strike="noStrike">
                <a:latin typeface="Calibri"/>
                <a:ea typeface="DejaVu Sans"/>
              </a:rPr>
              <a:t>Estrategia más avanzada: utiliza modelos probabilísticos (ej. Gaussian Processes, TPE).</a:t>
            </a: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0" lang="es-ES" sz="2000" spc="-1" strike="noStrike">
                <a:latin typeface="Calibri"/>
                <a:ea typeface="DejaVu Sans"/>
              </a:rPr>
              <a:t>Aprovecha la información de evaluaciones anteriores para decidir qué combinaciones probar después.</a:t>
            </a: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1" lang="es-ES" sz="2000" spc="-1" strike="noStrike">
                <a:latin typeface="Calibri"/>
                <a:ea typeface="DejaVu Sans"/>
              </a:rPr>
              <a:t>Ventajas:</a:t>
            </a:r>
            <a:r>
              <a:rPr b="0" lang="es-ES" sz="2000" spc="-1" strike="noStrike">
                <a:latin typeface="Calibri"/>
                <a:ea typeface="DejaVu Sans"/>
              </a:rPr>
              <a:t> Más eficiente que grid y random porque tiende a encontrar mejores configuraciones en menos iteraciones.</a:t>
            </a:r>
            <a:endParaRPr b="0" lang="en-US" sz="2000" spc="-1" strike="noStrike">
              <a:latin typeface="Arial"/>
            </a:endParaRPr>
          </a:p>
          <a:p>
            <a:pPr marL="450360" indent="-179640">
              <a:lnSpc>
                <a:spcPct val="115000"/>
              </a:lnSpc>
              <a:spcAft>
                <a:spcPts val="1236"/>
              </a:spcAft>
              <a:buNone/>
              <a:tabLst>
                <a:tab algn="l" pos="0"/>
              </a:tabLst>
            </a:pPr>
            <a:r>
              <a:rPr b="1" lang="es-ES" sz="2000" spc="-1" strike="noStrike">
                <a:latin typeface="Calibri"/>
                <a:ea typeface="DejaVu Sans"/>
              </a:rPr>
              <a:t>Desventaja:</a:t>
            </a:r>
            <a:r>
              <a:rPr b="0" lang="es-ES" sz="2000" spc="-1" strike="noStrike">
                <a:latin typeface="Calibri"/>
                <a:ea typeface="DejaVu Sans"/>
              </a:rPr>
              <a:t> más compleja de implementar.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173" name="" descr=""/>
          <p:cNvPicPr/>
          <p:nvPr/>
        </p:nvPicPr>
        <p:blipFill>
          <a:blip r:embed="rId1"/>
          <a:srcRect l="68845" t="0" r="0" b="0"/>
          <a:stretch/>
        </p:blipFill>
        <p:spPr>
          <a:xfrm>
            <a:off x="8280000" y="1440000"/>
            <a:ext cx="3239640" cy="3673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64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Métodos de búsqueda de Hiperparámetros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75" name="" descr=""/>
          <p:cNvPicPr/>
          <p:nvPr/>
        </p:nvPicPr>
        <p:blipFill>
          <a:blip r:embed="rId1"/>
          <a:srcRect l="2108" t="13293" r="1816" b="44774"/>
          <a:stretch/>
        </p:blipFill>
        <p:spPr>
          <a:xfrm>
            <a:off x="530280" y="1620000"/>
            <a:ext cx="11349360" cy="341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64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Grid Search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77" name="" descr=""/>
          <p:cNvPicPr/>
          <p:nvPr/>
        </p:nvPicPr>
        <p:blipFill>
          <a:blip r:embed="rId1"/>
          <a:stretch/>
        </p:blipFill>
        <p:spPr>
          <a:xfrm>
            <a:off x="2880000" y="905040"/>
            <a:ext cx="6659640" cy="5117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64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Grid Search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79" name="" descr=""/>
          <p:cNvPicPr/>
          <p:nvPr/>
        </p:nvPicPr>
        <p:blipFill>
          <a:blip r:embed="rId1"/>
          <a:stretch/>
        </p:blipFill>
        <p:spPr>
          <a:xfrm>
            <a:off x="3240000" y="426240"/>
            <a:ext cx="6561000" cy="5513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64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Grid Search + StratifiedKFold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81" name="" descr=""/>
          <p:cNvPicPr/>
          <p:nvPr/>
        </p:nvPicPr>
        <p:blipFill>
          <a:blip r:embed="rId1"/>
          <a:stretch/>
        </p:blipFill>
        <p:spPr>
          <a:xfrm>
            <a:off x="5400000" y="416880"/>
            <a:ext cx="6480000" cy="5501880"/>
          </a:xfrm>
          <a:prstGeom prst="rect">
            <a:avLst/>
          </a:prstGeom>
          <a:ln w="0">
            <a:noFill/>
          </a:ln>
        </p:spPr>
      </p:pic>
      <p:sp>
        <p:nvSpPr>
          <p:cNvPr id="182" name=""/>
          <p:cNvSpPr txBox="1"/>
          <p:nvPr/>
        </p:nvSpPr>
        <p:spPr>
          <a:xfrm>
            <a:off x="360000" y="1620000"/>
            <a:ext cx="4860000" cy="349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StratifiedKFold</a:t>
            </a:r>
            <a:endParaRPr b="0" lang="es-ES" sz="2400" spc="-1" strike="noStrike">
              <a:latin typeface="Calibri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Calibri"/>
              </a:rPr>
              <a:t>Su función principal es proporcionar índices de entrenamiento y prueba para dividir los datos, asegurando que cada "fold" (subconjunto) mantenga la misma proporción de muestras para cada clase que el conjunto de datos completo</a:t>
            </a:r>
            <a:endParaRPr b="0" lang="es-ES" sz="2000" spc="-1" strike="noStrike">
              <a:latin typeface="Calibri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Calibri"/>
              </a:rPr>
              <a:t>Garantiza que tus resultados sean consistentes y reproducibles</a:t>
            </a:r>
            <a:endParaRPr b="0" lang="es-ES" sz="2000" spc="-1" strike="noStrike">
              <a:latin typeface="Calibri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64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Random Search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84" name="" descr=""/>
          <p:cNvPicPr/>
          <p:nvPr/>
        </p:nvPicPr>
        <p:blipFill>
          <a:blip r:embed="rId1"/>
          <a:stretch/>
        </p:blipFill>
        <p:spPr>
          <a:xfrm>
            <a:off x="3960000" y="365040"/>
            <a:ext cx="6028200" cy="5675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64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Búsqueda Bayesiana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86" name="" descr=""/>
          <p:cNvPicPr/>
          <p:nvPr/>
        </p:nvPicPr>
        <p:blipFill>
          <a:blip r:embed="rId1"/>
          <a:stretch/>
        </p:blipFill>
        <p:spPr>
          <a:xfrm>
            <a:off x="4651200" y="180000"/>
            <a:ext cx="4888800" cy="5924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1640" cy="53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11640" cy="434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37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10 CuadroTexto"/>
          <p:cNvSpPr/>
          <p:nvPr/>
        </p:nvSpPr>
        <p:spPr>
          <a:xfrm>
            <a:off x="5150160" y="5508000"/>
            <a:ext cx="1889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E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www.ceste.es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90" name="11 Imagen" descr=""/>
          <p:cNvPicPr/>
          <p:nvPr/>
        </p:nvPicPr>
        <p:blipFill>
          <a:blip r:embed="rId1"/>
          <a:stretch/>
        </p:blipFill>
        <p:spPr>
          <a:xfrm>
            <a:off x="4227480" y="2349000"/>
            <a:ext cx="3733920" cy="1821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61D317CF2309C4E8DA448EE42D88B65" ma:contentTypeVersion="16" ma:contentTypeDescription="Crear nuevo documento." ma:contentTypeScope="" ma:versionID="73b97258e99d47497b96ecb181da94f2">
  <xsd:schema xmlns:xsd="http://www.w3.org/2001/XMLSchema" xmlns:xs="http://www.w3.org/2001/XMLSchema" xmlns:p="http://schemas.microsoft.com/office/2006/metadata/properties" xmlns:ns2="e24c3f89-b1e2-4b5c-81e1-9b07710f5189" xmlns:ns3="ce845bb0-6f82-4cf9-8b02-3916bb6268df" targetNamespace="http://schemas.microsoft.com/office/2006/metadata/properties" ma:root="true" ma:fieldsID="47e9c207501d1d53c375c00c242f54b4" ns2:_="" ns3:_="">
    <xsd:import namespace="e24c3f89-b1e2-4b5c-81e1-9b07710f5189"/>
    <xsd:import namespace="ce845bb0-6f82-4cf9-8b02-3916bb6268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4c3f89-b1e2-4b5c-81e1-9b07710f51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59dbaa74-2a60-464d-988b-bba989cac7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45bb0-6f82-4cf9-8b02-3916bb6268df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51e47c2f-83de-443c-9b77-fbf0d35e4197}" ma:internalName="TaxCatchAll" ma:showField="CatchAllData" ma:web="ce845bb0-6f82-4cf9-8b02-3916bb6268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4c3f89-b1e2-4b5c-81e1-9b07710f5189">
      <Terms xmlns="http://schemas.microsoft.com/office/infopath/2007/PartnerControls"/>
    </lcf76f155ced4ddcb4097134ff3c332f>
    <TaxCatchAll xmlns="ce845bb0-6f82-4cf9-8b02-3916bb6268df" xsi:nil="true"/>
  </documentManagement>
</p:properties>
</file>

<file path=customXml/itemProps1.xml><?xml version="1.0" encoding="utf-8"?>
<ds:datastoreItem xmlns:ds="http://schemas.openxmlformats.org/officeDocument/2006/customXml" ds:itemID="{F27A6D2C-8CE5-46A4-ADEC-6FD7C5F7EDCC}"/>
</file>

<file path=customXml/itemProps2.xml><?xml version="1.0" encoding="utf-8"?>
<ds:datastoreItem xmlns:ds="http://schemas.openxmlformats.org/officeDocument/2006/customXml" ds:itemID="{7557D189-32A8-411C-A1FE-5D98FC6CCF4F}"/>
</file>

<file path=customXml/itemProps3.xml><?xml version="1.0" encoding="utf-8"?>
<ds:datastoreItem xmlns:ds="http://schemas.openxmlformats.org/officeDocument/2006/customXml" ds:itemID="{E8D8D8A5-1EAA-41DC-A1E3-E107219891E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2787</TotalTime>
  <Application>LibreOffice/7.3.7.2$Linux_X86_64 LibreOffice_project/30$Build-2</Application>
  <AppVersion>15.0000</AppVersion>
  <Words>12</Words>
  <Paragraphs>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2014-05-13T08:36:54Z</dcterms:created>
  <dc:creator>psoria</dc:creator>
  <dc:description/>
  <dc:language>es-ES</dc:language>
  <cp:lastModifiedBy/>
  <cp:lastPrinted>2018-06-15T07:54:48Z</cp:lastPrinted>
  <dcterms:modified xsi:type="dcterms:W3CDTF">2025-11-17T16:06:33Z</dcterms:modified>
  <cp:revision>529</cp:revision>
  <dc:subject/>
  <dc:title>Diapositiva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0x010100D61D317CF2309C4E8DA448EE42D88B65</vt:lpwstr>
  </property>
  <property fmtid="{D5CDD505-2E9C-101B-9397-08002B2CF9AE}" pid="3" name="PresentationFormat">
    <vt:lpwstr>Panorámica</vt:lpwstr>
  </property>
  <property fmtid="{D5CDD505-2E9C-101B-9397-08002B2CF9AE}" pid="4" name="Slides">
    <vt:i4>3</vt:i4>
  </property>
</Properties>
</file>