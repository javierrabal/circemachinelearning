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_rels/.rels" ContentType="application/vnd.openxmlformats-package.relationships+xml"/>
  <Override PartName="/customXml/item1.xml" ContentType="application/xml"/>
  <Override PartName="/customXml/itemProps1.xml" ContentType="application/vnd.openxmlformats-officedocument.customXmlProperties+xml"/>
  <Override PartName="/customXml/item2.xml" ContentType="application/xml"/>
  <Override PartName="/customXml/_rels/item3.xml.rels" ContentType="application/vnd.openxmlformats-package.relationships+xml"/>
  <Override PartName="/customXml/_rels/item2.xml.rels" ContentType="application/vnd.openxmlformats-package.relationships+xml"/>
  <Override PartName="/customXml/_rels/item1.xml.rels" ContentType="application/vnd.openxmlformats-package.relationships+xml"/>
  <Override PartName="/customXml/itemProps2.xml" ContentType="application/vnd.openxmlformats-officedocument.customXmlProperties+xml"/>
  <Override PartName="/customXml/item3.xml" ContentType="application/xml"/>
  <Override PartName="/customXml/itemProps3.xml" ContentType="application/vnd.openxmlformats-officedocument.customXml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26.png" ContentType="image/png"/>
  <Override PartName="/ppt/media/image23.png" ContentType="image/png"/>
  <Override PartName="/ppt/media/image22.png" ContentType="image/png"/>
  <Override PartName="/ppt/media/image21.png" ContentType="image/png"/>
  <Override PartName="/ppt/media/image19.png" ContentType="image/png"/>
  <Override PartName="/ppt/media/image20.png" ContentType="image/png"/>
  <Override PartName="/ppt/media/image57.png" ContentType="image/png"/>
  <Override PartName="/ppt/media/image18.png" ContentType="image/png"/>
  <Override PartName="/ppt/media/image17.png" ContentType="image/png"/>
  <Override PartName="/ppt/media/image16.png" ContentType="image/png"/>
  <Override PartName="/ppt/media/image14.png" ContentType="image/png"/>
  <Override PartName="/ppt/media/image24.png" ContentType="image/png"/>
  <Override PartName="/ppt/media/image1.png" ContentType="image/png"/>
  <Override PartName="/ppt/media/image31.png" ContentType="image/png"/>
  <Override PartName="/ppt/media/image15.png" ContentType="image/png"/>
  <Override PartName="/ppt/media/image3.jpeg" ContentType="image/jpeg"/>
  <Override PartName="/ppt/media/image30.png" ContentType="image/png"/>
  <Override PartName="/ppt/media/image25.png" ContentType="image/png"/>
  <Override PartName="/ppt/media/image2.png" ContentType="image/png"/>
  <Override PartName="/ppt/media/image32.png" ContentType="image/png"/>
  <Override PartName="/ppt/media/image27.png" ContentType="image/png"/>
  <Override PartName="/ppt/media/image4.png" ContentType="image/png"/>
  <Override PartName="/ppt/media/image34.png" ContentType="image/png"/>
  <Override PartName="/ppt/media/image28.png" ContentType="image/png"/>
  <Override PartName="/ppt/media/image5.png" ContentType="image/png"/>
  <Override PartName="/ppt/media/image35.png" ContentType="image/png"/>
  <Override PartName="/ppt/media/image10.png" ContentType="image/png"/>
  <Override PartName="/ppt/media/image47.png" ContentType="image/png"/>
  <Override PartName="/ppt/media/image45.png" ContentType="image/png"/>
  <Override PartName="/ppt/media/image46.png" ContentType="image/png"/>
  <Override PartName="/ppt/media/image50.png" ContentType="image/png"/>
  <Override PartName="/ppt/media/image13.png" ContentType="image/png"/>
  <Override PartName="/ppt/media/image11.png" ContentType="image/png"/>
  <Override PartName="/ppt/media/image48.png" ContentType="image/png"/>
  <Override PartName="/ppt/media/image51.png" ContentType="image/png"/>
  <Override PartName="/ppt/media/image52.png" ContentType="image/png"/>
  <Override PartName="/ppt/media/image41.png" ContentType="image/png"/>
  <Override PartName="/ppt/media/image53.png" ContentType="image/png"/>
  <Override PartName="/ppt/media/image42.png" ContentType="image/png"/>
  <Override PartName="/ppt/media/image54.png" ContentType="image/png"/>
  <Override PartName="/ppt/media/image43.png" ContentType="image/png"/>
  <Override PartName="/ppt/media/image55.png" ContentType="image/png"/>
  <Override PartName="/ppt/media/image44.png" ContentType="image/png"/>
  <Override PartName="/ppt/media/image56.png" ContentType="image/png"/>
  <Override PartName="/ppt/media/image40.png" ContentType="image/png"/>
  <Override PartName="/ppt/media/image33.png" ContentType="image/png"/>
  <Override PartName="/ppt/media/image38.png" ContentType="image/png"/>
  <Override PartName="/ppt/media/image8.png" ContentType="image/png"/>
  <Override PartName="/ppt/media/image39.png" ContentType="image/png"/>
  <Override PartName="/ppt/media/image9.png" ContentType="image/png"/>
  <Override PartName="/ppt/media/image49.png" ContentType="image/png"/>
  <Override PartName="/ppt/media/image12.png" ContentType="image/png"/>
  <Override PartName="/ppt/media/image37.png" ContentType="image/png"/>
  <Override PartName="/ppt/media/image7.png" ContentType="image/png"/>
  <Override PartName="/ppt/media/image36.png" ContentType="image/png"/>
  <Override PartName="/ppt/media/image6.png" ContentType="image/png"/>
  <Override PartName="/ppt/media/image29.png" ContentType="image/png"/>
  <Override PartName="/ppt/presProps.xml" ContentType="application/vnd.openxmlformats-officedocument.presentationml.presProps+xml"/>
  <Override PartName="/ppt/slides/slide29.xml" ContentType="application/vnd.openxmlformats-officedocument.presentationml.slide+xml"/>
  <Override PartName="/ppt/slides/slide28.xml" ContentType="application/vnd.openxmlformats-officedocument.presentationml.slide+xml"/>
  <Override PartName="/ppt/slides/slide27.xml" ContentType="application/vnd.openxmlformats-officedocument.presentationml.slide+xml"/>
  <Override PartName="/ppt/slides/slide26.xml" ContentType="application/vnd.openxmlformats-officedocument.presentationml.slide+xml"/>
  <Override PartName="/ppt/slides/slide25.xml" ContentType="application/vnd.openxmlformats-officedocument.presentationml.slide+xml"/>
  <Override PartName="/ppt/slides/slide24.xml" ContentType="application/vnd.openxmlformats-officedocument.presentationml.slide+xml"/>
  <Override PartName="/ppt/slides/slide23.xml" ContentType="application/vnd.openxmlformats-officedocument.presentationml.slide+xml"/>
  <Override PartName="/ppt/slides/slide22.xml" ContentType="application/vnd.openxmlformats-officedocument.presentationml.slide+xml"/>
  <Override PartName="/ppt/slides/slide21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17.xml" ContentType="application/vnd.openxmlformats-officedocument.presentationml.slide+xml"/>
  <Override PartName="/ppt/slides/slide16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_rels/slide5.xml.rels" ContentType="application/vnd.openxmlformats-package.relationships+xml"/>
  <Override PartName="/ppt/slides/_rels/slide40.xml.rels" ContentType="application/vnd.openxmlformats-package.relationships+xml"/>
  <Override PartName="/ppt/slides/_rels/slide48.xml.rels" ContentType="application/vnd.openxmlformats-package.relationships+xml"/>
  <Override PartName="/ppt/slides/_rels/slide33.xml.rels" ContentType="application/vnd.openxmlformats-package.relationships+xml"/>
  <Override PartName="/ppt/slides/_rels/slide6.xml.rels" ContentType="application/vnd.openxmlformats-package.relationships+xml"/>
  <Override PartName="/ppt/slides/_rels/slide41.xml.rels" ContentType="application/vnd.openxmlformats-package.relationships+xml"/>
  <Override PartName="/ppt/slides/_rels/slide49.xml.rels" ContentType="application/vnd.openxmlformats-package.relationships+xml"/>
  <Override PartName="/ppt/slides/_rels/slide34.xml.rels" ContentType="application/vnd.openxmlformats-package.relationships+xml"/>
  <Override PartName="/ppt/slides/_rels/slide7.xml.rels" ContentType="application/vnd.openxmlformats-package.relationships+xml"/>
  <Override PartName="/ppt/slides/_rels/slide42.xml.rels" ContentType="application/vnd.openxmlformats-package.relationships+xml"/>
  <Override PartName="/ppt/slides/_rels/slide35.xml.rels" ContentType="application/vnd.openxmlformats-package.relationships+xml"/>
  <Override PartName="/ppt/slides/_rels/slide1.xml.rels" ContentType="application/vnd.openxmlformats-package.relationships+xml"/>
  <Override PartName="/ppt/slides/_rels/slide20.xml.rels" ContentType="application/vnd.openxmlformats-package.relationships+xml"/>
  <Override PartName="/ppt/slides/_rels/slide10.xml.rels" ContentType="application/vnd.openxmlformats-package.relationships+xml"/>
  <Override PartName="/ppt/slides/_rels/slide32.xml.rels" ContentType="application/vnd.openxmlformats-package.relationships+xml"/>
  <Override PartName="/ppt/slides/_rels/slide16.xml.rels" ContentType="application/vnd.openxmlformats-package.relationships+xml"/>
  <Override PartName="/ppt/slides/_rels/slide25.xml.rels" ContentType="application/vnd.openxmlformats-package.relationships+xml"/>
  <Override PartName="/ppt/slides/_rels/slide47.xml.rels" ContentType="application/vnd.openxmlformats-package.relationships+xml"/>
  <Override PartName="/ppt/slides/_rels/slide4.xml.rels" ContentType="application/vnd.openxmlformats-package.relationships+xml"/>
  <Override PartName="/ppt/slides/_rels/slide46.xml.rels" ContentType="application/vnd.openxmlformats-package.relationships+xml"/>
  <Override PartName="/ppt/slides/_rels/slide30.xml.rels" ContentType="application/vnd.openxmlformats-package.relationships+xml"/>
  <Override PartName="/ppt/slides/_rels/slide45.xml.rels" ContentType="application/vnd.openxmlformats-package.relationships+xml"/>
  <Override PartName="/ppt/slides/_rels/slide14.xml.rels" ContentType="application/vnd.openxmlformats-package.relationships+xml"/>
  <Override PartName="/ppt/slides/_rels/slide29.xml.rels" ContentType="application/vnd.openxmlformats-package.relationships+xml"/>
  <Override PartName="/ppt/slides/_rels/slide23.xml.rels" ContentType="application/vnd.openxmlformats-package.relationships+xml"/>
  <Override PartName="/ppt/slides/_rels/slide38.xml.rels" ContentType="application/vnd.openxmlformats-package.relationships+xml"/>
  <Override PartName="/ppt/slides/_rels/slide15.xml.rels" ContentType="application/vnd.openxmlformats-package.relationships+xml"/>
  <Override PartName="/ppt/slides/_rels/slide31.xml.rels" ContentType="application/vnd.openxmlformats-package.relationships+xml"/>
  <Override PartName="/ppt/slides/_rels/slide24.xml.rels" ContentType="application/vnd.openxmlformats-package.relationships+xml"/>
  <Override PartName="/ppt/slides/_rels/slide39.xml.rels" ContentType="application/vnd.openxmlformats-package.relationships+xml"/>
  <Override PartName="/ppt/slides/_rels/slide13.xml.rels" ContentType="application/vnd.openxmlformats-package.relationships+xml"/>
  <Override PartName="/ppt/slides/_rels/slide19.xml.rels" ContentType="application/vnd.openxmlformats-package.relationships+xml"/>
  <Override PartName="/ppt/slides/_rels/slide18.xml.rels" ContentType="application/vnd.openxmlformats-package.relationships+xml"/>
  <Override PartName="/ppt/slides/_rels/slide12.xml.rels" ContentType="application/vnd.openxmlformats-package.relationships+xml"/>
  <Override PartName="/ppt/slides/_rels/slide28.xml.rels" ContentType="application/vnd.openxmlformats-package.relationships+xml"/>
  <Override PartName="/ppt/slides/_rels/slide44.xml.rels" ContentType="application/vnd.openxmlformats-package.relationships+xml"/>
  <Override PartName="/ppt/slides/_rels/slide22.xml.rels" ContentType="application/vnd.openxmlformats-package.relationships+xml"/>
  <Override PartName="/ppt/slides/_rels/slide37.xml.rels" ContentType="application/vnd.openxmlformats-package.relationships+xml"/>
  <Override PartName="/ppt/slides/_rels/slide3.xml.rels" ContentType="application/vnd.openxmlformats-package.relationships+xml"/>
  <Override PartName="/ppt/slides/_rels/slide9.xml.rels" ContentType="application/vnd.openxmlformats-package.relationships+xml"/>
  <Override PartName="/ppt/slides/_rels/slide26.xml.rels" ContentType="application/vnd.openxmlformats-package.relationships+xml"/>
  <Override PartName="/ppt/slides/_rels/slide11.xml.rels" ContentType="application/vnd.openxmlformats-package.relationships+xml"/>
  <Override PartName="/ppt/slides/_rels/slide17.xml.rels" ContentType="application/vnd.openxmlformats-package.relationships+xml"/>
  <Override PartName="/ppt/slides/_rels/slide8.xml.rels" ContentType="application/vnd.openxmlformats-package.relationships+xml"/>
  <Override PartName="/ppt/slides/_rels/slide21.xml.rels" ContentType="application/vnd.openxmlformats-package.relationships+xml"/>
  <Override PartName="/ppt/slides/_rels/slide36.xml.rels" ContentType="application/vnd.openxmlformats-package.relationships+xml"/>
  <Override PartName="/ppt/slides/_rels/slide27.xml.rels" ContentType="application/vnd.openxmlformats-package.relationships+xml"/>
  <Override PartName="/ppt/slides/_rels/slide43.xml.rels" ContentType="application/vnd.openxmlformats-package.relationships+xml"/>
  <Override PartName="/ppt/slides/_rels/slide2.xml.rels" ContentType="application/vnd.openxmlformats-package.relationships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13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33.xml" ContentType="application/vnd.openxmlformats-officedocument.presentationml.slide+xml"/>
  <Override PartName="/ppt/slides/slide45.xml" ContentType="application/vnd.openxmlformats-officedocument.presentationml.slide+xml"/>
  <Override PartName="/ppt/slides/slide34.xml" ContentType="application/vnd.openxmlformats-officedocument.presentationml.slide+xml"/>
  <Override PartName="/ppt/slides/slide46.xml" ContentType="application/vnd.openxmlformats-officedocument.presentationml.slide+xml"/>
  <Override PartName="/ppt/slides/slide48.xml" ContentType="application/vnd.openxmlformats-officedocument.presentationml.slide+xml"/>
  <Override PartName="/ppt/slides/slide11.xml" ContentType="application/vnd.openxmlformats-officedocument.presentationml.slide+xml"/>
  <Override PartName="/ppt/slides/slide49.xml" ContentType="application/vnd.openxmlformats-officedocument.presentationml.slide+xml"/>
  <Override PartName="/ppt/slides/slide12.xml" ContentType="application/vnd.openxmlformats-officedocument.presentationml.slide+xml"/>
  <Override PartName="/ppt/slides/slide10.xml" ContentType="application/vnd.openxmlformats-officedocument.presentationml.slide+xml"/>
  <Override PartName="/ppt/slides/slide47.xml" ContentType="application/vnd.openxmlformats-officedocument.presentationml.slide+xml"/>
  <Override PartName="/ppt/slides/slide9.xml" ContentType="application/vnd.openxmlformats-officedocument.presentationml.slide+xml"/>
  <Override PartName="/ppt/slides/slide44.xml" ContentType="application/vnd.openxmlformats-officedocument.presentationml.slide+xml"/>
  <Override PartName="/ppt/slides/slide41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slides/slide43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4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customXml" Target="../customXml/item1.xml"/><Relationship Id="rId5" Type="http://schemas.openxmlformats.org/officeDocument/2006/relationships/customXml" Target="../customXml/item2.xml"/><Relationship Id="rId6" Type="http://schemas.openxmlformats.org/officeDocument/2006/relationships/customXml" Target="../customXml/item3.xml"/><Relationship Id="rId7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50" Type="http://schemas.openxmlformats.org/officeDocument/2006/relationships/slide" Target="slides/slide47.xml"/><Relationship Id="rId51" Type="http://schemas.openxmlformats.org/officeDocument/2006/relationships/slide" Target="slides/slide48.xml"/><Relationship Id="rId52" Type="http://schemas.openxmlformats.org/officeDocument/2006/relationships/slide" Target="slides/slide49.xml"/><Relationship Id="rId5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1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5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6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7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8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13.xml"/><Relationship Id="rId5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6.xml"/><Relationship Id="rId8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Pulse para editar el formato del texto de título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Pulse para editar el formato de texto del esquema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Segundo nivel del esquema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Tercer nivel del esquema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Cuarto nivel del esquema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Quinto nivel del esquema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Sexto nivel del esquema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Séptimo nivel del esquema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6 Rectángulo"/>
          <p:cNvSpPr/>
          <p:nvPr/>
        </p:nvSpPr>
        <p:spPr>
          <a:xfrm>
            <a:off x="0" y="6179400"/>
            <a:ext cx="12184920" cy="685440"/>
          </a:xfrm>
          <a:prstGeom prst="rect">
            <a:avLst/>
          </a:prstGeom>
          <a:solidFill>
            <a:srgbClr val="0035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39" name="Picture 4" descr="http://www.ceste.es/wp-content/uploads/2016/06/CESTE-Diamante.png"/>
          <p:cNvPicPr/>
          <p:nvPr/>
        </p:nvPicPr>
        <p:blipFill>
          <a:blip r:embed="rId2"/>
          <a:stretch/>
        </p:blipFill>
        <p:spPr>
          <a:xfrm flipH="1">
            <a:off x="1686600" y="5883840"/>
            <a:ext cx="595440" cy="597600"/>
          </a:xfrm>
          <a:prstGeom prst="rect">
            <a:avLst/>
          </a:prstGeom>
          <a:ln w="0">
            <a:noFill/>
          </a:ln>
        </p:spPr>
      </p:pic>
      <p:pic>
        <p:nvPicPr>
          <p:cNvPr id="40" name="8 Imagen" descr="CESTE blanco estrella roja sin coletilla.png"/>
          <p:cNvPicPr/>
          <p:nvPr/>
        </p:nvPicPr>
        <p:blipFill>
          <a:blip r:embed="rId3"/>
          <a:stretch/>
        </p:blipFill>
        <p:spPr>
          <a:xfrm>
            <a:off x="9936360" y="6184800"/>
            <a:ext cx="1360440" cy="645480"/>
          </a:xfrm>
          <a:prstGeom prst="rect">
            <a:avLst/>
          </a:prstGeom>
          <a:ln w="0">
            <a:noFill/>
          </a:ln>
        </p:spPr>
      </p:pic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Pulse para editar el formato del texto de título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Pulse para editar el formato de texto del esquema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Segundo nivel del esquema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Tercer nivel del esquema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Cuarto nivel del esquema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Quinto nivel del esquema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Sexto nivel del esquema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Séptimo nivel del esquema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2.png"/><Relationship Id="rId3" Type="http://schemas.openxmlformats.org/officeDocument/2006/relationships/slideLayout" Target="../slideLayouts/slideLayout1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image" Target="../media/image14.png"/><Relationship Id="rId3" Type="http://schemas.openxmlformats.org/officeDocument/2006/relationships/slideLayout" Target="../slideLayouts/slideLayout1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1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1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13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slideLayout" Target="../slideLayouts/slideLayout13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slideLayout" Target="../slideLayouts/slideLayout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slideLayout" Target="../slideLayouts/slideLayout13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slideLayout" Target="../slideLayouts/slideLayout13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slideLayout" Target="../slideLayouts/slideLayout13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image" Target="../media/image24.png"/><Relationship Id="rId3" Type="http://schemas.openxmlformats.org/officeDocument/2006/relationships/slideLayout" Target="../slideLayouts/slideLayout13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25.png"/><Relationship Id="rId2" Type="http://schemas.openxmlformats.org/officeDocument/2006/relationships/slideLayout" Target="../slideLayouts/slideLayout13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26.png"/><Relationship Id="rId2" Type="http://schemas.openxmlformats.org/officeDocument/2006/relationships/slideLayout" Target="../slideLayouts/slideLayout13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27.png"/><Relationship Id="rId2" Type="http://schemas.openxmlformats.org/officeDocument/2006/relationships/slideLayout" Target="../slideLayouts/slideLayout13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28.png"/><Relationship Id="rId2" Type="http://schemas.openxmlformats.org/officeDocument/2006/relationships/slideLayout" Target="../slideLayouts/slideLayout13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29.png"/><Relationship Id="rId2" Type="http://schemas.openxmlformats.org/officeDocument/2006/relationships/slideLayout" Target="../slideLayouts/slideLayout1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30.png"/><Relationship Id="rId2" Type="http://schemas.openxmlformats.org/officeDocument/2006/relationships/slideLayout" Target="../slideLayouts/slideLayout13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31.png"/><Relationship Id="rId2" Type="http://schemas.openxmlformats.org/officeDocument/2006/relationships/slideLayout" Target="../slideLayouts/slideLayout13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32.png"/><Relationship Id="rId2" Type="http://schemas.openxmlformats.org/officeDocument/2006/relationships/slideLayout" Target="../slideLayouts/slideLayout13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image" Target="../media/image33.png"/><Relationship Id="rId2" Type="http://schemas.openxmlformats.org/officeDocument/2006/relationships/image" Target="../media/image34.png"/><Relationship Id="rId3" Type="http://schemas.openxmlformats.org/officeDocument/2006/relationships/slideLayout" Target="../slideLayouts/slideLayout13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image" Target="../media/image35.png"/><Relationship Id="rId2" Type="http://schemas.openxmlformats.org/officeDocument/2006/relationships/image" Target="../media/image36.png"/><Relationship Id="rId3" Type="http://schemas.openxmlformats.org/officeDocument/2006/relationships/slideLayout" Target="../slideLayouts/slideLayout13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image" Target="../media/image37.png"/><Relationship Id="rId2" Type="http://schemas.openxmlformats.org/officeDocument/2006/relationships/slideLayout" Target="../slideLayouts/slideLayout13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image" Target="../media/image38.png"/><Relationship Id="rId2" Type="http://schemas.openxmlformats.org/officeDocument/2006/relationships/slideLayout" Target="../slideLayouts/slideLayout13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image" Target="../media/image39.png"/><Relationship Id="rId2" Type="http://schemas.openxmlformats.org/officeDocument/2006/relationships/slideLayout" Target="../slideLayouts/slideLayout13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image" Target="../media/image40.png"/><Relationship Id="rId2" Type="http://schemas.openxmlformats.org/officeDocument/2006/relationships/slideLayout" Target="../slideLayouts/slideLayout13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image" Target="../media/image41.png"/><Relationship Id="rId2" Type="http://schemas.openxmlformats.org/officeDocument/2006/relationships/image" Target="../media/image42.png"/><Relationship Id="rId3" Type="http://schemas.openxmlformats.org/officeDocument/2006/relationships/slideLayout" Target="../slideLayouts/slideLayout13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image" Target="../media/image43.png"/><Relationship Id="rId2" Type="http://schemas.openxmlformats.org/officeDocument/2006/relationships/image" Target="../media/image44.png"/><Relationship Id="rId3" Type="http://schemas.openxmlformats.org/officeDocument/2006/relationships/slideLayout" Target="../slideLayouts/slideLayout13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image" Target="../media/image45.png"/><Relationship Id="rId2" Type="http://schemas.openxmlformats.org/officeDocument/2006/relationships/slideLayout" Target="../slideLayouts/slideLayout13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image" Target="../media/image46.png"/><Relationship Id="rId2" Type="http://schemas.openxmlformats.org/officeDocument/2006/relationships/slideLayout" Target="../slideLayouts/slideLayout13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image" Target="../media/image47.png"/><Relationship Id="rId2" Type="http://schemas.openxmlformats.org/officeDocument/2006/relationships/slideLayout" Target="../slideLayouts/slideLayout13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image" Target="../media/image48.png"/><Relationship Id="rId2" Type="http://schemas.openxmlformats.org/officeDocument/2006/relationships/slideLayout" Target="../slideLayouts/slideLayout13.xml"/>
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image" Target="../media/image49.png"/><Relationship Id="rId2" Type="http://schemas.openxmlformats.org/officeDocument/2006/relationships/slideLayout" Target="../slideLayouts/slideLayout13.xml"/>
</Relationships>
</file>

<file path=ppt/slides/_rels/slide42.xml.rels><?xml version="1.0" encoding="UTF-8"?>
<Relationships xmlns="http://schemas.openxmlformats.org/package/2006/relationships"><Relationship Id="rId1" Type="http://schemas.openxmlformats.org/officeDocument/2006/relationships/image" Target="../media/image50.png"/><Relationship Id="rId2" Type="http://schemas.openxmlformats.org/officeDocument/2006/relationships/slideLayout" Target="../slideLayouts/slideLayout13.xml"/>
</Relationships>
</file>

<file path=ppt/slides/_rels/slide43.xml.rels><?xml version="1.0" encoding="UTF-8"?>
<Relationships xmlns="http://schemas.openxmlformats.org/package/2006/relationships"><Relationship Id="rId1" Type="http://schemas.openxmlformats.org/officeDocument/2006/relationships/image" Target="../media/image51.png"/><Relationship Id="rId2" Type="http://schemas.openxmlformats.org/officeDocument/2006/relationships/slideLayout" Target="../slideLayouts/slideLayout13.xml"/>
</Relationships>
</file>

<file path=ppt/slides/_rels/slide44.xml.rels><?xml version="1.0" encoding="UTF-8"?>
<Relationships xmlns="http://schemas.openxmlformats.org/package/2006/relationships"><Relationship Id="rId1" Type="http://schemas.openxmlformats.org/officeDocument/2006/relationships/image" Target="../media/image52.png"/><Relationship Id="rId2" Type="http://schemas.openxmlformats.org/officeDocument/2006/relationships/slideLayout" Target="../slideLayouts/slideLayout13.xml"/>
</Relationships>
</file>

<file path=ppt/slides/_rels/slide45.xml.rels><?xml version="1.0" encoding="UTF-8"?>
<Relationships xmlns="http://schemas.openxmlformats.org/package/2006/relationships"><Relationship Id="rId1" Type="http://schemas.openxmlformats.org/officeDocument/2006/relationships/image" Target="../media/image53.png"/><Relationship Id="rId2" Type="http://schemas.openxmlformats.org/officeDocument/2006/relationships/slideLayout" Target="../slideLayouts/slideLayout13.xml"/>
</Relationships>
</file>

<file path=ppt/slides/_rels/slide46.xml.rels><?xml version="1.0" encoding="UTF-8"?>
<Relationships xmlns="http://schemas.openxmlformats.org/package/2006/relationships"><Relationship Id="rId1" Type="http://schemas.openxmlformats.org/officeDocument/2006/relationships/image" Target="../media/image54.png"/><Relationship Id="rId2" Type="http://schemas.openxmlformats.org/officeDocument/2006/relationships/slideLayout" Target="../slideLayouts/slideLayout13.xml"/>
</Relationships>
</file>

<file path=ppt/slides/_rels/slide47.xml.rels><?xml version="1.0" encoding="UTF-8"?>
<Relationships xmlns="http://schemas.openxmlformats.org/package/2006/relationships"><Relationship Id="rId1" Type="http://schemas.openxmlformats.org/officeDocument/2006/relationships/image" Target="../media/image55.png"/><Relationship Id="rId2" Type="http://schemas.openxmlformats.org/officeDocument/2006/relationships/image" Target="../media/image56.png"/><Relationship Id="rId3" Type="http://schemas.openxmlformats.org/officeDocument/2006/relationships/slideLayout" Target="../slideLayouts/slideLayout13.xml"/>
</Relationships>
</file>

<file path=ppt/slides/_rels/slide4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49.xml.rels><?xml version="1.0" encoding="UTF-8"?>
<Relationships xmlns="http://schemas.openxmlformats.org/package/2006/relationships"><Relationship Id="rId1" Type="http://schemas.openxmlformats.org/officeDocument/2006/relationships/image" Target="../media/image57.pn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Imagen 3" descr="Una mujer en frente de laptop&#10;&#10;Descripción generada automáticamente"/>
          <p:cNvPicPr/>
          <p:nvPr/>
        </p:nvPicPr>
        <p:blipFill>
          <a:blip r:embed="rId1"/>
          <a:srcRect l="1742" t="12716" r="9979" b="12799"/>
          <a:stretch/>
        </p:blipFill>
        <p:spPr>
          <a:xfrm>
            <a:off x="0" y="0"/>
            <a:ext cx="12184920" cy="6850800"/>
          </a:xfrm>
          <a:prstGeom prst="rect">
            <a:avLst/>
          </a:prstGeom>
          <a:ln w="0">
            <a:noFill/>
          </a:ln>
        </p:spPr>
      </p:pic>
      <p:sp>
        <p:nvSpPr>
          <p:cNvPr id="80" name="7 Rectángulo 1"/>
          <p:cNvSpPr/>
          <p:nvPr/>
        </p:nvSpPr>
        <p:spPr>
          <a:xfrm>
            <a:off x="852840" y="6682680"/>
            <a:ext cx="11385000" cy="345600"/>
          </a:xfrm>
          <a:prstGeom prst="rect">
            <a:avLst/>
          </a:prstGeom>
          <a:solidFill>
            <a:srgbClr val="0035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81" name="Picture 1" descr="http://www.ceste.es/wp-content/uploads/2016/06/CESTE-Diamante.png"/>
          <p:cNvPicPr/>
          <p:nvPr/>
        </p:nvPicPr>
        <p:blipFill>
          <a:blip r:embed="rId2"/>
          <a:stretch/>
        </p:blipFill>
        <p:spPr>
          <a:xfrm flipH="1">
            <a:off x="558720" y="6582960"/>
            <a:ext cx="595440" cy="597600"/>
          </a:xfrm>
          <a:prstGeom prst="rect">
            <a:avLst/>
          </a:prstGeom>
          <a:ln w="0">
            <a:noFill/>
          </a:ln>
        </p:spPr>
      </p:pic>
      <p:sp>
        <p:nvSpPr>
          <p:cNvPr id="82" name="7 Rectángulo 2"/>
          <p:cNvSpPr/>
          <p:nvPr/>
        </p:nvSpPr>
        <p:spPr>
          <a:xfrm>
            <a:off x="-96840" y="-99360"/>
            <a:ext cx="11481840" cy="280800"/>
          </a:xfrm>
          <a:prstGeom prst="rect">
            <a:avLst/>
          </a:prstGeom>
          <a:solidFill>
            <a:srgbClr val="0035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83" name="Picture 2" descr="http://www.ceste.es/wp-content/uploads/2016/06/CESTE-Diamante.png"/>
          <p:cNvPicPr/>
          <p:nvPr/>
        </p:nvPicPr>
        <p:blipFill>
          <a:blip r:embed="rId3"/>
          <a:stretch/>
        </p:blipFill>
        <p:spPr>
          <a:xfrm flipH="1">
            <a:off x="11098080" y="-316440"/>
            <a:ext cx="595440" cy="597600"/>
          </a:xfrm>
          <a:prstGeom prst="rect">
            <a:avLst/>
          </a:prstGeom>
          <a:ln w="0">
            <a:noFill/>
          </a:ln>
        </p:spPr>
      </p:pic>
      <p:grpSp>
        <p:nvGrpSpPr>
          <p:cNvPr id="84" name="Grupo 1"/>
          <p:cNvGrpSpPr/>
          <p:nvPr/>
        </p:nvGrpSpPr>
        <p:grpSpPr>
          <a:xfrm>
            <a:off x="504000" y="405720"/>
            <a:ext cx="5249160" cy="2399760"/>
            <a:chOff x="504000" y="405720"/>
            <a:chExt cx="5249160" cy="2399760"/>
          </a:xfrm>
        </p:grpSpPr>
        <p:sp>
          <p:nvSpPr>
            <p:cNvPr id="85" name="12 Rectángulo 1"/>
            <p:cNvSpPr/>
            <p:nvPr/>
          </p:nvSpPr>
          <p:spPr>
            <a:xfrm>
              <a:off x="504000" y="405720"/>
              <a:ext cx="4847760" cy="2399760"/>
            </a:xfrm>
            <a:prstGeom prst="rect">
              <a:avLst/>
            </a:prstGeom>
            <a:solidFill>
              <a:srgbClr val="003594">
                <a:alpha val="46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grpSp>
          <p:nvGrpSpPr>
            <p:cNvPr id="86" name="Grupo 2"/>
            <p:cNvGrpSpPr/>
            <p:nvPr/>
          </p:nvGrpSpPr>
          <p:grpSpPr>
            <a:xfrm>
              <a:off x="734760" y="980640"/>
              <a:ext cx="5018400" cy="1824840"/>
              <a:chOff x="734760" y="980640"/>
              <a:chExt cx="5018400" cy="1824840"/>
            </a:xfrm>
          </p:grpSpPr>
          <p:sp>
            <p:nvSpPr>
              <p:cNvPr id="87" name="2 Subtítulo 1"/>
              <p:cNvSpPr/>
              <p:nvPr/>
            </p:nvSpPr>
            <p:spPr>
              <a:xfrm>
                <a:off x="778680" y="2277000"/>
                <a:ext cx="4974480" cy="5284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rmAutofit/>
              </a:bodyPr>
              <a:p>
                <a:pPr>
                  <a:lnSpc>
                    <a:spcPct val="100000"/>
                  </a:lnSpc>
                  <a:buNone/>
                  <a:tabLst>
                    <a:tab algn="l" pos="0"/>
                  </a:tabLst>
                </a:pPr>
                <a:r>
                  <a:rPr b="1" lang="es-ES" sz="1800" spc="-1" strike="noStrike">
                    <a:solidFill>
                      <a:srgbClr val="ffffff"/>
                    </a:solidFill>
                    <a:latin typeface="Calibri"/>
                    <a:ea typeface="DejaVu Sans"/>
                  </a:rPr>
                  <a:t>Aprendizaje supervisado</a:t>
                </a:r>
                <a:endParaRPr b="0" lang="en-US" sz="1800" spc="-1" strike="noStrike">
                  <a:latin typeface="Arial"/>
                </a:endParaRPr>
              </a:p>
            </p:txBody>
          </p:sp>
          <p:sp>
            <p:nvSpPr>
              <p:cNvPr id="88" name="1 Título 1"/>
              <p:cNvSpPr/>
              <p:nvPr/>
            </p:nvSpPr>
            <p:spPr>
              <a:xfrm>
                <a:off x="734760" y="980640"/>
                <a:ext cx="4010400" cy="13158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buNone/>
                </a:pPr>
                <a:endParaRPr b="0" lang="en-US" sz="1800" spc="-1" strike="noStrike">
                  <a:latin typeface="Arial"/>
                </a:endParaRPr>
              </a:p>
              <a:p>
                <a:pPr>
                  <a:lnSpc>
                    <a:spcPct val="100000"/>
                  </a:lnSpc>
                  <a:buNone/>
                </a:pPr>
                <a:endParaRPr b="0" lang="en-US" sz="1800" spc="-1" strike="noStrike">
                  <a:latin typeface="Arial"/>
                </a:endParaRPr>
              </a:p>
              <a:p>
                <a:pPr>
                  <a:lnSpc>
                    <a:spcPct val="100000"/>
                  </a:lnSpc>
                  <a:buNone/>
                </a:pPr>
                <a:r>
                  <a:rPr b="1" lang="es-ES" sz="3500" spc="-1" strike="noStrike">
                    <a:solidFill>
                      <a:srgbClr val="ffffff"/>
                    </a:solidFill>
                    <a:latin typeface="Calibri"/>
                    <a:ea typeface="DejaVu Sans"/>
                  </a:rPr>
                  <a:t>Formación IA</a:t>
                </a:r>
                <a:endParaRPr b="0" lang="en-US" sz="3500" spc="-1" strike="noStrike">
                  <a:latin typeface="Arial"/>
                </a:endParaRPr>
              </a:p>
            </p:txBody>
          </p:sp>
        </p:grpSp>
      </p:grpSp>
      <p:pic>
        <p:nvPicPr>
          <p:cNvPr id="89" name="Imagen 1" descr="Logotipo&#10;&#10;El contenido generado por IA puede ser incorrecto."/>
          <p:cNvPicPr/>
          <p:nvPr/>
        </p:nvPicPr>
        <p:blipFill>
          <a:blip r:embed="rId4"/>
          <a:stretch/>
        </p:blipFill>
        <p:spPr>
          <a:xfrm>
            <a:off x="3575880" y="532440"/>
            <a:ext cx="1647000" cy="801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8400" cy="536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Regresión Lineal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/>
          </p:nvPr>
        </p:nvSpPr>
        <p:spPr>
          <a:xfrm>
            <a:off x="838080" y="1124640"/>
            <a:ext cx="10508400" cy="1214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 </a:t>
            </a:r>
            <a:r>
              <a:rPr b="0" lang="es-ES" sz="2400" spc="-1" strike="noStrike">
                <a:latin typeface="Calibri"/>
              </a:rPr>
              <a:t>Su objetivo es explicar la relación entre una variable dependiente (respuesta) y una o varias variables independientes (predictoras), ajustando una recta (o hiperplano en más dimensiones) que mejor represente esa relación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1800" spc="-1" strike="noStrike">
              <a:latin typeface="Arial"/>
            </a:endParaRPr>
          </a:p>
        </p:txBody>
      </p:sp>
      <p:pic>
        <p:nvPicPr>
          <p:cNvPr id="92" name="" descr=""/>
          <p:cNvPicPr/>
          <p:nvPr/>
        </p:nvPicPr>
        <p:blipFill>
          <a:blip r:embed="rId1"/>
          <a:stretch/>
        </p:blipFill>
        <p:spPr>
          <a:xfrm>
            <a:off x="3240000" y="2720160"/>
            <a:ext cx="5749920" cy="32191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8400" cy="536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Regresión Lineal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94" name="" descr=""/>
          <p:cNvPicPr/>
          <p:nvPr/>
        </p:nvPicPr>
        <p:blipFill>
          <a:blip r:embed="rId1"/>
          <a:srcRect l="0" t="15213" r="11181" b="19265"/>
          <a:stretch/>
        </p:blipFill>
        <p:spPr>
          <a:xfrm>
            <a:off x="2160000" y="1260000"/>
            <a:ext cx="8458920" cy="4679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8400" cy="536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Regresión Lineal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96" name="" descr=""/>
          <p:cNvPicPr/>
          <p:nvPr/>
        </p:nvPicPr>
        <p:blipFill>
          <a:blip r:embed="rId1"/>
          <a:stretch/>
        </p:blipFill>
        <p:spPr>
          <a:xfrm>
            <a:off x="3420000" y="858240"/>
            <a:ext cx="5964120" cy="52610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8400" cy="536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Regresión Lineal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98" name="" descr=""/>
          <p:cNvPicPr/>
          <p:nvPr/>
        </p:nvPicPr>
        <p:blipFill>
          <a:blip r:embed="rId1"/>
          <a:stretch/>
        </p:blipFill>
        <p:spPr>
          <a:xfrm>
            <a:off x="1980000" y="1260000"/>
            <a:ext cx="8999280" cy="4788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3800" cy="541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Regresión Lineal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/>
          </p:nvPr>
        </p:nvSpPr>
        <p:spPr>
          <a:xfrm>
            <a:off x="2340000" y="1260000"/>
            <a:ext cx="7558560" cy="53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800" spc="-1" strike="noStrike">
                <a:solidFill>
                  <a:srgbClr val="ff0000"/>
                </a:solidFill>
                <a:latin typeface="Calibri"/>
              </a:rPr>
              <a:t>ELIMINAR VALORES NULOS ANTES DE USAR REGRESIÓN LINEAL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101" name=""/>
          <p:cNvSpPr/>
          <p:nvPr/>
        </p:nvSpPr>
        <p:spPr>
          <a:xfrm>
            <a:off x="889920" y="2160000"/>
            <a:ext cx="5038560" cy="96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</a:pP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</a:pP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Los algoritmos de regresión lineal fallan cuando se introducen valores nulos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02" name="" descr=""/>
          <p:cNvPicPr/>
          <p:nvPr/>
        </p:nvPicPr>
        <p:blipFill>
          <a:blip r:embed="rId1"/>
          <a:stretch/>
        </p:blipFill>
        <p:spPr>
          <a:xfrm>
            <a:off x="1260000" y="1331280"/>
            <a:ext cx="828360" cy="828360"/>
          </a:xfrm>
          <a:prstGeom prst="rect">
            <a:avLst/>
          </a:prstGeom>
          <a:ln w="0">
            <a:noFill/>
          </a:ln>
        </p:spPr>
      </p:pic>
      <p:pic>
        <p:nvPicPr>
          <p:cNvPr id="103" name="" descr=""/>
          <p:cNvPicPr/>
          <p:nvPr/>
        </p:nvPicPr>
        <p:blipFill>
          <a:blip r:embed="rId2"/>
          <a:stretch/>
        </p:blipFill>
        <p:spPr>
          <a:xfrm>
            <a:off x="7740000" y="2340000"/>
            <a:ext cx="2699640" cy="3149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3800" cy="541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Regresión Lineal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2340000" y="1260000"/>
            <a:ext cx="7558560" cy="53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800" spc="-1" strike="noStrike">
                <a:solidFill>
                  <a:srgbClr val="ff0000"/>
                </a:solidFill>
                <a:latin typeface="Calibri"/>
              </a:rPr>
              <a:t>ESCALAR LOS DATOS ANTES DE USAR REGRESIÓN LINEAL</a:t>
            </a:r>
            <a:endParaRPr b="0" lang="en-US" sz="2800" spc="-1" strike="noStrike">
              <a:latin typeface="Arial"/>
            </a:endParaRPr>
          </a:p>
        </p:txBody>
      </p:sp>
      <p:pic>
        <p:nvPicPr>
          <p:cNvPr id="106" name="" descr=""/>
          <p:cNvPicPr/>
          <p:nvPr/>
        </p:nvPicPr>
        <p:blipFill>
          <a:blip r:embed="rId1"/>
          <a:stretch/>
        </p:blipFill>
        <p:spPr>
          <a:xfrm>
            <a:off x="7094880" y="2700000"/>
            <a:ext cx="3883680" cy="3109680"/>
          </a:xfrm>
          <a:prstGeom prst="rect">
            <a:avLst/>
          </a:prstGeom>
          <a:ln w="0">
            <a:noFill/>
          </a:ln>
        </p:spPr>
      </p:pic>
      <p:sp>
        <p:nvSpPr>
          <p:cNvPr id="107" name=""/>
          <p:cNvSpPr/>
          <p:nvPr/>
        </p:nvSpPr>
        <p:spPr>
          <a:xfrm>
            <a:off x="889920" y="2160000"/>
            <a:ext cx="5038560" cy="96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</a:pP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b="1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StandardScaler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s-E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Recomendado para la mayoría de los casos</a:t>
            </a:r>
            <a:endParaRPr b="0" lang="en-US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s-E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Todas la características contribuyan por igual al cálculo de la pérdida y a la penalización de la regulación, evitando que las características con rangos más grandes dominen el modelo</a:t>
            </a:r>
            <a:endParaRPr b="0" lang="en-US" sz="2000" spc="-1" strike="noStrike">
              <a:latin typeface="Arial"/>
            </a:endParaRPr>
          </a:p>
        </p:txBody>
      </p:sp>
      <p:pic>
        <p:nvPicPr>
          <p:cNvPr id="108" name="" descr=""/>
          <p:cNvPicPr/>
          <p:nvPr/>
        </p:nvPicPr>
        <p:blipFill>
          <a:blip r:embed="rId2"/>
          <a:stretch/>
        </p:blipFill>
        <p:spPr>
          <a:xfrm>
            <a:off x="1260000" y="1260000"/>
            <a:ext cx="828360" cy="8283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8400" cy="536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Regresión Lineal Multiple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10" name="PlaceHolder 2"/>
          <p:cNvSpPr>
            <a:spLocks noGrp="1"/>
          </p:cNvSpPr>
          <p:nvPr>
            <p:ph/>
          </p:nvPr>
        </p:nvSpPr>
        <p:spPr>
          <a:xfrm>
            <a:off x="855720" y="1089360"/>
            <a:ext cx="10508400" cy="4344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 </a:t>
            </a:r>
            <a:r>
              <a:rPr b="0" lang="es-ES" sz="2000" spc="-1" strike="noStrike">
                <a:latin typeface="Calibri"/>
              </a:rPr>
              <a:t>Su objetivo es modelar la relación entre un conjunto de variables predictoras y una sola variable dependiente</a:t>
            </a:r>
            <a:endParaRPr b="0" lang="en-US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2000" spc="-1" strike="noStrike">
              <a:latin typeface="Arial"/>
            </a:endParaRPr>
          </a:p>
          <a:p>
            <a:pPr marL="432000" indent="-3240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s-ES" sz="2000" spc="-1" strike="noStrike">
                <a:latin typeface="Calibri"/>
              </a:rPr>
              <a:t> </a:t>
            </a:r>
            <a:r>
              <a:rPr b="0" lang="es-ES" sz="2000" spc="-1" strike="noStrike">
                <a:latin typeface="Calibri"/>
              </a:rPr>
              <a:t>Al incluir más variables relevantes, el modelo puede explicar una mayor proporción de la variabilidad en la variable dependiente</a:t>
            </a:r>
            <a:endParaRPr b="0" lang="en-US" sz="2000" spc="-1" strike="noStrike">
              <a:latin typeface="Arial"/>
            </a:endParaRPr>
          </a:p>
          <a:p>
            <a:pPr marL="457200" indent="-179640">
              <a:lnSpc>
                <a:spcPct val="115000"/>
              </a:lnSpc>
              <a:spcAft>
                <a:spcPts val="1236"/>
              </a:spcAft>
              <a:buClr>
                <a:srgbClr val="000000"/>
              </a:buClr>
              <a:buSzPct val="45000"/>
              <a:buFont typeface="Wingdings" charset="2"/>
              <a:buChar char=""/>
              <a:tabLst>
                <a:tab algn="l" pos="457200"/>
              </a:tabLst>
            </a:pPr>
            <a:r>
              <a:rPr b="1" lang="es-ES" sz="2000" spc="-1" strike="noStrike">
                <a:latin typeface="Calibri"/>
              </a:rPr>
              <a:t>Colinealidad</a:t>
            </a:r>
            <a:r>
              <a:rPr b="0" lang="es-ES" sz="2000" spc="-1" strike="noStrike">
                <a:latin typeface="Calibri"/>
              </a:rPr>
              <a:t>: Ocurre cuando dos o más variables predictoras están altamente correlacionadas entre sí. </a:t>
            </a:r>
            <a:endParaRPr b="0" lang="en-US" sz="2000" spc="-1" strike="noStrike">
              <a:latin typeface="Arial"/>
            </a:endParaRPr>
          </a:p>
          <a:p>
            <a:pPr marL="457200" indent="-179640">
              <a:lnSpc>
                <a:spcPct val="115000"/>
              </a:lnSpc>
              <a:spcAft>
                <a:spcPts val="1236"/>
              </a:spcAft>
              <a:buClr>
                <a:srgbClr val="000000"/>
              </a:buClr>
              <a:buSzPct val="45000"/>
              <a:buFont typeface="Wingdings" charset="2"/>
              <a:buChar char=""/>
              <a:tabLst>
                <a:tab algn="l" pos="457200"/>
              </a:tabLst>
            </a:pPr>
            <a:r>
              <a:rPr b="1" lang="es-ES" sz="2000" spc="-1" strike="noStrike">
                <a:latin typeface="Calibri"/>
              </a:rPr>
              <a:t>Selección de variables</a:t>
            </a:r>
            <a:r>
              <a:rPr b="0" lang="es-ES" sz="2000" spc="-1" strike="noStrike">
                <a:latin typeface="Calibri"/>
              </a:rPr>
              <a:t>: Elegir las variables predictoras correctas es crucial. Se deben incluir variables que sean teóricamente relevantes y que tengan una relación estadísticamente significativa con la variable dependiente.</a:t>
            </a:r>
            <a:endParaRPr b="0" lang="en-US" sz="2000" spc="-1" strike="noStrike">
              <a:latin typeface="Arial"/>
            </a:endParaRPr>
          </a:p>
        </p:txBody>
      </p:sp>
      <p:pic>
        <p:nvPicPr>
          <p:cNvPr id="111" name="" descr=""/>
          <p:cNvPicPr/>
          <p:nvPr/>
        </p:nvPicPr>
        <p:blipFill>
          <a:blip r:embed="rId1"/>
          <a:stretch/>
        </p:blipFill>
        <p:spPr>
          <a:xfrm>
            <a:off x="3600000" y="1980000"/>
            <a:ext cx="4859280" cy="584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8400" cy="536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Regresión Lineal Multiple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13" name="" descr=""/>
          <p:cNvPicPr/>
          <p:nvPr/>
        </p:nvPicPr>
        <p:blipFill>
          <a:blip r:embed="rId1"/>
          <a:stretch/>
        </p:blipFill>
        <p:spPr>
          <a:xfrm>
            <a:off x="3420000" y="902160"/>
            <a:ext cx="5039280" cy="50608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8400" cy="536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Regresión Lineal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15" name="PlaceHolder 2"/>
          <p:cNvSpPr>
            <a:spLocks noGrp="1"/>
          </p:cNvSpPr>
          <p:nvPr>
            <p:ph/>
          </p:nvPr>
        </p:nvSpPr>
        <p:spPr>
          <a:xfrm>
            <a:off x="838080" y="1124640"/>
            <a:ext cx="10508400" cy="4344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 </a:t>
            </a:r>
            <a:r>
              <a:rPr b="1" lang="es-ES" sz="2400" spc="-1" strike="noStrike">
                <a:latin typeface="Calibri"/>
                <a:ea typeface="DejaVu Sans"/>
              </a:rPr>
              <a:t>Supuestos de la regresión lineal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2000" spc="-1" strike="noStrike">
              <a:latin typeface="Arial"/>
            </a:endParaRPr>
          </a:p>
          <a:p>
            <a:pPr marL="450360" indent="-179640">
              <a:lnSpc>
                <a:spcPct val="115000"/>
              </a:lnSpc>
              <a:spcAft>
                <a:spcPts val="1236"/>
              </a:spcAft>
              <a:buNone/>
              <a:tabLst>
                <a:tab algn="l" pos="0"/>
              </a:tabLst>
            </a:pPr>
            <a:r>
              <a:rPr b="1" lang="en-US" sz="2000" spc="-1" strike="noStrike">
                <a:latin typeface="Calibri"/>
                <a:ea typeface="DejaVu Sans"/>
              </a:rPr>
              <a:t>Linealidad</a:t>
            </a:r>
            <a:r>
              <a:rPr b="0" lang="en-US" sz="2000" spc="-1" strike="noStrike">
                <a:latin typeface="Calibri"/>
                <a:ea typeface="DejaVu Sans"/>
              </a:rPr>
              <a:t>: la relación entre variables es lineal.</a:t>
            </a:r>
            <a:endParaRPr b="0" lang="en-US" sz="2000" spc="-1" strike="noStrike">
              <a:latin typeface="Arial"/>
            </a:endParaRPr>
          </a:p>
          <a:p>
            <a:pPr marL="450360" indent="-179640">
              <a:lnSpc>
                <a:spcPct val="115000"/>
              </a:lnSpc>
              <a:spcAft>
                <a:spcPts val="1236"/>
              </a:spcAft>
              <a:buNone/>
              <a:tabLst>
                <a:tab algn="l" pos="0"/>
              </a:tabLst>
            </a:pPr>
            <a:r>
              <a:rPr b="1" lang="en-US" sz="2000" spc="-1" strike="noStrike">
                <a:latin typeface="Calibri"/>
                <a:ea typeface="DejaVu Sans"/>
              </a:rPr>
              <a:t>Independencia</a:t>
            </a:r>
            <a:r>
              <a:rPr b="0" lang="en-US" sz="2000" spc="-1" strike="noStrike">
                <a:latin typeface="Calibri"/>
                <a:ea typeface="DejaVu Sans"/>
              </a:rPr>
              <a:t>: las observaciones son independientes.</a:t>
            </a:r>
            <a:endParaRPr b="0" lang="en-US" sz="2000" spc="-1" strike="noStrike">
              <a:latin typeface="Arial"/>
            </a:endParaRPr>
          </a:p>
          <a:p>
            <a:pPr marL="450360" indent="-179640">
              <a:lnSpc>
                <a:spcPct val="115000"/>
              </a:lnSpc>
              <a:spcAft>
                <a:spcPts val="1236"/>
              </a:spcAft>
              <a:buNone/>
              <a:tabLst>
                <a:tab algn="l" pos="0"/>
              </a:tabLst>
            </a:pPr>
            <a:r>
              <a:rPr b="1" lang="en-US" sz="2000" spc="-1" strike="noStrike">
                <a:latin typeface="Calibri"/>
                <a:ea typeface="DejaVu Sans"/>
              </a:rPr>
              <a:t>Homoscedasticidad</a:t>
            </a:r>
            <a:r>
              <a:rPr b="0" lang="en-US" sz="2000" spc="-1" strike="noStrike">
                <a:latin typeface="Calibri"/>
                <a:ea typeface="DejaVu Sans"/>
              </a:rPr>
              <a:t>: la varianza de los errores es constante. La dispersión de los puntos alrededor de la línea de regresión es uniforme</a:t>
            </a:r>
            <a:endParaRPr b="0" lang="en-US" sz="2000" spc="-1" strike="noStrike">
              <a:latin typeface="Arial"/>
            </a:endParaRPr>
          </a:p>
          <a:p>
            <a:pPr marL="450360" indent="-179640">
              <a:lnSpc>
                <a:spcPct val="115000"/>
              </a:lnSpc>
              <a:spcAft>
                <a:spcPts val="1236"/>
              </a:spcAft>
              <a:buNone/>
              <a:tabLst>
                <a:tab algn="l" pos="0"/>
              </a:tabLst>
            </a:pPr>
            <a:r>
              <a:rPr b="1" lang="en-US" sz="2000" spc="-1" strike="noStrike">
                <a:latin typeface="Calibri"/>
                <a:ea typeface="DejaVu Sans"/>
              </a:rPr>
              <a:t>Normalidad de los errores</a:t>
            </a:r>
            <a:r>
              <a:rPr b="0" lang="en-US" sz="2000" spc="-1" strike="noStrike">
                <a:latin typeface="Calibri"/>
                <a:ea typeface="DejaVu Sans"/>
              </a:rPr>
              <a:t>: los residuos se distribuyen aproximadamente de manera normal.</a:t>
            </a:r>
            <a:endParaRPr b="0" lang="en-US" sz="2000" spc="-1" strike="noStrike">
              <a:latin typeface="Arial"/>
            </a:endParaRPr>
          </a:p>
          <a:p>
            <a:pPr marL="450360" indent="-179640">
              <a:lnSpc>
                <a:spcPct val="115000"/>
              </a:lnSpc>
              <a:spcAft>
                <a:spcPts val="1236"/>
              </a:spcAft>
              <a:buNone/>
              <a:tabLst>
                <a:tab algn="l" pos="0"/>
              </a:tabLst>
            </a:pPr>
            <a:r>
              <a:rPr b="1" lang="en-US" sz="2000" spc="-1" strike="noStrike">
                <a:latin typeface="Calibri"/>
                <a:ea typeface="DejaVu Sans"/>
              </a:rPr>
              <a:t>No multicolinealidad excesiva</a:t>
            </a:r>
            <a:r>
              <a:rPr b="0" lang="en-US" sz="2000" spc="-1" strike="noStrike">
                <a:latin typeface="Calibri"/>
                <a:ea typeface="DejaVu Sans"/>
              </a:rPr>
              <a:t>: las variables predictoras no deben estar demasiado correlacionadas entre sí.</a:t>
            </a:r>
            <a:endParaRPr b="0" lang="en-US" sz="2000" spc="-1" strike="noStrike"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8400" cy="536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Regresión Lineal Multiple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17" name="" descr=""/>
          <p:cNvPicPr/>
          <p:nvPr/>
        </p:nvPicPr>
        <p:blipFill>
          <a:blip r:embed="rId1"/>
          <a:srcRect l="0" t="22386" r="8959" b="22488"/>
          <a:stretch/>
        </p:blipFill>
        <p:spPr>
          <a:xfrm>
            <a:off x="1980000" y="1980000"/>
            <a:ext cx="7928280" cy="3600000"/>
          </a:xfrm>
          <a:prstGeom prst="rect">
            <a:avLst/>
          </a:prstGeom>
          <a:ln w="0">
            <a:noFill/>
          </a:ln>
        </p:spPr>
      </p:pic>
      <p:sp>
        <p:nvSpPr>
          <p:cNvPr id="118" name=""/>
          <p:cNvSpPr txBox="1"/>
          <p:nvPr/>
        </p:nvSpPr>
        <p:spPr>
          <a:xfrm>
            <a:off x="1077120" y="1260000"/>
            <a:ext cx="9182880" cy="54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s-ES" sz="2400" spc="-1" strike="noStrike">
                <a:latin typeface="Calibri"/>
              </a:rPr>
              <a:t>Homocedasticidad y heterocedasticidad</a:t>
            </a:r>
            <a:endParaRPr b="0" lang="en-US" sz="2400" spc="-1" strike="noStrike"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8400" cy="536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Regresión Lineal Multiple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20" name="" descr=""/>
          <p:cNvPicPr/>
          <p:nvPr/>
        </p:nvPicPr>
        <p:blipFill>
          <a:blip r:embed="rId1"/>
          <a:stretch/>
        </p:blipFill>
        <p:spPr>
          <a:xfrm>
            <a:off x="1800000" y="2340000"/>
            <a:ext cx="8879400" cy="3060000"/>
          </a:xfrm>
          <a:prstGeom prst="rect">
            <a:avLst/>
          </a:prstGeom>
          <a:ln w="0">
            <a:noFill/>
          </a:ln>
        </p:spPr>
      </p:pic>
      <p:sp>
        <p:nvSpPr>
          <p:cNvPr id="121" name=""/>
          <p:cNvSpPr txBox="1"/>
          <p:nvPr/>
        </p:nvSpPr>
        <p:spPr>
          <a:xfrm>
            <a:off x="1080000" y="1440000"/>
            <a:ext cx="5217480" cy="395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s-ES" sz="2400" spc="-1" strike="noStrike">
                <a:latin typeface="Calibri"/>
              </a:rPr>
              <a:t>Análisis de residuos</a:t>
            </a:r>
            <a:endParaRPr b="0" lang="en-US" sz="2400" spc="-1" strike="noStrike"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8400" cy="536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Regresión Lineal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23" name="PlaceHolder 2"/>
          <p:cNvSpPr>
            <a:spLocks noGrp="1"/>
          </p:cNvSpPr>
          <p:nvPr>
            <p:ph/>
          </p:nvPr>
        </p:nvSpPr>
        <p:spPr>
          <a:xfrm>
            <a:off x="3960000" y="1664640"/>
            <a:ext cx="7801200" cy="3194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s-ES" sz="2000" spc="-1" strike="noStrike">
                <a:latin typeface="Calibri"/>
              </a:rPr>
              <a:t> </a:t>
            </a:r>
            <a:r>
              <a:rPr b="1" lang="es-ES" sz="2400" spc="-1" strike="noStrike">
                <a:latin typeface="Calibri"/>
              </a:rPr>
              <a:t>Ventajas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2000" spc="-1" strike="noStrike">
              <a:latin typeface="Arial"/>
            </a:endParaRPr>
          </a:p>
          <a:p>
            <a:pPr marL="450360" indent="-17964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"/>
              <a:tabLst>
                <a:tab algn="l" pos="450360"/>
              </a:tabLst>
            </a:pPr>
            <a:r>
              <a:rPr b="0" lang="es-ES" sz="2000" spc="-1" strike="noStrike">
                <a:latin typeface="Calibri"/>
              </a:rPr>
              <a:t>Modelo simple e interpretable.</a:t>
            </a:r>
            <a:endParaRPr b="0" lang="en-US" sz="2000" spc="-1" strike="noStrike">
              <a:latin typeface="Arial"/>
            </a:endParaRPr>
          </a:p>
          <a:p>
            <a:pPr marL="450360" indent="-17964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"/>
              <a:tabLst>
                <a:tab algn="l" pos="450360"/>
              </a:tabLst>
            </a:pPr>
            <a:r>
              <a:rPr b="0" lang="es-ES" sz="2000" spc="-1" strike="noStrike">
                <a:latin typeface="Calibri"/>
              </a:rPr>
              <a:t>Estimación rápida y eficiente incluso con grandes datasets.</a:t>
            </a:r>
            <a:endParaRPr b="0" lang="en-US" sz="2000" spc="-1" strike="noStrike">
              <a:latin typeface="Arial"/>
            </a:endParaRPr>
          </a:p>
          <a:p>
            <a:pPr marL="450360" indent="-17964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"/>
              <a:tabLst>
                <a:tab algn="l" pos="450360"/>
              </a:tabLst>
            </a:pPr>
            <a:r>
              <a:rPr b="0" lang="es-ES" sz="2000" spc="-1" strike="noStrike">
                <a:latin typeface="Calibri"/>
              </a:rPr>
              <a:t>Permite identificar relaciones causales aproximadas.</a:t>
            </a:r>
            <a:endParaRPr b="0" lang="en-US" sz="2000" spc="-1" strike="noStrike">
              <a:latin typeface="Arial"/>
            </a:endParaRPr>
          </a:p>
          <a:p>
            <a:pPr marL="450360" indent="-17964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"/>
              <a:tabLst>
                <a:tab algn="l" pos="450360"/>
              </a:tabLst>
            </a:pPr>
            <a:r>
              <a:rPr b="0" lang="es-ES" sz="2000" spc="-1" strike="noStrike">
                <a:latin typeface="Calibri"/>
              </a:rPr>
              <a:t>Sirve como línea base para comparar con modelos más complejos.</a:t>
            </a:r>
            <a:endParaRPr b="0" lang="en-US" sz="2000" spc="-1" strike="noStrike">
              <a:latin typeface="Arial"/>
            </a:endParaRPr>
          </a:p>
        </p:txBody>
      </p:sp>
      <p:pic>
        <p:nvPicPr>
          <p:cNvPr id="124" name="" descr=""/>
          <p:cNvPicPr/>
          <p:nvPr/>
        </p:nvPicPr>
        <p:blipFill>
          <a:blip r:embed="rId1"/>
          <a:stretch/>
        </p:blipFill>
        <p:spPr>
          <a:xfrm>
            <a:off x="720000" y="2340000"/>
            <a:ext cx="2159280" cy="2159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8400" cy="536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Regresión Lineal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26" name="" descr=""/>
          <p:cNvPicPr/>
          <p:nvPr/>
        </p:nvPicPr>
        <p:blipFill>
          <a:blip r:embed="rId1"/>
          <a:stretch/>
        </p:blipFill>
        <p:spPr>
          <a:xfrm>
            <a:off x="3600000" y="902160"/>
            <a:ext cx="6299280" cy="52135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8400" cy="536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Regresión Lineal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28" name="PlaceHolder 2"/>
          <p:cNvSpPr>
            <a:spLocks noGrp="1"/>
          </p:cNvSpPr>
          <p:nvPr>
            <p:ph/>
          </p:nvPr>
        </p:nvSpPr>
        <p:spPr>
          <a:xfrm>
            <a:off x="3718080" y="1664640"/>
            <a:ext cx="8161200" cy="3014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 </a:t>
            </a:r>
            <a:r>
              <a:rPr b="1" lang="es-ES" sz="2400" spc="-1" strike="noStrike">
                <a:latin typeface="Calibri"/>
              </a:rPr>
              <a:t>Desventajas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1800" spc="-1" strike="noStrike">
              <a:latin typeface="Arial"/>
            </a:endParaRPr>
          </a:p>
          <a:p>
            <a:pPr marL="450360" indent="-17964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"/>
              <a:tabLst>
                <a:tab algn="l" pos="450360"/>
              </a:tabLst>
            </a:pPr>
            <a:r>
              <a:rPr b="0" lang="es-ES" sz="2000" spc="-1" strike="noStrike">
                <a:latin typeface="Calibri"/>
              </a:rPr>
              <a:t>No capta relaciones no lineales.</a:t>
            </a:r>
            <a:endParaRPr b="0" lang="en-US" sz="2000" spc="-1" strike="noStrike">
              <a:latin typeface="Arial"/>
            </a:endParaRPr>
          </a:p>
          <a:p>
            <a:pPr marL="450360" indent="-17964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"/>
              <a:tabLst>
                <a:tab algn="l" pos="450360"/>
              </a:tabLst>
            </a:pPr>
            <a:r>
              <a:rPr b="0" lang="es-ES" sz="2000" spc="-1" strike="noStrike">
                <a:latin typeface="Calibri"/>
              </a:rPr>
              <a:t>Sensible a outliers.</a:t>
            </a:r>
            <a:endParaRPr b="0" lang="en-US" sz="2000" spc="-1" strike="noStrike">
              <a:latin typeface="Arial"/>
            </a:endParaRPr>
          </a:p>
          <a:p>
            <a:pPr marL="450360" indent="-17964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"/>
              <a:tabLst>
                <a:tab algn="l" pos="450360"/>
              </a:tabLst>
            </a:pPr>
            <a:r>
              <a:rPr b="0" lang="es-ES" sz="2000" spc="-1" strike="noStrike">
                <a:latin typeface="Calibri"/>
              </a:rPr>
              <a:t>Depende de la verificación de los supuestos estadísticos.</a:t>
            </a:r>
            <a:endParaRPr b="0" lang="en-US" sz="2000" spc="-1" strike="noStrike">
              <a:latin typeface="Arial"/>
            </a:endParaRPr>
          </a:p>
          <a:p>
            <a:pPr marL="450360" indent="-17964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"/>
              <a:tabLst>
                <a:tab algn="l" pos="450360"/>
              </a:tabLst>
            </a:pPr>
            <a:r>
              <a:rPr b="0" lang="es-ES" sz="2000" spc="-1" strike="noStrike">
                <a:latin typeface="Calibri"/>
              </a:rPr>
              <a:t>No maneja bien relaciones complejas o interacciones si no se incluyen explícitamente.</a:t>
            </a:r>
            <a:endParaRPr b="0" lang="en-US" sz="2000" spc="-1" strike="noStrike">
              <a:latin typeface="Arial"/>
            </a:endParaRPr>
          </a:p>
        </p:txBody>
      </p:sp>
      <p:pic>
        <p:nvPicPr>
          <p:cNvPr id="129" name="" descr=""/>
          <p:cNvPicPr/>
          <p:nvPr/>
        </p:nvPicPr>
        <p:blipFill>
          <a:blip r:embed="rId1"/>
          <a:stretch/>
        </p:blipFill>
        <p:spPr>
          <a:xfrm>
            <a:off x="720000" y="2160360"/>
            <a:ext cx="2207880" cy="2159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8400" cy="536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Regresión Lineal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31" name="" descr=""/>
          <p:cNvPicPr/>
          <p:nvPr/>
        </p:nvPicPr>
        <p:blipFill>
          <a:blip r:embed="rId1"/>
          <a:stretch/>
        </p:blipFill>
        <p:spPr>
          <a:xfrm>
            <a:off x="2557440" y="980280"/>
            <a:ext cx="6801840" cy="51552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8400" cy="536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Regresión Polínomica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33" name="PlaceHolder 2"/>
          <p:cNvSpPr>
            <a:spLocks noGrp="1"/>
          </p:cNvSpPr>
          <p:nvPr>
            <p:ph/>
          </p:nvPr>
        </p:nvSpPr>
        <p:spPr>
          <a:xfrm>
            <a:off x="838080" y="1124640"/>
            <a:ext cx="10508400" cy="2294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 </a:t>
            </a:r>
            <a:r>
              <a:rPr b="1" lang="en-US" sz="1800" spc="-1" strike="noStrike">
                <a:latin typeface="Arial"/>
              </a:rPr>
              <a:t>Regresión polinómica</a:t>
            </a:r>
            <a:r>
              <a:rPr b="0" lang="en-US" sz="1800" spc="-1" strike="noStrike">
                <a:latin typeface="Arial"/>
              </a:rPr>
              <a:t>: es una extensión de la regresión lineal que modela la relación entre las variables dependientes e independientes como un polinomio de un grado </a:t>
            </a:r>
            <a:r>
              <a:rPr b="0" lang="en-US" sz="1800" spc="-1" strike="noStrike">
                <a:latin typeface="Liberation Mono;Courier New"/>
                <a:ea typeface="Liberation Mono;Courier New"/>
              </a:rPr>
              <a:t>n</a:t>
            </a:r>
            <a:r>
              <a:rPr b="0" lang="en-US" sz="1800" spc="-1" strike="noStrike">
                <a:latin typeface="Arial"/>
                <a:ea typeface="Liberation Mono;Courier New"/>
              </a:rPr>
              <a:t>. Se utiliza para capturar relaciones no lineales y curvaturas en los datos.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1800" spc="-1" strike="noStrike">
              <a:latin typeface="Arial"/>
            </a:endParaRPr>
          </a:p>
          <a:p>
            <a:pPr marL="900360" indent="-179640">
              <a:lnSpc>
                <a:spcPct val="115000"/>
              </a:lnSpc>
              <a:spcAft>
                <a:spcPts val="1236"/>
              </a:spcAft>
              <a:buNone/>
              <a:tabLst>
                <a:tab algn="l" pos="0"/>
              </a:tabLst>
            </a:pPr>
            <a:r>
              <a:rPr b="1" lang="en-US" sz="1800" spc="-1" strike="noStrike">
                <a:latin typeface="Times New Roman"/>
                <a:ea typeface="Liberation Mono;Courier New"/>
              </a:rPr>
              <a:t>Riesgo de sobreajuste</a:t>
            </a:r>
            <a:r>
              <a:rPr b="0" lang="en-US" sz="1800" spc="-1" strike="noStrike">
                <a:latin typeface="Times New Roman"/>
                <a:ea typeface="Liberation Mono;Courier New"/>
              </a:rPr>
              <a:t>: Un grado alto del polinomio puede resultar en un modelo excesivamente complejo que se ajusta demasiado a los datos de entrenamiento y no generaliza bien a nuevos datos En la práctica, se suele recomendar empezar con grados bajos (2 o 3) y usar técnicas como la validación cruzada para elegir el grado óptimo del polinomio.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8400" cy="536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Regresión Polínomica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35" name="" descr=""/>
          <p:cNvPicPr/>
          <p:nvPr/>
        </p:nvPicPr>
        <p:blipFill>
          <a:blip r:embed="rId1"/>
          <a:stretch/>
        </p:blipFill>
        <p:spPr>
          <a:xfrm>
            <a:off x="151920" y="1855440"/>
            <a:ext cx="6147360" cy="3723840"/>
          </a:xfrm>
          <a:prstGeom prst="rect">
            <a:avLst/>
          </a:prstGeom>
          <a:ln w="0">
            <a:noFill/>
          </a:ln>
        </p:spPr>
      </p:pic>
      <p:pic>
        <p:nvPicPr>
          <p:cNvPr id="136" name="" descr=""/>
          <p:cNvPicPr/>
          <p:nvPr/>
        </p:nvPicPr>
        <p:blipFill>
          <a:blip r:embed="rId2"/>
          <a:stretch/>
        </p:blipFill>
        <p:spPr>
          <a:xfrm>
            <a:off x="6480000" y="1800000"/>
            <a:ext cx="5272200" cy="3959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8400" cy="536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Regresión Polínomica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38" name="" descr=""/>
          <p:cNvPicPr/>
          <p:nvPr/>
        </p:nvPicPr>
        <p:blipFill>
          <a:blip r:embed="rId1"/>
          <a:stretch/>
        </p:blipFill>
        <p:spPr>
          <a:xfrm>
            <a:off x="3420000" y="1215000"/>
            <a:ext cx="5399640" cy="48196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8400" cy="536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Regresión Polínomica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40" name="" descr=""/>
          <p:cNvPicPr/>
          <p:nvPr/>
        </p:nvPicPr>
        <p:blipFill>
          <a:blip r:embed="rId1"/>
          <a:stretch/>
        </p:blipFill>
        <p:spPr>
          <a:xfrm>
            <a:off x="3240000" y="1980000"/>
            <a:ext cx="5882400" cy="3959640"/>
          </a:xfrm>
          <a:prstGeom prst="rect">
            <a:avLst/>
          </a:prstGeom>
          <a:ln w="0">
            <a:noFill/>
          </a:ln>
        </p:spPr>
      </p:pic>
      <p:sp>
        <p:nvSpPr>
          <p:cNvPr id="141" name=""/>
          <p:cNvSpPr/>
          <p:nvPr/>
        </p:nvSpPr>
        <p:spPr>
          <a:xfrm>
            <a:off x="900000" y="1260000"/>
            <a:ext cx="8459640" cy="60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es-ES" sz="2400" spc="-1" strike="noStrike">
                <a:latin typeface="Calibri"/>
              </a:rPr>
              <a:t> </a:t>
            </a:r>
            <a:r>
              <a:rPr b="1" lang="es-ES" sz="2400" spc="-1" strike="noStrike">
                <a:latin typeface="Calibri"/>
              </a:rPr>
              <a:t>Función de coste: MSE (Error cuadrático medio)</a:t>
            </a:r>
            <a:r>
              <a:rPr b="1" lang="es-ES" sz="2400" spc="-1" strike="noStrike">
                <a:latin typeface="C059"/>
              </a:rPr>
              <a:t> </a:t>
            </a:r>
            <a:r>
              <a:rPr b="0" lang="es-ES" sz="2400" spc="-1" strike="noStrike">
                <a:latin typeface="C059"/>
              </a:rPr>
              <a:t> </a:t>
            </a:r>
            <a:endParaRPr b="0" lang="en-US" sz="2400" spc="-1" strike="noStrike"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8400" cy="536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Regresión Polínomica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43" name="" descr=""/>
          <p:cNvPicPr/>
          <p:nvPr/>
        </p:nvPicPr>
        <p:blipFill>
          <a:blip r:embed="rId1"/>
          <a:stretch/>
        </p:blipFill>
        <p:spPr>
          <a:xfrm>
            <a:off x="3240000" y="1070280"/>
            <a:ext cx="5399640" cy="50274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8400" cy="536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Regresión Polínomica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45" name="" descr=""/>
          <p:cNvPicPr/>
          <p:nvPr/>
        </p:nvPicPr>
        <p:blipFill>
          <a:blip r:embed="rId1"/>
          <a:stretch/>
        </p:blipFill>
        <p:spPr>
          <a:xfrm>
            <a:off x="3593520" y="1804320"/>
            <a:ext cx="6126120" cy="4315320"/>
          </a:xfrm>
          <a:prstGeom prst="rect">
            <a:avLst/>
          </a:prstGeom>
          <a:ln w="0">
            <a:noFill/>
          </a:ln>
        </p:spPr>
      </p:pic>
      <p:sp>
        <p:nvSpPr>
          <p:cNvPr id="146" name=""/>
          <p:cNvSpPr/>
          <p:nvPr/>
        </p:nvSpPr>
        <p:spPr>
          <a:xfrm>
            <a:off x="922680" y="1093320"/>
            <a:ext cx="7356960" cy="69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es-ES" sz="2400" spc="-1" strike="noStrike">
                <a:latin typeface="Calibri"/>
              </a:rPr>
              <a:t>Función de coste: No lineal (Redes neuronales) </a:t>
            </a:r>
            <a:r>
              <a:rPr b="0" lang="en-US" sz="1800" spc="-1" strike="noStrike">
                <a:latin typeface="Arial"/>
              </a:rPr>
              <a:t> 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8400" cy="536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Regresión Polínomica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48" name="" descr=""/>
          <p:cNvPicPr/>
          <p:nvPr/>
        </p:nvPicPr>
        <p:blipFill>
          <a:blip r:embed="rId1"/>
          <a:stretch/>
        </p:blipFill>
        <p:spPr>
          <a:xfrm>
            <a:off x="2160000" y="1260000"/>
            <a:ext cx="8279280" cy="46353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8400" cy="536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Regresión con Regulación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50" name="PlaceHolder 2"/>
          <p:cNvSpPr>
            <a:spLocks noGrp="1"/>
          </p:cNvSpPr>
          <p:nvPr>
            <p:ph/>
          </p:nvPr>
        </p:nvSpPr>
        <p:spPr>
          <a:xfrm>
            <a:off x="838080" y="1124640"/>
            <a:ext cx="10508400" cy="4344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s-ES" sz="2400" spc="-1" strike="noStrike">
                <a:latin typeface="Calibri"/>
              </a:rPr>
              <a:t> </a:t>
            </a:r>
            <a:r>
              <a:rPr b="1" lang="es-ES" sz="2400" spc="-1" strike="noStrike">
                <a:latin typeface="Calibri"/>
              </a:rPr>
              <a:t>Lasso (L1):</a:t>
            </a:r>
            <a:r>
              <a:rPr b="1" lang="es-ES" sz="2000" spc="-1" strike="noStrike">
                <a:latin typeface="Calibri"/>
              </a:rPr>
              <a:t> </a:t>
            </a:r>
            <a:r>
              <a:rPr b="0" lang="es-ES" sz="2000" spc="-1" strike="noStrike">
                <a:latin typeface="Calibri"/>
              </a:rPr>
              <a:t> Esta penalización puede reducir algunos coeficientes a cero, lo que permite la selección automática de características. Es ideal cuando se sospecha que solo unas pocas variables predictoras son realmente importantes para el modelo.</a:t>
            </a:r>
            <a:endParaRPr b="0" lang="en-US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2000" spc="-1" strike="noStrike">
              <a:latin typeface="Arial"/>
            </a:endParaRPr>
          </a:p>
          <a:p>
            <a:pPr marL="432000" indent="-3240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1" lang="es-ES" sz="2400" spc="-1" strike="noStrike">
                <a:latin typeface="Calibri"/>
              </a:rPr>
              <a:t> </a:t>
            </a:r>
            <a:r>
              <a:rPr b="1" lang="es-ES" sz="2400" spc="-1" strike="noStrike">
                <a:latin typeface="Calibri"/>
              </a:rPr>
              <a:t>Ridge (L2): </a:t>
            </a:r>
            <a:r>
              <a:rPr b="0" lang="es-ES" sz="2000" spc="-1" strike="noStrike">
                <a:latin typeface="Calibri"/>
              </a:rPr>
              <a:t> Esta penalización reduce el tamaño de los coeficientes pero no los convierte en cero. Es útil cuando hay muchas variables predictoras y se sospecha de colinealidad, ya que reduce la variabilidad de las estimaciones de los coeficientes.</a:t>
            </a:r>
            <a:endParaRPr b="0" lang="en-US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2000" spc="-1" strike="noStrike">
              <a:latin typeface="Arial"/>
            </a:endParaRPr>
          </a:p>
          <a:p>
            <a:pPr marL="432000" indent="-3240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s-ES" sz="2000" spc="-1" strike="noStrike">
                <a:latin typeface="Calibri"/>
              </a:rPr>
              <a:t> </a:t>
            </a:r>
            <a:r>
              <a:rPr b="1" lang="es-ES" sz="2400" spc="-1" strike="noStrike">
                <a:latin typeface="Calibri"/>
              </a:rPr>
              <a:t>Elastic Net</a:t>
            </a:r>
            <a:r>
              <a:rPr b="1" lang="es-ES" sz="2000" spc="-1" strike="noStrike">
                <a:latin typeface="Calibri"/>
              </a:rPr>
              <a:t>: </a:t>
            </a:r>
            <a:r>
              <a:rPr b="0" lang="es-ES" sz="2000" spc="-1" strike="noStrike">
                <a:latin typeface="Calibri"/>
              </a:rPr>
              <a:t> Es un híbrido que combina las penalizaciones L1 y L2. Ofrece lo mejor de ambos mundos: puede seleccionar características (como Lasso) y manejar variables correlacionadas (como Ridge).</a:t>
            </a:r>
            <a:endParaRPr b="0" lang="en-US" sz="2000" spc="-1" strike="noStrike"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8400" cy="536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Regresión Logística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52" name="" descr=""/>
          <p:cNvPicPr/>
          <p:nvPr/>
        </p:nvPicPr>
        <p:blipFill>
          <a:blip r:embed="rId1"/>
          <a:stretch/>
        </p:blipFill>
        <p:spPr>
          <a:xfrm>
            <a:off x="3240000" y="1105920"/>
            <a:ext cx="5974200" cy="50137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8400" cy="536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Regresión Logística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54" name="" descr=""/>
          <p:cNvPicPr/>
          <p:nvPr/>
        </p:nvPicPr>
        <p:blipFill>
          <a:blip r:embed="rId1"/>
          <a:stretch/>
        </p:blipFill>
        <p:spPr>
          <a:xfrm>
            <a:off x="2880000" y="1233360"/>
            <a:ext cx="6299280" cy="4833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8400" cy="536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Regresión Logística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56" name="PlaceHolder 2"/>
          <p:cNvSpPr>
            <a:spLocks noGrp="1"/>
          </p:cNvSpPr>
          <p:nvPr>
            <p:ph/>
          </p:nvPr>
        </p:nvSpPr>
        <p:spPr>
          <a:xfrm>
            <a:off x="838080" y="1124640"/>
            <a:ext cx="10508400" cy="1754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s-ES" sz="2000" spc="-1" strike="noStrike">
                <a:latin typeface="Calibri"/>
              </a:rPr>
              <a:t> </a:t>
            </a:r>
            <a:r>
              <a:rPr b="1" lang="es-ES" sz="2400" spc="-1" strike="noStrike">
                <a:latin typeface="Calibri"/>
              </a:rPr>
              <a:t>Regresión logística:</a:t>
            </a:r>
            <a:r>
              <a:rPr b="0" lang="es-ES" sz="2000" spc="-1" strike="noStrike">
                <a:latin typeface="Calibri"/>
              </a:rPr>
              <a:t>  es un modelo paramétrico utilizado principalmente en problemas de </a:t>
            </a:r>
            <a:r>
              <a:rPr b="0" lang="es-ES" sz="2000" spc="-1" strike="noStrike">
                <a:latin typeface="Calibri"/>
              </a:rPr>
              <a:t>clasificación binaria (dos clases).</a:t>
            </a:r>
            <a:endParaRPr b="0" lang="en-US" sz="2000" spc="-1" strike="noStrike"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s-ES" sz="2000" spc="-1" strike="noStrike">
                <a:latin typeface="Calibri"/>
              </a:rPr>
              <a:t>A diferencia de la regresión lineal, la regresión logística predice la probabilidad de </a:t>
            </a:r>
            <a:r>
              <a:rPr b="0" lang="es-ES" sz="2000" spc="-1" strike="noStrike">
                <a:latin typeface="Calibri"/>
              </a:rPr>
              <a:t>pertenecia a una clase</a:t>
            </a:r>
            <a:endParaRPr b="0" lang="en-US" sz="2000" spc="-1" strike="noStrike">
              <a:latin typeface="Arial"/>
            </a:endParaRPr>
          </a:p>
        </p:txBody>
      </p:sp>
      <p:pic>
        <p:nvPicPr>
          <p:cNvPr id="157" name="" descr=""/>
          <p:cNvPicPr/>
          <p:nvPr/>
        </p:nvPicPr>
        <p:blipFill>
          <a:blip r:embed="rId1"/>
          <a:stretch/>
        </p:blipFill>
        <p:spPr>
          <a:xfrm>
            <a:off x="2638440" y="2880000"/>
            <a:ext cx="7140960" cy="3059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3800" cy="541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Regresión Logística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59" name="PlaceHolder 2"/>
          <p:cNvSpPr>
            <a:spLocks noGrp="1"/>
          </p:cNvSpPr>
          <p:nvPr>
            <p:ph/>
          </p:nvPr>
        </p:nvSpPr>
        <p:spPr>
          <a:xfrm>
            <a:off x="2340000" y="1260000"/>
            <a:ext cx="7558560" cy="53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800" spc="-1" strike="noStrike">
                <a:solidFill>
                  <a:srgbClr val="ff0000"/>
                </a:solidFill>
                <a:latin typeface="Calibri"/>
              </a:rPr>
              <a:t>ELIMINAR VALORES NULOS ANTES DE USAR REGRESIÓN LOGÍSTICA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160" name=""/>
          <p:cNvSpPr/>
          <p:nvPr/>
        </p:nvSpPr>
        <p:spPr>
          <a:xfrm>
            <a:off x="889920" y="2160000"/>
            <a:ext cx="5038560" cy="96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</a:pP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</a:pP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Los algoritmos de regresión logística fallan cuando se introducen valores nulos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61" name="" descr=""/>
          <p:cNvPicPr/>
          <p:nvPr/>
        </p:nvPicPr>
        <p:blipFill>
          <a:blip r:embed="rId1"/>
          <a:stretch/>
        </p:blipFill>
        <p:spPr>
          <a:xfrm>
            <a:off x="1260000" y="1331280"/>
            <a:ext cx="828360" cy="828360"/>
          </a:xfrm>
          <a:prstGeom prst="rect">
            <a:avLst/>
          </a:prstGeom>
          <a:ln w="0">
            <a:noFill/>
          </a:ln>
        </p:spPr>
      </p:pic>
      <p:pic>
        <p:nvPicPr>
          <p:cNvPr id="162" name="" descr=""/>
          <p:cNvPicPr/>
          <p:nvPr/>
        </p:nvPicPr>
        <p:blipFill>
          <a:blip r:embed="rId2"/>
          <a:stretch/>
        </p:blipFill>
        <p:spPr>
          <a:xfrm>
            <a:off x="7740000" y="2340000"/>
            <a:ext cx="2699640" cy="3149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3800" cy="541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Regresión Logística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64" name="PlaceHolder 2"/>
          <p:cNvSpPr>
            <a:spLocks noGrp="1"/>
          </p:cNvSpPr>
          <p:nvPr>
            <p:ph/>
          </p:nvPr>
        </p:nvSpPr>
        <p:spPr>
          <a:xfrm>
            <a:off x="2340000" y="1260000"/>
            <a:ext cx="8819640" cy="53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600" spc="-1" strike="noStrike">
                <a:solidFill>
                  <a:srgbClr val="ff0000"/>
                </a:solidFill>
                <a:latin typeface="Calibri"/>
              </a:rPr>
              <a:t>ESCALAR LOS DATOS ANTES DE USAR REGRESIÓN LOGÍSTICA</a:t>
            </a:r>
            <a:endParaRPr b="0" lang="en-US" sz="2600" spc="-1" strike="noStrike">
              <a:latin typeface="Arial"/>
            </a:endParaRPr>
          </a:p>
        </p:txBody>
      </p:sp>
      <p:pic>
        <p:nvPicPr>
          <p:cNvPr id="165" name="" descr=""/>
          <p:cNvPicPr/>
          <p:nvPr/>
        </p:nvPicPr>
        <p:blipFill>
          <a:blip r:embed="rId1"/>
          <a:stretch/>
        </p:blipFill>
        <p:spPr>
          <a:xfrm>
            <a:off x="7094880" y="2700000"/>
            <a:ext cx="3883680" cy="3109680"/>
          </a:xfrm>
          <a:prstGeom prst="rect">
            <a:avLst/>
          </a:prstGeom>
          <a:ln w="0">
            <a:noFill/>
          </a:ln>
        </p:spPr>
      </p:pic>
      <p:sp>
        <p:nvSpPr>
          <p:cNvPr id="166" name=""/>
          <p:cNvSpPr/>
          <p:nvPr/>
        </p:nvSpPr>
        <p:spPr>
          <a:xfrm>
            <a:off x="889920" y="2160000"/>
            <a:ext cx="5038560" cy="96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b="1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No es obligatorio, pero es una práctica recomendada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b="1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StandardScaler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b="0" lang="es-E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Recomendado para la mayoría de los casos</a:t>
            </a:r>
            <a:endParaRPr b="0" lang="en-US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s-E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Convergencia más rápida</a:t>
            </a:r>
            <a:endParaRPr b="0" lang="en-US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s-E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Regularización:</a:t>
            </a:r>
            <a:r>
              <a:rPr b="0" lang="es-E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Todas la características contribuyan por igual  a la penalización de la regulación, evitando que las características con rangos más grandes dominen el modelo</a:t>
            </a:r>
            <a:endParaRPr b="0" lang="en-US" sz="2000" spc="-1" strike="noStrike">
              <a:latin typeface="Arial"/>
            </a:endParaRPr>
          </a:p>
        </p:txBody>
      </p:sp>
      <p:pic>
        <p:nvPicPr>
          <p:cNvPr id="167" name="" descr=""/>
          <p:cNvPicPr/>
          <p:nvPr/>
        </p:nvPicPr>
        <p:blipFill>
          <a:blip r:embed="rId2"/>
          <a:stretch/>
        </p:blipFill>
        <p:spPr>
          <a:xfrm>
            <a:off x="1260000" y="971280"/>
            <a:ext cx="828360" cy="8283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8400" cy="536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Regresión Logística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69" name="" descr=""/>
          <p:cNvPicPr/>
          <p:nvPr/>
        </p:nvPicPr>
        <p:blipFill>
          <a:blip r:embed="rId1"/>
          <a:stretch/>
        </p:blipFill>
        <p:spPr>
          <a:xfrm>
            <a:off x="1980000" y="1260000"/>
            <a:ext cx="8999280" cy="4788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8400" cy="536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Regresión Logística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71" name="" descr=""/>
          <p:cNvPicPr/>
          <p:nvPr/>
        </p:nvPicPr>
        <p:blipFill>
          <a:blip r:embed="rId1"/>
          <a:stretch/>
        </p:blipFill>
        <p:spPr>
          <a:xfrm>
            <a:off x="3223080" y="1080000"/>
            <a:ext cx="5445360" cy="5039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8400" cy="536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Regresión Logística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73" name="" descr=""/>
          <p:cNvPicPr/>
          <p:nvPr/>
        </p:nvPicPr>
        <p:blipFill>
          <a:blip r:embed="rId1"/>
          <a:stretch/>
        </p:blipFill>
        <p:spPr>
          <a:xfrm>
            <a:off x="3060000" y="1080000"/>
            <a:ext cx="5939640" cy="5043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8400" cy="536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Regresión Logística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75" name="" descr=""/>
          <p:cNvPicPr/>
          <p:nvPr/>
        </p:nvPicPr>
        <p:blipFill>
          <a:blip r:embed="rId1"/>
          <a:stretch/>
        </p:blipFill>
        <p:spPr>
          <a:xfrm>
            <a:off x="448200" y="1484280"/>
            <a:ext cx="11251080" cy="3735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8400" cy="536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Regresión Logística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77" name="" descr=""/>
          <p:cNvPicPr/>
          <p:nvPr/>
        </p:nvPicPr>
        <p:blipFill>
          <a:blip r:embed="rId1"/>
          <a:stretch/>
        </p:blipFill>
        <p:spPr>
          <a:xfrm>
            <a:off x="2136600" y="5721840"/>
            <a:ext cx="9382680" cy="397440"/>
          </a:xfrm>
          <a:prstGeom prst="rect">
            <a:avLst/>
          </a:prstGeom>
          <a:ln w="0">
            <a:noFill/>
          </a:ln>
        </p:spPr>
      </p:pic>
      <p:pic>
        <p:nvPicPr>
          <p:cNvPr id="178" name="" descr=""/>
          <p:cNvPicPr/>
          <p:nvPr/>
        </p:nvPicPr>
        <p:blipFill>
          <a:blip r:embed="rId2"/>
          <a:stretch/>
        </p:blipFill>
        <p:spPr>
          <a:xfrm>
            <a:off x="1261800" y="1064880"/>
            <a:ext cx="8997480" cy="43488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8400" cy="536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Regresión Logística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80" name="" descr=""/>
          <p:cNvPicPr/>
          <p:nvPr/>
        </p:nvPicPr>
        <p:blipFill>
          <a:blip r:embed="rId1"/>
          <a:stretch/>
        </p:blipFill>
        <p:spPr>
          <a:xfrm>
            <a:off x="7560000" y="2266560"/>
            <a:ext cx="4587120" cy="3328920"/>
          </a:xfrm>
          <a:prstGeom prst="rect">
            <a:avLst/>
          </a:prstGeom>
          <a:ln w="0">
            <a:noFill/>
          </a:ln>
        </p:spPr>
      </p:pic>
      <p:sp>
        <p:nvSpPr>
          <p:cNvPr id="181" name=""/>
          <p:cNvSpPr/>
          <p:nvPr/>
        </p:nvSpPr>
        <p:spPr>
          <a:xfrm>
            <a:off x="975240" y="1260000"/>
            <a:ext cx="640440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es-ES" sz="2400" spc="-1" strike="noStrike">
                <a:latin typeface="Calibri"/>
              </a:rPr>
              <a:t> </a:t>
            </a:r>
            <a:r>
              <a:rPr b="1" lang="es-ES" sz="2400" spc="-1" strike="noStrike">
                <a:latin typeface="Calibri"/>
              </a:rPr>
              <a:t>Función de coste: Log-Loss</a:t>
            </a:r>
            <a:r>
              <a:rPr b="0" lang="es-ES" sz="2400" spc="-1" strike="noStrike">
                <a:latin typeface="C059"/>
              </a:rPr>
              <a:t> 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82" name="" descr=""/>
          <p:cNvPicPr/>
          <p:nvPr/>
        </p:nvPicPr>
        <p:blipFill>
          <a:blip r:embed="rId2"/>
          <a:stretch/>
        </p:blipFill>
        <p:spPr>
          <a:xfrm>
            <a:off x="180000" y="2340000"/>
            <a:ext cx="7232760" cy="3239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8400" cy="536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Regresión Logística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84" name="PlaceHolder 2"/>
          <p:cNvSpPr>
            <a:spLocks noGrp="1"/>
          </p:cNvSpPr>
          <p:nvPr>
            <p:ph/>
          </p:nvPr>
        </p:nvSpPr>
        <p:spPr>
          <a:xfrm>
            <a:off x="838080" y="1124640"/>
            <a:ext cx="10508400" cy="3195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 </a:t>
            </a:r>
            <a:r>
              <a:rPr b="1" lang="es-ES" sz="2400" spc="-1" strike="noStrike">
                <a:latin typeface="Calibri"/>
                <a:ea typeface="DejaVu Sans"/>
              </a:rPr>
              <a:t>Supuestos de la regresión logística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2000" spc="-1" strike="noStrike">
              <a:latin typeface="Arial"/>
            </a:endParaRPr>
          </a:p>
          <a:p>
            <a:pPr marL="450360" indent="-179640">
              <a:lnSpc>
                <a:spcPct val="115000"/>
              </a:lnSpc>
              <a:spcAft>
                <a:spcPts val="1236"/>
              </a:spcAft>
              <a:buNone/>
              <a:tabLst>
                <a:tab algn="l" pos="0"/>
              </a:tabLst>
            </a:pPr>
            <a:r>
              <a:rPr b="1" lang="en-US" sz="2000" spc="-1" strike="noStrike">
                <a:latin typeface="Calibri"/>
                <a:ea typeface="DejaVu Sans"/>
              </a:rPr>
              <a:t>Linealidad</a:t>
            </a:r>
            <a:r>
              <a:rPr b="0" lang="en-US" sz="2000" spc="-1" strike="noStrike">
                <a:latin typeface="Calibri"/>
                <a:ea typeface="DejaVu Sans"/>
              </a:rPr>
              <a:t>: la relación entre variables es lineal.</a:t>
            </a:r>
            <a:endParaRPr b="0" lang="en-US" sz="2000" spc="-1" strike="noStrike">
              <a:latin typeface="Arial"/>
            </a:endParaRPr>
          </a:p>
          <a:p>
            <a:pPr marL="450360" indent="-179640">
              <a:lnSpc>
                <a:spcPct val="115000"/>
              </a:lnSpc>
              <a:spcAft>
                <a:spcPts val="1236"/>
              </a:spcAft>
              <a:buNone/>
              <a:tabLst>
                <a:tab algn="l" pos="0"/>
              </a:tabLst>
            </a:pPr>
            <a:r>
              <a:rPr b="1" lang="en-US" sz="2000" spc="-1" strike="noStrike">
                <a:latin typeface="Calibri"/>
                <a:ea typeface="DejaVu Sans"/>
              </a:rPr>
              <a:t>Independencia</a:t>
            </a:r>
            <a:r>
              <a:rPr b="0" lang="en-US" sz="2000" spc="-1" strike="noStrike">
                <a:latin typeface="Calibri"/>
                <a:ea typeface="DejaVu Sans"/>
              </a:rPr>
              <a:t>: las observaciones son independientes.</a:t>
            </a:r>
            <a:endParaRPr b="0" lang="en-US" sz="2000" spc="-1" strike="noStrike">
              <a:latin typeface="Arial"/>
            </a:endParaRPr>
          </a:p>
          <a:p>
            <a:pPr marL="450360" indent="-179640">
              <a:lnSpc>
                <a:spcPct val="115000"/>
              </a:lnSpc>
              <a:spcAft>
                <a:spcPts val="1236"/>
              </a:spcAft>
              <a:buNone/>
              <a:tabLst>
                <a:tab algn="l" pos="0"/>
              </a:tabLst>
            </a:pPr>
            <a:r>
              <a:rPr b="1" lang="en-US" sz="2000" spc="-1" strike="noStrike">
                <a:latin typeface="Calibri"/>
                <a:ea typeface="DejaVu Sans"/>
              </a:rPr>
              <a:t>Tamaño de la muestra: Suficientemente grande para estimar probabilidades de forma estable</a:t>
            </a:r>
            <a:endParaRPr b="0" lang="en-US" sz="2000" spc="-1" strike="noStrike">
              <a:latin typeface="Arial"/>
            </a:endParaRPr>
          </a:p>
          <a:p>
            <a:pPr marL="450360" indent="-179640">
              <a:lnSpc>
                <a:spcPct val="115000"/>
              </a:lnSpc>
              <a:spcAft>
                <a:spcPts val="1236"/>
              </a:spcAft>
              <a:buNone/>
              <a:tabLst>
                <a:tab algn="l" pos="0"/>
              </a:tabLst>
            </a:pPr>
            <a:r>
              <a:rPr b="1" lang="en-US" sz="2000" spc="-1" strike="noStrike">
                <a:latin typeface="Calibri"/>
                <a:ea typeface="DejaVu Sans"/>
              </a:rPr>
              <a:t>No multicolinealidad excesiva</a:t>
            </a:r>
            <a:r>
              <a:rPr b="0" lang="en-US" sz="2000" spc="-1" strike="noStrike">
                <a:latin typeface="Calibri"/>
                <a:ea typeface="DejaVu Sans"/>
              </a:rPr>
              <a:t>: las variables predictoras no deben estar demasiado correlacionadas entre sí.</a:t>
            </a:r>
            <a:endParaRPr b="0" lang="en-US" sz="2000" spc="-1" strike="noStrike"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8400" cy="536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Regresión Logística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86" name="" descr=""/>
          <p:cNvPicPr/>
          <p:nvPr/>
        </p:nvPicPr>
        <p:blipFill>
          <a:blip r:embed="rId1"/>
          <a:stretch/>
        </p:blipFill>
        <p:spPr>
          <a:xfrm>
            <a:off x="720000" y="1620000"/>
            <a:ext cx="10913040" cy="33512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8400" cy="536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Regresión Logística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88" name="" descr=""/>
          <p:cNvPicPr/>
          <p:nvPr/>
        </p:nvPicPr>
        <p:blipFill>
          <a:blip r:embed="rId1"/>
          <a:stretch/>
        </p:blipFill>
        <p:spPr>
          <a:xfrm>
            <a:off x="2705760" y="1080000"/>
            <a:ext cx="6293880" cy="4910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8400" cy="536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Regresión Logística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90" name="PlaceHolder 2"/>
          <p:cNvSpPr>
            <a:spLocks noGrp="1"/>
          </p:cNvSpPr>
          <p:nvPr>
            <p:ph/>
          </p:nvPr>
        </p:nvSpPr>
        <p:spPr>
          <a:xfrm>
            <a:off x="3718080" y="1800000"/>
            <a:ext cx="7981560" cy="3419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1" lang="es-ES" sz="2400" spc="-1" strike="noStrike">
                <a:latin typeface="Calibri"/>
              </a:rPr>
              <a:t> </a:t>
            </a:r>
            <a:r>
              <a:rPr b="1" lang="es-ES" sz="2400" spc="-1" strike="noStrike">
                <a:latin typeface="Calibri"/>
              </a:rPr>
              <a:t>Ventajas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2000" spc="-1" strike="noStrike">
              <a:latin typeface="Arial"/>
            </a:endParaRPr>
          </a:p>
          <a:p>
            <a:pPr marL="450360" indent="-17964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"/>
              <a:tabLst>
                <a:tab algn="l" pos="450360"/>
              </a:tabLst>
            </a:pPr>
            <a:r>
              <a:rPr b="0" lang="es-ES" sz="2000" spc="-1" strike="noStrike">
                <a:latin typeface="Calibri"/>
              </a:rPr>
              <a:t>Fácil de implementar e interpretar.</a:t>
            </a:r>
            <a:endParaRPr b="0" lang="en-US" sz="2000" spc="-1" strike="noStrike">
              <a:latin typeface="Arial"/>
            </a:endParaRPr>
          </a:p>
          <a:p>
            <a:pPr marL="450360" indent="-17964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"/>
              <a:tabLst>
                <a:tab algn="l" pos="450360"/>
              </a:tabLst>
            </a:pPr>
            <a:r>
              <a:rPr b="0" lang="es-ES" sz="2000" spc="-1" strike="noStrike">
                <a:latin typeface="Calibri"/>
              </a:rPr>
              <a:t>No requiere supuestos tan estrictos como la regresión lineal.</a:t>
            </a:r>
            <a:endParaRPr b="0" lang="en-US" sz="2000" spc="-1" strike="noStrike">
              <a:latin typeface="Arial"/>
            </a:endParaRPr>
          </a:p>
          <a:p>
            <a:pPr marL="450360" indent="-17964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"/>
              <a:tabLst>
                <a:tab algn="l" pos="450360"/>
              </a:tabLst>
            </a:pPr>
            <a:r>
              <a:rPr b="0" lang="es-ES" sz="2000" spc="-1" strike="noStrike">
                <a:latin typeface="Calibri"/>
              </a:rPr>
              <a:t>Produce directamente probabilidades interpretables.</a:t>
            </a:r>
            <a:endParaRPr b="0" lang="en-US" sz="2000" spc="-1" strike="noStrike">
              <a:latin typeface="Arial"/>
            </a:endParaRPr>
          </a:p>
          <a:p>
            <a:pPr marL="450360" indent="-17964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"/>
              <a:tabLst>
                <a:tab algn="l" pos="450360"/>
              </a:tabLst>
            </a:pPr>
            <a:r>
              <a:rPr b="0" lang="es-ES" sz="2000" spc="-1" strike="noStrike">
                <a:latin typeface="Calibri"/>
              </a:rPr>
              <a:t>Se puede extender a clasificación multiclase (softmax, regresión logística multinomial).</a:t>
            </a:r>
            <a:endParaRPr b="0" lang="en-US" sz="2000" spc="-1" strike="noStrike">
              <a:latin typeface="Arial"/>
            </a:endParaRPr>
          </a:p>
        </p:txBody>
      </p:sp>
      <p:pic>
        <p:nvPicPr>
          <p:cNvPr id="191" name="" descr=""/>
          <p:cNvPicPr/>
          <p:nvPr/>
        </p:nvPicPr>
        <p:blipFill>
          <a:blip r:embed="rId1"/>
          <a:stretch/>
        </p:blipFill>
        <p:spPr>
          <a:xfrm>
            <a:off x="720360" y="2340360"/>
            <a:ext cx="2159280" cy="2159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8400" cy="536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Regresión Logística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93" name="PlaceHolder 2"/>
          <p:cNvSpPr>
            <a:spLocks noGrp="1"/>
          </p:cNvSpPr>
          <p:nvPr>
            <p:ph/>
          </p:nvPr>
        </p:nvSpPr>
        <p:spPr>
          <a:xfrm>
            <a:off x="3780000" y="1980000"/>
            <a:ext cx="7981560" cy="2475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1" lang="en-US" sz="2400" spc="-1" strike="noStrike">
                <a:latin typeface="Arial"/>
              </a:rPr>
              <a:t> </a:t>
            </a:r>
            <a:r>
              <a:rPr b="1" lang="es-ES" sz="2400" spc="-1" strike="noStrike">
                <a:latin typeface="Calibri"/>
              </a:rPr>
              <a:t>Desventajas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2000" spc="-1" strike="noStrike">
              <a:latin typeface="Arial"/>
            </a:endParaRPr>
          </a:p>
          <a:p>
            <a:pPr marL="450360" indent="-179640">
              <a:lnSpc>
                <a:spcPct val="115000"/>
              </a:lnSpc>
              <a:spcAft>
                <a:spcPts val="1236"/>
              </a:spcAft>
              <a:buNone/>
              <a:tabLst>
                <a:tab algn="l" pos="0"/>
              </a:tabLst>
            </a:pPr>
            <a:r>
              <a:rPr b="0" lang="es-ES" sz="2000" spc="-1" strike="noStrike">
                <a:latin typeface="Calibri"/>
              </a:rPr>
              <a:t>Solo modela relaciones lineales en el logit.</a:t>
            </a:r>
            <a:endParaRPr b="0" lang="en-US" sz="2000" spc="-1" strike="noStrike">
              <a:latin typeface="Arial"/>
            </a:endParaRPr>
          </a:p>
          <a:p>
            <a:pPr marL="450360" indent="-179640">
              <a:lnSpc>
                <a:spcPct val="115000"/>
              </a:lnSpc>
              <a:spcAft>
                <a:spcPts val="1236"/>
              </a:spcAft>
              <a:buNone/>
              <a:tabLst>
                <a:tab algn="l" pos="0"/>
              </a:tabLst>
            </a:pPr>
            <a:r>
              <a:rPr b="0" lang="es-ES" sz="2000" spc="-1" strike="noStrike">
                <a:latin typeface="Calibri"/>
              </a:rPr>
              <a:t>Menos eficaz en relaciones no lineales (aunque puede extenderse con interacciones o polinomios).</a:t>
            </a:r>
            <a:endParaRPr b="0" lang="en-US" sz="2000" spc="-1" strike="noStrike">
              <a:latin typeface="Arial"/>
            </a:endParaRPr>
          </a:p>
          <a:p>
            <a:pPr marL="450360" indent="-179640">
              <a:lnSpc>
                <a:spcPct val="115000"/>
              </a:lnSpc>
              <a:spcAft>
                <a:spcPts val="1236"/>
              </a:spcAft>
              <a:buNone/>
              <a:tabLst>
                <a:tab algn="l" pos="0"/>
              </a:tabLst>
            </a:pPr>
            <a:r>
              <a:rPr b="0" lang="es-ES" sz="2000" spc="-1" strike="noStrike">
                <a:latin typeface="Calibri"/>
              </a:rPr>
              <a:t>Sensible a outliers y a variables altamente correlacionadas.</a:t>
            </a:r>
            <a:endParaRPr b="0" lang="en-US" sz="2000" spc="-1" strike="noStrike">
              <a:latin typeface="Arial"/>
            </a:endParaRPr>
          </a:p>
        </p:txBody>
      </p:sp>
      <p:pic>
        <p:nvPicPr>
          <p:cNvPr id="194" name="" descr=""/>
          <p:cNvPicPr/>
          <p:nvPr/>
        </p:nvPicPr>
        <p:blipFill>
          <a:blip r:embed="rId1"/>
          <a:stretch/>
        </p:blipFill>
        <p:spPr>
          <a:xfrm>
            <a:off x="671760" y="2160360"/>
            <a:ext cx="2207880" cy="2159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8400" cy="536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Regresión Logística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96" name="" descr=""/>
          <p:cNvPicPr/>
          <p:nvPr/>
        </p:nvPicPr>
        <p:blipFill>
          <a:blip r:embed="rId1"/>
          <a:srcRect l="0" t="0" r="0" b="12561"/>
          <a:stretch/>
        </p:blipFill>
        <p:spPr>
          <a:xfrm>
            <a:off x="2520000" y="1080000"/>
            <a:ext cx="7919640" cy="50086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8400" cy="536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Regresión Logística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98" name="" descr=""/>
          <p:cNvPicPr/>
          <p:nvPr/>
        </p:nvPicPr>
        <p:blipFill>
          <a:blip r:embed="rId1"/>
          <a:stretch/>
        </p:blipFill>
        <p:spPr>
          <a:xfrm>
            <a:off x="790560" y="1314000"/>
            <a:ext cx="10613880" cy="43398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8400" cy="536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Regresión Logística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200" name="" descr=""/>
          <p:cNvPicPr/>
          <p:nvPr/>
        </p:nvPicPr>
        <p:blipFill>
          <a:blip r:embed="rId1"/>
          <a:stretch/>
        </p:blipFill>
        <p:spPr>
          <a:xfrm>
            <a:off x="3240000" y="1069560"/>
            <a:ext cx="6159600" cy="4999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8400" cy="536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Regresión Logística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202" name="" descr=""/>
          <p:cNvPicPr/>
          <p:nvPr/>
        </p:nvPicPr>
        <p:blipFill>
          <a:blip r:embed="rId1"/>
          <a:stretch/>
        </p:blipFill>
        <p:spPr>
          <a:xfrm>
            <a:off x="3600000" y="1098720"/>
            <a:ext cx="5039640" cy="4950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8400" cy="536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Regresión Logística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204" name="" descr=""/>
          <p:cNvPicPr/>
          <p:nvPr/>
        </p:nvPicPr>
        <p:blipFill>
          <a:blip r:embed="rId1"/>
          <a:stretch/>
        </p:blipFill>
        <p:spPr>
          <a:xfrm>
            <a:off x="3150720" y="901800"/>
            <a:ext cx="5308920" cy="51314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8400" cy="536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Regresión Logística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206" name="" descr=""/>
          <p:cNvPicPr/>
          <p:nvPr/>
        </p:nvPicPr>
        <p:blipFill>
          <a:blip r:embed="rId1"/>
          <a:stretch/>
        </p:blipFill>
        <p:spPr>
          <a:xfrm>
            <a:off x="2700000" y="1080000"/>
            <a:ext cx="7019640" cy="49694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8400" cy="536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Regresión Logística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208" name="" descr=""/>
          <p:cNvPicPr/>
          <p:nvPr/>
        </p:nvPicPr>
        <p:blipFill>
          <a:blip r:embed="rId1"/>
          <a:stretch/>
        </p:blipFill>
        <p:spPr>
          <a:xfrm>
            <a:off x="720000" y="1298520"/>
            <a:ext cx="5627520" cy="4246560"/>
          </a:xfrm>
          <a:prstGeom prst="rect">
            <a:avLst/>
          </a:prstGeom>
          <a:ln w="0">
            <a:noFill/>
          </a:ln>
        </p:spPr>
      </p:pic>
      <p:pic>
        <p:nvPicPr>
          <p:cNvPr id="209" name="" descr=""/>
          <p:cNvPicPr/>
          <p:nvPr/>
        </p:nvPicPr>
        <p:blipFill>
          <a:blip r:embed="rId2"/>
          <a:stretch/>
        </p:blipFill>
        <p:spPr>
          <a:xfrm>
            <a:off x="6840000" y="2360520"/>
            <a:ext cx="5018040" cy="15991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8400" cy="536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11" name="PlaceHolder 2"/>
          <p:cNvSpPr>
            <a:spLocks noGrp="1"/>
          </p:cNvSpPr>
          <p:nvPr>
            <p:ph/>
          </p:nvPr>
        </p:nvSpPr>
        <p:spPr>
          <a:xfrm>
            <a:off x="838080" y="1124640"/>
            <a:ext cx="10508400" cy="4344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8379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10 CuadroTexto"/>
          <p:cNvSpPr/>
          <p:nvPr/>
        </p:nvSpPr>
        <p:spPr>
          <a:xfrm>
            <a:off x="5150160" y="5508000"/>
            <a:ext cx="188964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s-ES" sz="2400" spc="-1" strike="noStrike">
                <a:solidFill>
                  <a:srgbClr val="ffffff"/>
                </a:solidFill>
                <a:latin typeface="Calibri"/>
                <a:ea typeface="DejaVu Sans"/>
              </a:rPr>
              <a:t>www.ceste.es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213" name="11 Imagen" descr=""/>
          <p:cNvPicPr/>
          <p:nvPr/>
        </p:nvPicPr>
        <p:blipFill>
          <a:blip r:embed="rId1"/>
          <a:stretch/>
        </p:blipFill>
        <p:spPr>
          <a:xfrm>
            <a:off x="4227480" y="2349000"/>
            <a:ext cx="3730680" cy="18187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customXml/_rels/item1.xml.rels><?xml version="1.0" encoding="UTF-8"?>
<Relationships xmlns="http://schemas.openxmlformats.org/package/2006/relationships"><Relationship Id="rId1" Type="http://schemas.openxmlformats.org/officeDocument/2006/relationships/customXmlProps" Target="itemProps1.xml"/>
</Relationships>
</file>

<file path=customXml/_rels/item2.xml.rels><?xml version="1.0" encoding="UTF-8"?>
<Relationships xmlns="http://schemas.openxmlformats.org/package/2006/relationships"><Relationship Id="rId1" Type="http://schemas.openxmlformats.org/officeDocument/2006/relationships/customXmlProps" Target="itemProps2.xml"/>
</Relationships>
</file>

<file path=customXml/_rels/item3.xml.rels><?xml version="1.0" encoding="UTF-8"?>
<Relationships xmlns="http://schemas.openxmlformats.org/package/2006/relationships"><Relationship Id="rId1" Type="http://schemas.openxmlformats.org/officeDocument/2006/relationships/customXmlProps" Target="itemProps3.xml"/>
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D61D317CF2309C4E8DA448EE42D88B65" ma:contentTypeVersion="16" ma:contentTypeDescription="Crear nuevo documento." ma:contentTypeScope="" ma:versionID="73b97258e99d47497b96ecb181da94f2">
  <xsd:schema xmlns:xsd="http://www.w3.org/2001/XMLSchema" xmlns:xs="http://www.w3.org/2001/XMLSchema" xmlns:p="http://schemas.microsoft.com/office/2006/metadata/properties" xmlns:ns2="e24c3f89-b1e2-4b5c-81e1-9b07710f5189" xmlns:ns3="ce845bb0-6f82-4cf9-8b02-3916bb6268df" targetNamespace="http://schemas.microsoft.com/office/2006/metadata/properties" ma:root="true" ma:fieldsID="47e9c207501d1d53c375c00c242f54b4" ns2:_="" ns3:_="">
    <xsd:import namespace="e24c3f89-b1e2-4b5c-81e1-9b07710f5189"/>
    <xsd:import namespace="ce845bb0-6f82-4cf9-8b02-3916bb6268d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LengthInSeconds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24c3f89-b1e2-4b5c-81e1-9b07710f518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0" nillable="true" ma:taxonomy="true" ma:internalName="lcf76f155ced4ddcb4097134ff3c332f" ma:taxonomyFieldName="MediaServiceImageTags" ma:displayName="Etiquetas de imagen" ma:readOnly="false" ma:fieldId="{5cf76f15-5ced-4ddc-b409-7134ff3c332f}" ma:taxonomyMulti="true" ma:sspId="59dbaa74-2a60-464d-988b-bba989cac70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e845bb0-6f82-4cf9-8b02-3916bb6268df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51e47c2f-83de-443c-9b77-fbf0d35e4197}" ma:internalName="TaxCatchAll" ma:showField="CatchAllData" ma:web="ce845bb0-6f82-4cf9-8b02-3916bb6268d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24c3f89-b1e2-4b5c-81e1-9b07710f5189">
      <Terms xmlns="http://schemas.microsoft.com/office/infopath/2007/PartnerControls"/>
    </lcf76f155ced4ddcb4097134ff3c332f>
    <TaxCatchAll xmlns="ce845bb0-6f82-4cf9-8b02-3916bb6268df" xsi:nil="true"/>
  </documentManagement>
</p:properties>
</file>

<file path=customXml/itemProps1.xml><?xml version="1.0" encoding="utf-8"?>
<ds:datastoreItem xmlns:ds="http://schemas.openxmlformats.org/officeDocument/2006/customXml" ds:itemID="{F27A6D2C-8CE5-46A4-ADEC-6FD7C5F7EDCC}"/>
</file>

<file path=customXml/itemProps2.xml><?xml version="1.0" encoding="utf-8"?>
<ds:datastoreItem xmlns:ds="http://schemas.openxmlformats.org/officeDocument/2006/customXml" ds:itemID="{7557D189-32A8-411C-A1FE-5D98FC6CCF4F}"/>
</file>

<file path=customXml/itemProps3.xml><?xml version="1.0" encoding="utf-8"?>
<ds:datastoreItem xmlns:ds="http://schemas.openxmlformats.org/officeDocument/2006/customXml" ds:itemID="{E8D8D8A5-1EAA-41DC-A1E3-E107219891EB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3262</TotalTime>
  <Application>LibreOffice/7.3.7.2$Linux_X86_64 LibreOffice_project/30$Build-2</Application>
  <AppVersion>15.0000</AppVersion>
  <Words>12</Words>
  <Paragraphs>4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2014-05-13T08:36:54Z</dcterms:created>
  <dc:creator>psoria</dc:creator>
  <dc:description/>
  <dc:language>es-ES</dc:language>
  <cp:lastModifiedBy/>
  <cp:lastPrinted>2018-06-15T07:54:48Z</cp:lastPrinted>
  <dcterms:modified xsi:type="dcterms:W3CDTF">2025-12-09T09:52:02Z</dcterms:modified>
  <cp:revision>642</cp:revision>
  <dc:subject/>
  <dc:title>Diapositiva 1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0x010100D61D317CF2309C4E8DA448EE42D88B65</vt:lpwstr>
  </property>
  <property fmtid="{D5CDD505-2E9C-101B-9397-08002B2CF9AE}" pid="3" name="PresentationFormat">
    <vt:lpwstr>Panorámica</vt:lpwstr>
  </property>
  <property fmtid="{D5CDD505-2E9C-101B-9397-08002B2CF9AE}" pid="4" name="Slides">
    <vt:i4>3</vt:i4>
  </property>
</Properties>
</file>