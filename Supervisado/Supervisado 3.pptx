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_rels/item3.xml.rels" ContentType="application/vnd.openxmlformats-package.relationships+xml"/>
  <Override PartName="/customXml/_rels/item2.xml.rels" ContentType="application/vnd.openxmlformats-package.relationships+xml"/>
  <Override PartName="/customXml/_rels/item1.xml.rels" ContentType="application/vnd.openxmlformats-package.relationships+xml"/>
  <Override PartName="/customXml/itemProps2.xml" ContentType="application/vnd.openxmlformats-officedocument.customXmlProperties+xml"/>
  <Override PartName="/customXml/item3.xml" ContentType="application/xml"/>
  <Override PartName="/customXml/itemProps3.xml" ContentType="application/vnd.openxmlformats-officedocument.customXml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56.png" ContentType="image/png"/>
  <Override PartName="/ppt/media/image55.png" ContentType="image/png"/>
  <Override PartName="/ppt/media/image54.png" ContentType="image/png"/>
  <Override PartName="/ppt/media/image53.png" ContentType="image/png"/>
  <Override PartName="/ppt/media/image52.png" ContentType="image/png"/>
  <Override PartName="/ppt/media/image51.png" ContentType="image/png"/>
  <Override PartName="/ppt/media/image50.png" ContentType="image/png"/>
  <Override PartName="/ppt/media/image46.png" ContentType="image/png"/>
  <Override PartName="/ppt/media/image45.png" ContentType="image/png"/>
  <Override PartName="/ppt/media/image44.png" ContentType="image/png"/>
  <Override PartName="/ppt/media/image43.png" ContentType="image/png"/>
  <Override PartName="/ppt/media/image42.png" ContentType="image/png"/>
  <Override PartName="/ppt/media/image41.png" ContentType="image/png"/>
  <Override PartName="/ppt/media/image3.jpeg" ContentType="image/jpeg"/>
  <Override PartName="/ppt/media/image40.png" ContentType="image/png"/>
  <Override PartName="/ppt/media/image33.png" ContentType="image/png"/>
  <Override PartName="/ppt/media/image39.png" ContentType="image/png"/>
  <Override PartName="/ppt/media/image9.png" ContentType="image/png"/>
  <Override PartName="/ppt/media/image15.png" ContentType="image/png"/>
  <Override PartName="/ppt/media/image20.png" ContentType="image/png"/>
  <Override PartName="/ppt/media/image57.png" ContentType="image/png"/>
  <Override PartName="/ppt/media/image21.png" ContentType="image/png"/>
  <Override PartName="/ppt/media/image58.png" ContentType="image/png"/>
  <Override PartName="/ppt/media/image22.png" ContentType="image/png"/>
  <Override PartName="/ppt/media/image59.png" ContentType="image/png"/>
  <Override PartName="/ppt/media/image23.png" ContentType="image/png"/>
  <Override PartName="/ppt/media/image60.png" ContentType="image/png"/>
  <Override PartName="/ppt/media/image24.png" ContentType="image/png"/>
  <Override PartName="/ppt/media/image61.png" ContentType="image/png"/>
  <Override PartName="/ppt/media/image62.png" ContentType="image/png"/>
  <Override PartName="/ppt/media/image26.png" ContentType="image/png"/>
  <Override PartName="/ppt/media/image63.png" ContentType="image/png"/>
  <Override PartName="/ppt/media/image64.png" ContentType="image/png"/>
  <Override PartName="/ppt/media/image77.png" ContentType="image/png"/>
  <Override PartName="/ppt/media/image65.png" ContentType="image/png"/>
  <Override PartName="/ppt/media/image76.png" ContentType="image/png"/>
  <Override PartName="/ppt/media/image75.png" ContentType="image/png"/>
  <Override PartName="/ppt/media/image74.png" ContentType="image/png"/>
  <Override PartName="/ppt/media/image73.png" ContentType="image/png"/>
  <Override PartName="/ppt/media/image72.png" ContentType="image/png"/>
  <Override PartName="/ppt/media/image71.png" ContentType="image/png"/>
  <Override PartName="/ppt/media/image29.png" ContentType="image/png"/>
  <Override PartName="/ppt/media/image69.png" ContentType="image/png"/>
  <Override PartName="/ppt/media/image32.png" ContentType="image/png"/>
  <Override PartName="/ppt/media/image70.png" ContentType="image/png"/>
  <Override PartName="/ppt/media/image28.png" ContentType="image/png"/>
  <Override PartName="/ppt/media/image68.png" ContentType="image/png"/>
  <Override PartName="/ppt/media/image31.png" ContentType="image/png"/>
  <Override PartName="/ppt/media/image67.png" ContentType="image/png"/>
  <Override PartName="/ppt/media/image30.png" ContentType="image/png"/>
  <Override PartName="/ppt/media/image66.png" ContentType="image/png"/>
  <Override PartName="/ppt/media/image25.png" ContentType="image/png"/>
  <Override PartName="/ppt/media/image2.png" ContentType="image/png"/>
  <Override PartName="/ppt/media/image14.png" ContentType="image/png"/>
  <Override PartName="/ppt/media/image27.png" ContentType="image/png"/>
  <Override PartName="/ppt/media/image16.png" ContentType="image/png"/>
  <Override PartName="/ppt/media/image4.png" ContentType="image/png"/>
  <Override PartName="/ppt/media/image34.png" ContentType="image/png"/>
  <Override PartName="/ppt/media/image17.png" ContentType="image/png"/>
  <Override PartName="/ppt/media/image5.png" ContentType="image/png"/>
  <Override PartName="/ppt/media/image35.png" ContentType="image/png"/>
  <Override PartName="/ppt/media/image10.png" ContentType="image/png"/>
  <Override PartName="/ppt/media/image47.png" ContentType="image/png"/>
  <Override PartName="/ppt/media/image18.png" ContentType="image/png"/>
  <Override PartName="/ppt/media/image6.png" ContentType="image/png"/>
  <Override PartName="/ppt/media/image36.png" ContentType="image/png"/>
  <Override PartName="/ppt/media/image11.png" ContentType="image/png"/>
  <Override PartName="/ppt/media/image48.png" ContentType="image/png"/>
  <Override PartName="/ppt/media/image19.png" ContentType="image/png"/>
  <Override PartName="/ppt/media/image7.png" ContentType="image/png"/>
  <Override PartName="/ppt/media/image37.png" ContentType="image/png"/>
  <Override PartName="/ppt/media/image12.png" ContentType="image/png"/>
  <Override PartName="/ppt/media/image49.png" ContentType="image/png"/>
  <Override PartName="/ppt/media/image8.png" ContentType="image/png"/>
  <Override PartName="/ppt/media/image38.png" ContentType="image/png"/>
  <Override PartName="/ppt/media/image1.png" ContentType="image/png"/>
  <Override PartName="/ppt/media/image13.png" ContentType="image/png"/>
  <Override PartName="/ppt/presProps.xml" ContentType="application/vnd.openxmlformats-officedocument.presentationml.presProps+xml"/>
  <Override PartName="/ppt/slides/slide56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42.xml" ContentType="application/vnd.openxmlformats-officedocument.presentationml.slide+xml"/>
  <Override PartName="/ppt/slides/slide7.xml" ContentType="application/vnd.openxmlformats-officedocument.presentationml.slide+xml"/>
  <Override PartName="/ppt/slides/slide14.xml" ContentType="application/vnd.openxmlformats-officedocument.presentationml.slide+xml"/>
  <Override PartName="/ppt/slides/slide41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60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19.xml" ContentType="application/vnd.openxmlformats-officedocument.presentationml.slide+xml"/>
  <Override PartName="/ppt/slides/slide61.xml" ContentType="application/vnd.openxmlformats-officedocument.presentationml.slide+xml"/>
  <Override PartName="/ppt/slides/slide21.xml" ContentType="application/vnd.openxmlformats-officedocument.presentationml.slide+xml"/>
  <Override PartName="/ppt/slides/slide58.xml" ContentType="application/vnd.openxmlformats-officedocument.presentationml.slide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64.xml" ContentType="application/vnd.openxmlformats-officedocument.presentationml.slide+xml"/>
  <Override PartName="/ppt/slides/slide27.xml" ContentType="application/vnd.openxmlformats-officedocument.presentationml.slide+xml"/>
  <Override PartName="/ppt/slides/slide63.xml" ContentType="application/vnd.openxmlformats-officedocument.presentationml.slide+xml"/>
  <Override PartName="/ppt/slides/slide26.xml" ContentType="application/vnd.openxmlformats-officedocument.presentationml.slide+xml"/>
  <Override PartName="/ppt/slides/slide62.xml" ContentType="application/vnd.openxmlformats-officedocument.presentationml.slide+xml"/>
  <Override PartName="/ppt/slides/slide25.xml" ContentType="application/vnd.openxmlformats-officedocument.presentationml.slide+xml"/>
  <Override PartName="/ppt/slides/slide59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slides/slide15.xml" ContentType="application/vnd.openxmlformats-officedocument.presentationml.slide+xml"/>
  <Override PartName="/ppt/slides/slide8.xml" ContentType="application/vnd.openxmlformats-officedocument.presentationml.slide+xml"/>
  <Override PartName="/ppt/slides/slide43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16.xml" ContentType="application/vnd.openxmlformats-officedocument.presentationml.slide+xml"/>
  <Override PartName="/ppt/slides/slide9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12.xml" ContentType="application/vnd.openxmlformats-officedocument.presentationml.slide+xml"/>
  <Override PartName="/ppt/slides/slide49.xml" ContentType="application/vnd.openxmlformats-officedocument.presentationml.slide+xml"/>
  <Override PartName="/ppt/slides/_rels/slide39.xml.rels" ContentType="application/vnd.openxmlformats-package.relationships+xml"/>
  <Override PartName="/ppt/slides/_rels/slide31.xml.rels" ContentType="application/vnd.openxmlformats-package.relationships+xml"/>
  <Override PartName="/ppt/slides/_rels/slide15.xml.rels" ContentType="application/vnd.openxmlformats-package.relationships+xml"/>
  <Override PartName="/ppt/slides/_rels/slide24.xml.rels" ContentType="application/vnd.openxmlformats-package.relationships+xml"/>
  <Override PartName="/ppt/slides/_rels/slide58.xml.rels" ContentType="application/vnd.openxmlformats-package.relationships+xml"/>
  <Override PartName="/ppt/slides/_rels/slide13.xml.rels" ContentType="application/vnd.openxmlformats-package.relationships+xml"/>
  <Override PartName="/ppt/slides/_rels/slide27.xml.rels" ContentType="application/vnd.openxmlformats-package.relationships+xml"/>
  <Override PartName="/ppt/slides/_rels/slide36.xml.rels" ContentType="application/vnd.openxmlformats-package.relationships+xml"/>
  <Override PartName="/ppt/slides/_rels/slide43.xml.rels" ContentType="application/vnd.openxmlformats-package.relationships+xml"/>
  <Override PartName="/ppt/slides/_rels/slide8.xml.rels" ContentType="application/vnd.openxmlformats-package.relationships+xml"/>
  <Override PartName="/ppt/slides/_rels/slide2.xml.rels" ContentType="application/vnd.openxmlformats-package.relationships+xml"/>
  <Override PartName="/ppt/slides/_rels/slide21.xml.rels" ContentType="application/vnd.openxmlformats-package.relationships+xml"/>
  <Override PartName="/ppt/slides/_rels/slide17.xml.rels" ContentType="application/vnd.openxmlformats-package.relationships+xml"/>
  <Override PartName="/ppt/slides/_rels/slide11.xml.rels" ContentType="application/vnd.openxmlformats-package.relationships+xml"/>
  <Override PartName="/ppt/slides/_rels/slide26.xml.rels" ContentType="application/vnd.openxmlformats-package.relationships+xml"/>
  <Override PartName="/ppt/slides/_rels/slide12.xml.rels" ContentType="application/vnd.openxmlformats-package.relationships+xml"/>
  <Override PartName="/ppt/slides/_rels/slide48.xml.rels" ContentType="application/vnd.openxmlformats-package.relationships+xml"/>
  <Override PartName="/ppt/slides/_rels/slide64.xml.rels" ContentType="application/vnd.openxmlformats-package.relationships+xml"/>
  <Override PartName="/ppt/slides/_rels/slide5.xml.rels" ContentType="application/vnd.openxmlformats-package.relationships+xml"/>
  <Override PartName="/ppt/slides/_rels/slide40.xml.rels" ContentType="application/vnd.openxmlformats-package.relationships+xml"/>
  <Override PartName="/ppt/slides/_rels/slide55.xml.rels" ContentType="application/vnd.openxmlformats-package.relationships+xml"/>
  <Override PartName="/ppt/slides/_rels/slide35.xml.rels" ContentType="application/vnd.openxmlformats-package.relationships+xml"/>
  <Override PartName="/ppt/slides/_rels/slide51.xml.rels" ContentType="application/vnd.openxmlformats-package.relationships+xml"/>
  <Override PartName="/ppt/slides/_rels/slide42.xml.rels" ContentType="application/vnd.openxmlformats-package.relationships+xml"/>
  <Override PartName="/ppt/slides/_rels/slide7.xml.rels" ContentType="application/vnd.openxmlformats-package.relationships+xml"/>
  <Override PartName="/ppt/slides/_rels/slide32.xml.rels" ContentType="application/vnd.openxmlformats-package.relationships+xml"/>
  <Override PartName="/ppt/slides/_rels/slide1.xml.rels" ContentType="application/vnd.openxmlformats-package.relationships+xml"/>
  <Override PartName="/ppt/slides/_rels/slide54.xml.rels" ContentType="application/vnd.openxmlformats-package.relationships+xml"/>
  <Override PartName="/ppt/slides/_rels/slide63.xml.rels" ContentType="application/vnd.openxmlformats-package.relationships+xml"/>
  <Override PartName="/ppt/slides/_rels/slide47.xml.rels" ContentType="application/vnd.openxmlformats-package.relationships+xml"/>
  <Override PartName="/ppt/slides/_rels/slide4.xml.rels" ContentType="application/vnd.openxmlformats-package.relationships+xml"/>
  <Override PartName="/ppt/slides/_rels/slide41.xml.rels" ContentType="application/vnd.openxmlformats-package.relationships+xml"/>
  <Override PartName="/ppt/slides/_rels/slide6.xml.rels" ContentType="application/vnd.openxmlformats-package.relationships+xml"/>
  <Override PartName="/ppt/slides/_rels/slide34.xml.rels" ContentType="application/vnd.openxmlformats-package.relationships+xml"/>
  <Override PartName="/ppt/slides/_rels/slide50.xml.rels" ContentType="application/vnd.openxmlformats-package.relationships+xml"/>
  <Override PartName="/ppt/slides/_rels/slide49.xml.rels" ContentType="application/vnd.openxmlformats-package.relationships+xml"/>
  <Override PartName="/ppt/slides/_rels/slide53.xml.rels" ContentType="application/vnd.openxmlformats-package.relationships+xml"/>
  <Override PartName="/ppt/slides/_rels/slide62.xml.rels" ContentType="application/vnd.openxmlformats-package.relationships+xml"/>
  <Override PartName="/ppt/slides/_rels/slide46.xml.rels" ContentType="application/vnd.openxmlformats-package.relationships+xml"/>
  <Override PartName="/ppt/slides/_rels/slide52.xml.rels" ContentType="application/vnd.openxmlformats-package.relationships+xml"/>
  <Override PartName="/ppt/slides/_rels/slide57.xml.rels" ContentType="application/vnd.openxmlformats-package.relationships+xml"/>
  <Override PartName="/ppt/slides/_rels/slide61.xml.rels" ContentType="application/vnd.openxmlformats-package.relationships+xml"/>
  <Override PartName="/ppt/slides/_rels/slide3.xml.rels" ContentType="application/vnd.openxmlformats-package.relationships+xml"/>
  <Override PartName="/ppt/slides/_rels/slide28.xml.rels" ContentType="application/vnd.openxmlformats-package.relationships+xml"/>
  <Override PartName="/ppt/slides/_rels/slide18.xml.rels" ContentType="application/vnd.openxmlformats-package.relationships+xml"/>
  <Override PartName="/ppt/slides/_rels/slide22.xml.rels" ContentType="application/vnd.openxmlformats-package.relationships+xml"/>
  <Override PartName="/ppt/slides/_rels/slide9.xml.rels" ContentType="application/vnd.openxmlformats-package.relationships+xml"/>
  <Override PartName="/ppt/slides/_rels/slide44.xml.rels" ContentType="application/vnd.openxmlformats-package.relationships+xml"/>
  <Override PartName="/ppt/slides/_rels/slide37.xml.rels" ContentType="application/vnd.openxmlformats-package.relationships+xml"/>
  <Override PartName="/ppt/slides/_rels/slide56.xml.rels" ContentType="application/vnd.openxmlformats-package.relationships+xml"/>
  <Override PartName="/ppt/slides/_rels/slide60.xml.rels" ContentType="application/vnd.openxmlformats-package.relationships+xml"/>
  <Override PartName="/ppt/slides/_rels/slide14.xml.rels" ContentType="application/vnd.openxmlformats-package.relationships+xml"/>
  <Override PartName="/ppt/slides/_rels/slide33.xml.rels" ContentType="application/vnd.openxmlformats-package.relationships+xml"/>
  <Override PartName="/ppt/slides/_rels/slide29.xml.rels" ContentType="application/vnd.openxmlformats-package.relationships+xml"/>
  <Override PartName="/ppt/slides/_rels/slide19.xml.rels" ContentType="application/vnd.openxmlformats-package.relationships+xml"/>
  <Override PartName="/ppt/slides/_rels/slide23.xml.rels" ContentType="application/vnd.openxmlformats-package.relationships+xml"/>
  <Override PartName="/ppt/slides/_rels/slide30.xml.rels" ContentType="application/vnd.openxmlformats-package.relationships+xml"/>
  <Override PartName="/ppt/slides/_rels/slide38.xml.rels" ContentType="application/vnd.openxmlformats-package.relationships+xml"/>
  <Override PartName="/ppt/slides/_rels/slide45.xml.rels" ContentType="application/vnd.openxmlformats-package.relationships+xml"/>
  <Override PartName="/ppt/slides/_rels/slide25.xml.rels" ContentType="application/vnd.openxmlformats-package.relationships+xml"/>
  <Override PartName="/ppt/slides/_rels/slide59.xml.rels" ContentType="application/vnd.openxmlformats-package.relationships+xml"/>
  <Override PartName="/ppt/slides/_rels/slide10.xml.rels" ContentType="application/vnd.openxmlformats-package.relationships+xml"/>
  <Override PartName="/ppt/slides/_rels/slide20.xml.rels" ContentType="application/vnd.openxmlformats-package.relationships+xml"/>
  <Override PartName="/ppt/slides/_rels/slide16.xml.rels" ContentType="application/vnd.openxmlformats-package.relationships+xml"/>
  <Override PartName="/ppt/slides/slide6.xml" ContentType="application/vnd.openxmlformats-officedocument.presentationml.slide+xml"/>
  <Override PartName="/ppt/slides/slide1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Pulse para editar el formato del texto de </a:t>
            </a:r>
            <a:r>
              <a:rPr b="0" lang="en-US" sz="4400" spc="-1" strike="noStrike">
                <a:latin typeface="Arial"/>
              </a:rPr>
              <a:t>título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Pulse para editar el formato de texto del esquema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Segundo nivel del esquema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Tercer nivel del esquema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Cuarto nivel del esquema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Quinto nivel del esquema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Sexto nivel del esquema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Séptimo nivel del esquema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6 Rectángulo"/>
          <p:cNvSpPr/>
          <p:nvPr/>
        </p:nvSpPr>
        <p:spPr>
          <a:xfrm>
            <a:off x="0" y="6179400"/>
            <a:ext cx="12183840" cy="6843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39" name="Picture 4" descr="http://www.ceste.es/wp-content/uploads/2016/06/CESTE-Diamante.png"/>
          <p:cNvPicPr/>
          <p:nvPr/>
        </p:nvPicPr>
        <p:blipFill>
          <a:blip r:embed="rId2"/>
          <a:stretch/>
        </p:blipFill>
        <p:spPr>
          <a:xfrm flipH="1">
            <a:off x="1687680" y="5883840"/>
            <a:ext cx="594360" cy="596520"/>
          </a:xfrm>
          <a:prstGeom prst="rect">
            <a:avLst/>
          </a:prstGeom>
          <a:ln w="0">
            <a:noFill/>
          </a:ln>
        </p:spPr>
      </p:pic>
      <p:pic>
        <p:nvPicPr>
          <p:cNvPr id="40" name="8 Imagen" descr="CESTE blanco estrella roja sin coletilla.png"/>
          <p:cNvPicPr/>
          <p:nvPr/>
        </p:nvPicPr>
        <p:blipFill>
          <a:blip r:embed="rId3"/>
          <a:stretch/>
        </p:blipFill>
        <p:spPr>
          <a:xfrm>
            <a:off x="9936360" y="6184800"/>
            <a:ext cx="1359360" cy="644400"/>
          </a:xfrm>
          <a:prstGeom prst="rect">
            <a:avLst/>
          </a:prstGeom>
          <a:ln w="0">
            <a:noFill/>
          </a:ln>
        </p:spPr>
      </p:pic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Pulse para editar el formato del texto de </a:t>
            </a:r>
            <a:r>
              <a:rPr b="0" lang="en-US" sz="4400" spc="-1" strike="noStrike">
                <a:latin typeface="Arial"/>
              </a:rPr>
              <a:t>título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Pulse para editar el formato de texto del esquema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Segundo nivel del esquema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Tercer nivel del esquema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Cuarto nivel del esquema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Quinto nivel del esquema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Sexto nivel del esquema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Séptimo nivel del esquema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1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1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1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png"/><Relationship Id="rId3" Type="http://schemas.openxmlformats.org/officeDocument/2006/relationships/slideLayout" Target="../slideLayouts/slideLayout1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37.png"/><Relationship Id="rId3" Type="http://schemas.openxmlformats.org/officeDocument/2006/relationships/slideLayout" Target="../slideLayouts/slideLayout13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slideLayout" Target="../slideLayouts/slideLayout13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slideLayout" Target="../slideLayouts/slideLayout13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slideLayout" Target="../slideLayouts/slideLayout1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slideLayout" Target="../slideLayouts/slideLayout13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42.png"/><Relationship Id="rId2" Type="http://schemas.openxmlformats.org/officeDocument/2006/relationships/image" Target="../media/image43.png"/><Relationship Id="rId3" Type="http://schemas.openxmlformats.org/officeDocument/2006/relationships/slideLayout" Target="../slideLayouts/slideLayout13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44.png"/><Relationship Id="rId2" Type="http://schemas.openxmlformats.org/officeDocument/2006/relationships/image" Target="../media/image45.png"/><Relationship Id="rId3" Type="http://schemas.openxmlformats.org/officeDocument/2006/relationships/slideLayout" Target="../slideLayouts/slideLayout13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slideLayout" Target="../slideLayouts/slideLayout13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47.png"/><Relationship Id="rId2" Type="http://schemas.openxmlformats.org/officeDocument/2006/relationships/slideLayout" Target="../slideLayouts/slideLayout13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slideLayout" Target="../slideLayouts/slideLayout13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49.png"/><Relationship Id="rId2" Type="http://schemas.openxmlformats.org/officeDocument/2006/relationships/slideLayout" Target="../slideLayouts/slideLayout13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50.png"/><Relationship Id="rId2" Type="http://schemas.openxmlformats.org/officeDocument/2006/relationships/slideLayout" Target="../slideLayouts/slideLayout13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51.png"/><Relationship Id="rId2" Type="http://schemas.openxmlformats.org/officeDocument/2006/relationships/slideLayout" Target="../slideLayouts/slideLayout1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52.png"/><Relationship Id="rId2" Type="http://schemas.openxmlformats.org/officeDocument/2006/relationships/slideLayout" Target="../slideLayouts/slideLayout13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53.png"/><Relationship Id="rId2" Type="http://schemas.openxmlformats.org/officeDocument/2006/relationships/slideLayout" Target="../slideLayouts/slideLayout13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54.png"/><Relationship Id="rId2" Type="http://schemas.openxmlformats.org/officeDocument/2006/relationships/slideLayout" Target="../slideLayouts/slideLayout13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55.png"/><Relationship Id="rId2" Type="http://schemas.openxmlformats.org/officeDocument/2006/relationships/slideLayout" Target="../slideLayouts/slideLayout13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56.png"/><Relationship Id="rId2" Type="http://schemas.openxmlformats.org/officeDocument/2006/relationships/image" Target="../media/image57.png"/><Relationship Id="rId3" Type="http://schemas.openxmlformats.org/officeDocument/2006/relationships/slideLayout" Target="../slideLayouts/slideLayout13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58.png"/><Relationship Id="rId2" Type="http://schemas.openxmlformats.org/officeDocument/2006/relationships/slideLayout" Target="../slideLayouts/slideLayout13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59.png"/><Relationship Id="rId2" Type="http://schemas.openxmlformats.org/officeDocument/2006/relationships/image" Target="../media/image60.png"/><Relationship Id="rId3" Type="http://schemas.openxmlformats.org/officeDocument/2006/relationships/slideLayout" Target="../slideLayouts/slideLayout13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61.png"/><Relationship Id="rId2" Type="http://schemas.openxmlformats.org/officeDocument/2006/relationships/image" Target="../media/image62.png"/><Relationship Id="rId3" Type="http://schemas.openxmlformats.org/officeDocument/2006/relationships/slideLayout" Target="../slideLayouts/slideLayout13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63.png"/><Relationship Id="rId2" Type="http://schemas.openxmlformats.org/officeDocument/2006/relationships/slideLayout" Target="../slideLayouts/slideLayout13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64.png"/><Relationship Id="rId2" Type="http://schemas.openxmlformats.org/officeDocument/2006/relationships/slideLayout" Target="../slideLayouts/slideLayout1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65.png"/><Relationship Id="rId2" Type="http://schemas.openxmlformats.org/officeDocument/2006/relationships/slideLayout" Target="../slideLayouts/slideLayout13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66.png"/><Relationship Id="rId2" Type="http://schemas.openxmlformats.org/officeDocument/2006/relationships/slideLayout" Target="../slideLayouts/slideLayout13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67.png"/><Relationship Id="rId2" Type="http://schemas.openxmlformats.org/officeDocument/2006/relationships/slideLayout" Target="../slideLayouts/slideLayout13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68.png"/><Relationship Id="rId2" Type="http://schemas.openxmlformats.org/officeDocument/2006/relationships/slideLayout" Target="../slideLayouts/slideLayout13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69.png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slideLayout" Target="../slideLayouts/slideLayout13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73.png"/><Relationship Id="rId2" Type="http://schemas.openxmlformats.org/officeDocument/2006/relationships/slideLayout" Target="../slideLayouts/slideLayout13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74.png"/><Relationship Id="rId2" Type="http://schemas.openxmlformats.org/officeDocument/2006/relationships/slideLayout" Target="../slideLayouts/slideLayout13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75.png"/><Relationship Id="rId2" Type="http://schemas.openxmlformats.org/officeDocument/2006/relationships/slideLayout" Target="../slideLayouts/slideLayout13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76.png"/><Relationship Id="rId2" Type="http://schemas.openxmlformats.org/officeDocument/2006/relationships/slideLayout" Target="../slideLayouts/slideLayout13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image" Target="../media/image77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Imagen 3" descr="Una mujer en frente de laptop&#10;&#10;Descripción generada automáticamente"/>
          <p:cNvPicPr/>
          <p:nvPr/>
        </p:nvPicPr>
        <p:blipFill>
          <a:blip r:embed="rId1"/>
          <a:srcRect l="1742" t="12716" r="9979" b="12799"/>
          <a:stretch/>
        </p:blipFill>
        <p:spPr>
          <a:xfrm>
            <a:off x="0" y="0"/>
            <a:ext cx="12183840" cy="6849720"/>
          </a:xfrm>
          <a:prstGeom prst="rect">
            <a:avLst/>
          </a:prstGeom>
          <a:ln w="0">
            <a:noFill/>
          </a:ln>
        </p:spPr>
      </p:pic>
      <p:sp>
        <p:nvSpPr>
          <p:cNvPr id="80" name="7 Rectángulo 1"/>
          <p:cNvSpPr/>
          <p:nvPr/>
        </p:nvSpPr>
        <p:spPr>
          <a:xfrm>
            <a:off x="852840" y="6682680"/>
            <a:ext cx="11383920" cy="34452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81" name="Picture 1" descr="http://www.ceste.es/wp-content/uploads/2016/06/CESTE-Diamante.png"/>
          <p:cNvPicPr/>
          <p:nvPr/>
        </p:nvPicPr>
        <p:blipFill>
          <a:blip r:embed="rId2"/>
          <a:stretch/>
        </p:blipFill>
        <p:spPr>
          <a:xfrm flipH="1">
            <a:off x="559800" y="6582960"/>
            <a:ext cx="594360" cy="596520"/>
          </a:xfrm>
          <a:prstGeom prst="rect">
            <a:avLst/>
          </a:prstGeom>
          <a:ln w="0">
            <a:noFill/>
          </a:ln>
        </p:spPr>
      </p:pic>
      <p:sp>
        <p:nvSpPr>
          <p:cNvPr id="82" name="7 Rectángulo 2"/>
          <p:cNvSpPr/>
          <p:nvPr/>
        </p:nvSpPr>
        <p:spPr>
          <a:xfrm>
            <a:off x="-96840" y="-99360"/>
            <a:ext cx="11480760" cy="27972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83" name="Picture 2" descr="http://www.ceste.es/wp-content/uploads/2016/06/CESTE-Diamante.png"/>
          <p:cNvPicPr/>
          <p:nvPr/>
        </p:nvPicPr>
        <p:blipFill>
          <a:blip r:embed="rId3"/>
          <a:stretch/>
        </p:blipFill>
        <p:spPr>
          <a:xfrm flipH="1">
            <a:off x="11099160" y="-316440"/>
            <a:ext cx="594360" cy="596520"/>
          </a:xfrm>
          <a:prstGeom prst="rect">
            <a:avLst/>
          </a:prstGeom>
          <a:ln w="0">
            <a:noFill/>
          </a:ln>
        </p:spPr>
      </p:pic>
      <p:grpSp>
        <p:nvGrpSpPr>
          <p:cNvPr id="84" name="Grupo 1"/>
          <p:cNvGrpSpPr/>
          <p:nvPr/>
        </p:nvGrpSpPr>
        <p:grpSpPr>
          <a:xfrm>
            <a:off x="504000" y="405720"/>
            <a:ext cx="5248080" cy="2398680"/>
            <a:chOff x="504000" y="405720"/>
            <a:chExt cx="5248080" cy="2398680"/>
          </a:xfrm>
        </p:grpSpPr>
        <p:sp>
          <p:nvSpPr>
            <p:cNvPr id="85" name="12 Rectángulo 1"/>
            <p:cNvSpPr/>
            <p:nvPr/>
          </p:nvSpPr>
          <p:spPr>
            <a:xfrm>
              <a:off x="504000" y="405720"/>
              <a:ext cx="4846680" cy="2398680"/>
            </a:xfrm>
            <a:prstGeom prst="rect">
              <a:avLst/>
            </a:prstGeom>
            <a:solidFill>
              <a:srgbClr val="003594">
                <a:alpha val="46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86" name="Grupo 2"/>
            <p:cNvGrpSpPr/>
            <p:nvPr/>
          </p:nvGrpSpPr>
          <p:grpSpPr>
            <a:xfrm>
              <a:off x="734760" y="980640"/>
              <a:ext cx="5017320" cy="1823760"/>
              <a:chOff x="734760" y="980640"/>
              <a:chExt cx="5017320" cy="1823760"/>
            </a:xfrm>
          </p:grpSpPr>
          <p:sp>
            <p:nvSpPr>
              <p:cNvPr id="87" name="2 Subtítulo 1"/>
              <p:cNvSpPr/>
              <p:nvPr/>
            </p:nvSpPr>
            <p:spPr>
              <a:xfrm>
                <a:off x="778680" y="2277000"/>
                <a:ext cx="4973400" cy="5274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es-ES" sz="1800" spc="-1" strike="noStrike">
                    <a:solidFill>
                      <a:srgbClr val="ffffff"/>
                    </a:solidFill>
                    <a:latin typeface="Calibri"/>
                    <a:ea typeface="DejaVu Sans"/>
                  </a:rPr>
                  <a:t>Aprendizaje supervisado</a:t>
                </a:r>
                <a:endParaRPr b="0" lang="en-US" sz="1800" spc="-1" strike="noStrike">
                  <a:latin typeface="Arial"/>
                </a:endParaRPr>
              </a:p>
            </p:txBody>
          </p:sp>
          <p:sp>
            <p:nvSpPr>
              <p:cNvPr id="88" name="1 Título 1"/>
              <p:cNvSpPr/>
              <p:nvPr/>
            </p:nvSpPr>
            <p:spPr>
              <a:xfrm>
                <a:off x="734760" y="980640"/>
                <a:ext cx="4009320" cy="13147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  <a:buNone/>
                </a:pPr>
                <a:endParaRPr b="0" lang="en-US" sz="1800" spc="-1" strike="noStrike">
                  <a:latin typeface="Arial"/>
                </a:endParaRPr>
              </a:p>
              <a:p>
                <a:pPr>
                  <a:lnSpc>
                    <a:spcPct val="100000"/>
                  </a:lnSpc>
                  <a:buNone/>
                </a:pPr>
                <a:endParaRPr b="0" lang="en-US" sz="1800" spc="-1" strike="noStrike">
                  <a:latin typeface="Arial"/>
                </a:endParaRPr>
              </a:p>
              <a:p>
                <a:pPr>
                  <a:lnSpc>
                    <a:spcPct val="100000"/>
                  </a:lnSpc>
                  <a:buNone/>
                </a:pPr>
                <a:r>
                  <a:rPr b="1" lang="es-ES" sz="3500" spc="-1" strike="noStrike">
                    <a:solidFill>
                      <a:srgbClr val="ffffff"/>
                    </a:solidFill>
                    <a:latin typeface="Calibri"/>
                    <a:ea typeface="DejaVu Sans"/>
                  </a:rPr>
                  <a:t>Formación IA</a:t>
                </a:r>
                <a:endParaRPr b="0" lang="en-US" sz="3500" spc="-1" strike="noStrike">
                  <a:latin typeface="Arial"/>
                </a:endParaRPr>
              </a:p>
            </p:txBody>
          </p:sp>
        </p:grpSp>
      </p:grpSp>
      <p:pic>
        <p:nvPicPr>
          <p:cNvPr id="89" name="Imagen 1" descr="Logotipo&#10;&#10;El contenido generado por IA puede ser incorrecto."/>
          <p:cNvPicPr/>
          <p:nvPr/>
        </p:nvPicPr>
        <p:blipFill>
          <a:blip r:embed="rId4"/>
          <a:stretch/>
        </p:blipFill>
        <p:spPr>
          <a:xfrm>
            <a:off x="3575880" y="532440"/>
            <a:ext cx="1645920" cy="799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Lineal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/>
          </p:nvPr>
        </p:nvSpPr>
        <p:spPr>
          <a:xfrm>
            <a:off x="838080" y="1124640"/>
            <a:ext cx="10507320" cy="1213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 </a:t>
            </a:r>
            <a:r>
              <a:rPr b="0" lang="es-ES" sz="2400" spc="-1" strike="noStrike">
                <a:latin typeface="Calibri"/>
              </a:rPr>
              <a:t>Su objetivo es explicar la relación entre una variable dependiente (respuesta) y una o varias variables independientes (predictoras), ajustando una recta (o hiperplano en más dimensiones) que mejor represente esa relación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</p:txBody>
      </p:sp>
      <p:pic>
        <p:nvPicPr>
          <p:cNvPr id="92" name="" descr=""/>
          <p:cNvPicPr/>
          <p:nvPr/>
        </p:nvPicPr>
        <p:blipFill>
          <a:blip r:embed="rId1"/>
          <a:stretch/>
        </p:blipFill>
        <p:spPr>
          <a:xfrm>
            <a:off x="3240000" y="2720160"/>
            <a:ext cx="5748840" cy="3218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Lineal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94" name="" descr=""/>
          <p:cNvPicPr/>
          <p:nvPr/>
        </p:nvPicPr>
        <p:blipFill>
          <a:blip r:embed="rId1"/>
          <a:srcRect l="0" t="15213" r="11181" b="19265"/>
          <a:stretch/>
        </p:blipFill>
        <p:spPr>
          <a:xfrm>
            <a:off x="2160000" y="1260000"/>
            <a:ext cx="8457840" cy="4678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Lineal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96" name="" descr=""/>
          <p:cNvPicPr/>
          <p:nvPr/>
        </p:nvPicPr>
        <p:blipFill>
          <a:blip r:embed="rId1"/>
          <a:stretch/>
        </p:blipFill>
        <p:spPr>
          <a:xfrm>
            <a:off x="3420000" y="858240"/>
            <a:ext cx="5963040" cy="5259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Lineal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98" name="" descr=""/>
          <p:cNvPicPr/>
          <p:nvPr/>
        </p:nvPicPr>
        <p:blipFill>
          <a:blip r:embed="rId1"/>
          <a:stretch/>
        </p:blipFill>
        <p:spPr>
          <a:xfrm>
            <a:off x="1980000" y="1260000"/>
            <a:ext cx="8998200" cy="4786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54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Lineal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2340000" y="1260000"/>
            <a:ext cx="7557480" cy="53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pc="-1" strike="noStrike">
                <a:solidFill>
                  <a:srgbClr val="ff0000"/>
                </a:solidFill>
                <a:latin typeface="Calibri"/>
              </a:rPr>
              <a:t>ELIMINAR VALORES NULOS ANTES DE USAR REGRESIÓN LINEAL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01" name=""/>
          <p:cNvSpPr/>
          <p:nvPr/>
        </p:nvSpPr>
        <p:spPr>
          <a:xfrm>
            <a:off x="889920" y="2160000"/>
            <a:ext cx="503748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Los algoritmos de regresión lineal fallan cuando se introducen valores nulos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02" name="" descr=""/>
          <p:cNvPicPr/>
          <p:nvPr/>
        </p:nvPicPr>
        <p:blipFill>
          <a:blip r:embed="rId1"/>
          <a:stretch/>
        </p:blipFill>
        <p:spPr>
          <a:xfrm>
            <a:off x="1260000" y="1331280"/>
            <a:ext cx="827280" cy="827280"/>
          </a:xfrm>
          <a:prstGeom prst="rect">
            <a:avLst/>
          </a:prstGeom>
          <a:ln w="0">
            <a:noFill/>
          </a:ln>
        </p:spPr>
      </p:pic>
      <p:pic>
        <p:nvPicPr>
          <p:cNvPr id="103" name="" descr=""/>
          <p:cNvPicPr/>
          <p:nvPr/>
        </p:nvPicPr>
        <p:blipFill>
          <a:blip r:embed="rId2"/>
          <a:stretch/>
        </p:blipFill>
        <p:spPr>
          <a:xfrm>
            <a:off x="7740000" y="2340000"/>
            <a:ext cx="2698560" cy="3148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54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Lineal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2340000" y="1260000"/>
            <a:ext cx="7557480" cy="53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pc="-1" strike="noStrike">
                <a:solidFill>
                  <a:srgbClr val="ff0000"/>
                </a:solidFill>
                <a:latin typeface="Calibri"/>
              </a:rPr>
              <a:t>ESCALAR LOS DATOS ANTES DE USAR REGRESIÓN LINEAL</a:t>
            </a:r>
            <a:endParaRPr b="0" lang="en-US" sz="2800" spc="-1" strike="noStrike">
              <a:latin typeface="Arial"/>
            </a:endParaRPr>
          </a:p>
        </p:txBody>
      </p:sp>
      <p:pic>
        <p:nvPicPr>
          <p:cNvPr id="106" name="" descr=""/>
          <p:cNvPicPr/>
          <p:nvPr/>
        </p:nvPicPr>
        <p:blipFill>
          <a:blip r:embed="rId1"/>
          <a:stretch/>
        </p:blipFill>
        <p:spPr>
          <a:xfrm>
            <a:off x="7094880" y="2700000"/>
            <a:ext cx="3882600" cy="3108600"/>
          </a:xfrm>
          <a:prstGeom prst="rect">
            <a:avLst/>
          </a:prstGeom>
          <a:ln w="0">
            <a:noFill/>
          </a:ln>
        </p:spPr>
      </p:pic>
      <p:sp>
        <p:nvSpPr>
          <p:cNvPr id="107" name=""/>
          <p:cNvSpPr/>
          <p:nvPr/>
        </p:nvSpPr>
        <p:spPr>
          <a:xfrm>
            <a:off x="889920" y="2160000"/>
            <a:ext cx="503748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StandardScaler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s-E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Recomendado para la mayoría de los casos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s-E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Todas la características contribuyan por igual al cálculo de la pérdida y a la penalización de la regulación, evitando que las características con rangos más grandes dominen el modelo</a:t>
            </a:r>
            <a:endParaRPr b="0" lang="en-US" sz="2000" spc="-1" strike="noStrike">
              <a:latin typeface="Arial"/>
            </a:endParaRPr>
          </a:p>
        </p:txBody>
      </p:sp>
      <p:pic>
        <p:nvPicPr>
          <p:cNvPr id="108" name="" descr=""/>
          <p:cNvPicPr/>
          <p:nvPr/>
        </p:nvPicPr>
        <p:blipFill>
          <a:blip r:embed="rId2"/>
          <a:stretch/>
        </p:blipFill>
        <p:spPr>
          <a:xfrm>
            <a:off x="1260000" y="1260000"/>
            <a:ext cx="827280" cy="827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Lineal Multiple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855720" y="1089360"/>
            <a:ext cx="10507320" cy="4343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 </a:t>
            </a:r>
            <a:r>
              <a:rPr b="0" lang="es-ES" sz="2000" spc="-1" strike="noStrike">
                <a:latin typeface="Calibri"/>
              </a:rPr>
              <a:t>Su objetivo es modelar la relación entre un conjunto de variables predictoras y una sola variable dependiente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s-ES" sz="2000" spc="-1" strike="noStrike">
                <a:latin typeface="Calibri"/>
              </a:rPr>
              <a:t> </a:t>
            </a:r>
            <a:r>
              <a:rPr b="0" lang="es-ES" sz="2000" spc="-1" strike="noStrike">
                <a:latin typeface="Calibri"/>
              </a:rPr>
              <a:t>Al incluir más variables relevantes, el modelo puede explicar una mayor proporción de la variabilidad en la variable dependiente</a:t>
            </a:r>
            <a:endParaRPr b="0" lang="en-US" sz="2000" spc="-1" strike="noStrike">
              <a:latin typeface="Arial"/>
            </a:endParaRPr>
          </a:p>
          <a:p>
            <a:pPr marL="457200" indent="-179640">
              <a:lnSpc>
                <a:spcPct val="115000"/>
              </a:lnSpc>
              <a:spcAft>
                <a:spcPts val="1236"/>
              </a:spcAft>
              <a:buClr>
                <a:srgbClr val="000000"/>
              </a:buClr>
              <a:buSzPct val="45000"/>
              <a:buFont typeface="Wingdings" charset="2"/>
              <a:buChar char=""/>
              <a:tabLst>
                <a:tab algn="l" pos="457200"/>
              </a:tabLst>
            </a:pPr>
            <a:r>
              <a:rPr b="1" lang="es-ES" sz="2000" spc="-1" strike="noStrike">
                <a:latin typeface="Calibri"/>
              </a:rPr>
              <a:t>Colinealidad</a:t>
            </a:r>
            <a:r>
              <a:rPr b="0" lang="es-ES" sz="2000" spc="-1" strike="noStrike">
                <a:latin typeface="Calibri"/>
              </a:rPr>
              <a:t>: Ocurre cuando dos o más variables predictoras están altamente correlacionadas entre sí. </a:t>
            </a:r>
            <a:endParaRPr b="0" lang="en-US" sz="2000" spc="-1" strike="noStrike">
              <a:latin typeface="Arial"/>
            </a:endParaRPr>
          </a:p>
          <a:p>
            <a:pPr marL="457200" indent="-179640">
              <a:lnSpc>
                <a:spcPct val="115000"/>
              </a:lnSpc>
              <a:spcAft>
                <a:spcPts val="1236"/>
              </a:spcAft>
              <a:buClr>
                <a:srgbClr val="000000"/>
              </a:buClr>
              <a:buSzPct val="45000"/>
              <a:buFont typeface="Wingdings" charset="2"/>
              <a:buChar char=""/>
              <a:tabLst>
                <a:tab algn="l" pos="457200"/>
              </a:tabLst>
            </a:pPr>
            <a:r>
              <a:rPr b="1" lang="es-ES" sz="2000" spc="-1" strike="noStrike">
                <a:latin typeface="Calibri"/>
              </a:rPr>
              <a:t>Selección de variables</a:t>
            </a:r>
            <a:r>
              <a:rPr b="0" lang="es-ES" sz="2000" spc="-1" strike="noStrike">
                <a:latin typeface="Calibri"/>
              </a:rPr>
              <a:t>: Elegir las variables predictoras correctas es crucial. Se deben incluir variables que sean teóricamente relevantes y que tengan una relación estadísticamente significativa con la variable dependiente.</a:t>
            </a:r>
            <a:endParaRPr b="0" lang="en-US" sz="2000" spc="-1" strike="noStrike">
              <a:latin typeface="Arial"/>
            </a:endParaRPr>
          </a:p>
        </p:txBody>
      </p:sp>
      <p:pic>
        <p:nvPicPr>
          <p:cNvPr id="111" name="" descr=""/>
          <p:cNvPicPr/>
          <p:nvPr/>
        </p:nvPicPr>
        <p:blipFill>
          <a:blip r:embed="rId1"/>
          <a:stretch/>
        </p:blipFill>
        <p:spPr>
          <a:xfrm>
            <a:off x="3600000" y="1980000"/>
            <a:ext cx="4858200" cy="583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Lineal Multiple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13" name="" descr=""/>
          <p:cNvPicPr/>
          <p:nvPr/>
        </p:nvPicPr>
        <p:blipFill>
          <a:blip r:embed="rId1"/>
          <a:stretch/>
        </p:blipFill>
        <p:spPr>
          <a:xfrm>
            <a:off x="3420000" y="902160"/>
            <a:ext cx="5038200" cy="5059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Lineal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838080" y="1124640"/>
            <a:ext cx="10507320" cy="4343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 </a:t>
            </a:r>
            <a:r>
              <a:rPr b="1" lang="es-ES" sz="2400" spc="-1" strike="noStrike">
                <a:latin typeface="Calibri"/>
                <a:ea typeface="DejaVu Sans"/>
              </a:rPr>
              <a:t>Supuestos de la regresión lineal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15000"/>
              </a:lnSpc>
              <a:spcAft>
                <a:spcPts val="1236"/>
              </a:spcAft>
              <a:buNone/>
              <a:tabLst>
                <a:tab algn="l" pos="0"/>
              </a:tabLst>
            </a:pPr>
            <a:r>
              <a:rPr b="1" lang="en-US" sz="2000" spc="-1" strike="noStrike">
                <a:latin typeface="Calibri"/>
                <a:ea typeface="DejaVu Sans"/>
              </a:rPr>
              <a:t>Linealidad</a:t>
            </a:r>
            <a:r>
              <a:rPr b="0" lang="en-US" sz="2000" spc="-1" strike="noStrike">
                <a:latin typeface="Calibri"/>
                <a:ea typeface="DejaVu Sans"/>
              </a:rPr>
              <a:t>: la relación entre variables es lineal.</a:t>
            </a: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15000"/>
              </a:lnSpc>
              <a:spcAft>
                <a:spcPts val="1236"/>
              </a:spcAft>
              <a:buNone/>
              <a:tabLst>
                <a:tab algn="l" pos="0"/>
              </a:tabLst>
            </a:pPr>
            <a:r>
              <a:rPr b="1" lang="en-US" sz="2000" spc="-1" strike="noStrike">
                <a:latin typeface="Calibri"/>
                <a:ea typeface="DejaVu Sans"/>
              </a:rPr>
              <a:t>Independencia</a:t>
            </a:r>
            <a:r>
              <a:rPr b="0" lang="en-US" sz="2000" spc="-1" strike="noStrike">
                <a:latin typeface="Calibri"/>
                <a:ea typeface="DejaVu Sans"/>
              </a:rPr>
              <a:t>: las observaciones son independientes.</a:t>
            </a: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15000"/>
              </a:lnSpc>
              <a:spcAft>
                <a:spcPts val="1236"/>
              </a:spcAft>
              <a:buNone/>
              <a:tabLst>
                <a:tab algn="l" pos="0"/>
              </a:tabLst>
            </a:pPr>
            <a:r>
              <a:rPr b="1" lang="en-US" sz="2000" spc="-1" strike="noStrike">
                <a:latin typeface="Calibri"/>
                <a:ea typeface="DejaVu Sans"/>
              </a:rPr>
              <a:t>Homoscedasticidad</a:t>
            </a:r>
            <a:r>
              <a:rPr b="0" lang="en-US" sz="2000" spc="-1" strike="noStrike">
                <a:latin typeface="Calibri"/>
                <a:ea typeface="DejaVu Sans"/>
              </a:rPr>
              <a:t>: la varianza de los errores es constante. La dispersión de los puntos alrededor de la línea de regresión es uniforme</a:t>
            </a: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15000"/>
              </a:lnSpc>
              <a:spcAft>
                <a:spcPts val="1236"/>
              </a:spcAft>
              <a:buNone/>
              <a:tabLst>
                <a:tab algn="l" pos="0"/>
              </a:tabLst>
            </a:pPr>
            <a:r>
              <a:rPr b="1" lang="en-US" sz="2000" spc="-1" strike="noStrike">
                <a:latin typeface="Calibri"/>
                <a:ea typeface="DejaVu Sans"/>
              </a:rPr>
              <a:t>Normalidad de los errores</a:t>
            </a:r>
            <a:r>
              <a:rPr b="0" lang="en-US" sz="2000" spc="-1" strike="noStrike">
                <a:latin typeface="Calibri"/>
                <a:ea typeface="DejaVu Sans"/>
              </a:rPr>
              <a:t>: los residuos se distribuyen aproximadamente de manera normal.</a:t>
            </a: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15000"/>
              </a:lnSpc>
              <a:spcAft>
                <a:spcPts val="1236"/>
              </a:spcAft>
              <a:buNone/>
              <a:tabLst>
                <a:tab algn="l" pos="0"/>
              </a:tabLst>
            </a:pPr>
            <a:r>
              <a:rPr b="1" lang="en-US" sz="2000" spc="-1" strike="noStrike">
                <a:latin typeface="Calibri"/>
                <a:ea typeface="DejaVu Sans"/>
              </a:rPr>
              <a:t>No multicolinealidad excesiva</a:t>
            </a:r>
            <a:r>
              <a:rPr b="0" lang="en-US" sz="2000" spc="-1" strike="noStrike">
                <a:latin typeface="Calibri"/>
                <a:ea typeface="DejaVu Sans"/>
              </a:rPr>
              <a:t>: las variables predictoras no deben estar demasiado correlacionadas entre sí.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Lineal Multiple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17" name="" descr=""/>
          <p:cNvPicPr/>
          <p:nvPr/>
        </p:nvPicPr>
        <p:blipFill>
          <a:blip r:embed="rId1"/>
          <a:srcRect l="0" t="22386" r="8959" b="22488"/>
          <a:stretch/>
        </p:blipFill>
        <p:spPr>
          <a:xfrm>
            <a:off x="1980000" y="1980000"/>
            <a:ext cx="7927200" cy="3598920"/>
          </a:xfrm>
          <a:prstGeom prst="rect">
            <a:avLst/>
          </a:prstGeom>
          <a:ln w="0">
            <a:noFill/>
          </a:ln>
        </p:spPr>
      </p:pic>
      <p:sp>
        <p:nvSpPr>
          <p:cNvPr id="118" name=""/>
          <p:cNvSpPr/>
          <p:nvPr/>
        </p:nvSpPr>
        <p:spPr>
          <a:xfrm>
            <a:off x="1077120" y="1260000"/>
            <a:ext cx="918180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Homocedasticidad y heterocedasticidad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Lineal Multiple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20" name="" descr=""/>
          <p:cNvPicPr/>
          <p:nvPr/>
        </p:nvPicPr>
        <p:blipFill>
          <a:blip r:embed="rId1"/>
          <a:stretch/>
        </p:blipFill>
        <p:spPr>
          <a:xfrm>
            <a:off x="1800000" y="2340000"/>
            <a:ext cx="8878320" cy="3058920"/>
          </a:xfrm>
          <a:prstGeom prst="rect">
            <a:avLst/>
          </a:prstGeom>
          <a:ln w="0">
            <a:noFill/>
          </a:ln>
        </p:spPr>
      </p:pic>
      <p:sp>
        <p:nvSpPr>
          <p:cNvPr id="121" name=""/>
          <p:cNvSpPr/>
          <p:nvPr/>
        </p:nvSpPr>
        <p:spPr>
          <a:xfrm>
            <a:off x="1080000" y="1440000"/>
            <a:ext cx="52164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Análisis de residuos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Lineal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3960000" y="1664640"/>
            <a:ext cx="7800120" cy="3193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s-ES" sz="2000" spc="-1" strike="noStrike">
                <a:latin typeface="Calibri"/>
              </a:rPr>
              <a:t> </a:t>
            </a:r>
            <a:r>
              <a:rPr b="1" lang="es-ES" sz="2400" spc="-1" strike="noStrike">
                <a:latin typeface="Calibri"/>
              </a:rPr>
              <a:t>Ventajas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"/>
              <a:tabLst>
                <a:tab algn="l" pos="450360"/>
              </a:tabLst>
            </a:pPr>
            <a:r>
              <a:rPr b="0" lang="es-ES" sz="2000" spc="-1" strike="noStrike">
                <a:latin typeface="Calibri"/>
              </a:rPr>
              <a:t>Modelo simple e interpretable.</a:t>
            </a: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"/>
              <a:tabLst>
                <a:tab algn="l" pos="450360"/>
              </a:tabLst>
            </a:pPr>
            <a:r>
              <a:rPr b="0" lang="es-ES" sz="2000" spc="-1" strike="noStrike">
                <a:latin typeface="Calibri"/>
              </a:rPr>
              <a:t>Estimación rápida y eficiente incluso con grandes datasets.</a:t>
            </a: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"/>
              <a:tabLst>
                <a:tab algn="l" pos="450360"/>
              </a:tabLst>
            </a:pPr>
            <a:r>
              <a:rPr b="0" lang="es-ES" sz="2000" spc="-1" strike="noStrike">
                <a:latin typeface="Calibri"/>
              </a:rPr>
              <a:t>Permite identificar relaciones causales aproximadas.</a:t>
            </a: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"/>
              <a:tabLst>
                <a:tab algn="l" pos="450360"/>
              </a:tabLst>
            </a:pPr>
            <a:r>
              <a:rPr b="0" lang="es-ES" sz="2000" spc="-1" strike="noStrike">
                <a:latin typeface="Calibri"/>
              </a:rPr>
              <a:t>Sirve como línea base para comparar con modelos más complejos.</a:t>
            </a:r>
            <a:endParaRPr b="0" lang="en-US" sz="2000" spc="-1" strike="noStrike">
              <a:latin typeface="Arial"/>
            </a:endParaRPr>
          </a:p>
        </p:txBody>
      </p:sp>
      <p:pic>
        <p:nvPicPr>
          <p:cNvPr id="124" name="" descr=""/>
          <p:cNvPicPr/>
          <p:nvPr/>
        </p:nvPicPr>
        <p:blipFill>
          <a:blip r:embed="rId1"/>
          <a:stretch/>
        </p:blipFill>
        <p:spPr>
          <a:xfrm>
            <a:off x="720000" y="2340000"/>
            <a:ext cx="2158200" cy="2158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Lineal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3600000" y="902160"/>
            <a:ext cx="6298200" cy="5212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Lineal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3718080" y="1664640"/>
            <a:ext cx="8160120" cy="3013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 </a:t>
            </a:r>
            <a:r>
              <a:rPr b="1" lang="es-ES" sz="2400" spc="-1" strike="noStrike">
                <a:latin typeface="Calibri"/>
              </a:rPr>
              <a:t>Desventajas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  <a:p>
            <a:pPr marL="450360" indent="-179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"/>
              <a:tabLst>
                <a:tab algn="l" pos="450360"/>
              </a:tabLst>
            </a:pPr>
            <a:r>
              <a:rPr b="0" lang="es-ES" sz="2000" spc="-1" strike="noStrike">
                <a:latin typeface="Calibri"/>
              </a:rPr>
              <a:t>No capta relaciones no lineales.</a:t>
            </a: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"/>
              <a:tabLst>
                <a:tab algn="l" pos="450360"/>
              </a:tabLst>
            </a:pPr>
            <a:r>
              <a:rPr b="0" lang="es-ES" sz="2000" spc="-1" strike="noStrike">
                <a:latin typeface="Calibri"/>
              </a:rPr>
              <a:t>Sensible a outliers.</a:t>
            </a: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"/>
              <a:tabLst>
                <a:tab algn="l" pos="450360"/>
              </a:tabLst>
            </a:pPr>
            <a:r>
              <a:rPr b="0" lang="es-ES" sz="2000" spc="-1" strike="noStrike">
                <a:latin typeface="Calibri"/>
              </a:rPr>
              <a:t>Depende de la verificación de los supuestos estadísticos.</a:t>
            </a: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"/>
              <a:tabLst>
                <a:tab algn="l" pos="450360"/>
              </a:tabLst>
            </a:pPr>
            <a:r>
              <a:rPr b="0" lang="es-ES" sz="2000" spc="-1" strike="noStrike">
                <a:latin typeface="Calibri"/>
              </a:rPr>
              <a:t>No maneja bien relaciones complejas o interacciones si no se incluyen explícitamente.</a:t>
            </a:r>
            <a:endParaRPr b="0" lang="en-US" sz="2000" spc="-1" strike="noStrike">
              <a:latin typeface="Arial"/>
            </a:endParaRPr>
          </a:p>
        </p:txBody>
      </p:sp>
      <p:pic>
        <p:nvPicPr>
          <p:cNvPr id="129" name="" descr=""/>
          <p:cNvPicPr/>
          <p:nvPr/>
        </p:nvPicPr>
        <p:blipFill>
          <a:blip r:embed="rId1"/>
          <a:stretch/>
        </p:blipFill>
        <p:spPr>
          <a:xfrm>
            <a:off x="720000" y="2160360"/>
            <a:ext cx="2206800" cy="2158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Lineal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31" name="" descr=""/>
          <p:cNvPicPr/>
          <p:nvPr/>
        </p:nvPicPr>
        <p:blipFill>
          <a:blip r:embed="rId1"/>
          <a:stretch/>
        </p:blipFill>
        <p:spPr>
          <a:xfrm>
            <a:off x="2557440" y="980280"/>
            <a:ext cx="6800760" cy="5154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Polínomica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838080" y="1124640"/>
            <a:ext cx="10507320" cy="2293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 </a:t>
            </a:r>
            <a:r>
              <a:rPr b="1" lang="en-US" sz="1800" spc="-1" strike="noStrike">
                <a:latin typeface="Arial"/>
              </a:rPr>
              <a:t>Regresión polinómica</a:t>
            </a:r>
            <a:r>
              <a:rPr b="0" lang="en-US" sz="1800" spc="-1" strike="noStrike">
                <a:latin typeface="Arial"/>
              </a:rPr>
              <a:t>: es una extensión de la regresión lineal que modela la relación entre las variables dependientes e independientes como un polinomio de un grado </a:t>
            </a:r>
            <a:r>
              <a:rPr b="0" lang="en-US" sz="1800" spc="-1" strike="noStrike">
                <a:latin typeface="Liberation Mono;Courier New"/>
                <a:ea typeface="Liberation Mono;Courier New"/>
              </a:rPr>
              <a:t>n</a:t>
            </a:r>
            <a:r>
              <a:rPr b="0" lang="en-US" sz="1800" spc="-1" strike="noStrike">
                <a:latin typeface="Arial"/>
                <a:ea typeface="Liberation Mono;Courier New"/>
              </a:rPr>
              <a:t>. Se utiliza para capturar relaciones no lineales y curvaturas en los datos.</a:t>
            </a:r>
            <a:endParaRPr b="0" lang="en-US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  <a:p>
            <a:pPr marL="900360" indent="-179640">
              <a:lnSpc>
                <a:spcPct val="115000"/>
              </a:lnSpc>
              <a:spcAft>
                <a:spcPts val="1236"/>
              </a:spcAft>
              <a:buNone/>
              <a:tabLst>
                <a:tab algn="l" pos="0"/>
              </a:tabLst>
            </a:pPr>
            <a:r>
              <a:rPr b="1" lang="en-US" sz="1800" spc="-1" strike="noStrike">
                <a:latin typeface="Times New Roman"/>
                <a:ea typeface="Liberation Mono;Courier New"/>
              </a:rPr>
              <a:t>Riesgo de sobreajuste</a:t>
            </a:r>
            <a:r>
              <a:rPr b="0" lang="en-US" sz="1800" spc="-1" strike="noStrike">
                <a:latin typeface="Times New Roman"/>
                <a:ea typeface="Liberation Mono;Courier New"/>
              </a:rPr>
              <a:t>: Un grado alto del polinomio puede resultar en un modelo excesivamente complejo que se ajusta demasiado a los datos de entrenamiento y no generaliza bien a nuevos datos En la práctica, se suele recomendar empezar con grados bajos (2 o 3) y usar técnicas como la validación cruzada para elegir el grado óptimo del polinomio.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Polínomica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35" name="" descr=""/>
          <p:cNvPicPr/>
          <p:nvPr/>
        </p:nvPicPr>
        <p:blipFill>
          <a:blip r:embed="rId1"/>
          <a:stretch/>
        </p:blipFill>
        <p:spPr>
          <a:xfrm>
            <a:off x="151920" y="1855440"/>
            <a:ext cx="6146280" cy="3722760"/>
          </a:xfrm>
          <a:prstGeom prst="rect">
            <a:avLst/>
          </a:prstGeom>
          <a:ln w="0">
            <a:noFill/>
          </a:ln>
        </p:spPr>
      </p:pic>
      <p:pic>
        <p:nvPicPr>
          <p:cNvPr id="136" name="" descr=""/>
          <p:cNvPicPr/>
          <p:nvPr/>
        </p:nvPicPr>
        <p:blipFill>
          <a:blip r:embed="rId2"/>
          <a:stretch/>
        </p:blipFill>
        <p:spPr>
          <a:xfrm>
            <a:off x="6480000" y="1800000"/>
            <a:ext cx="5271120" cy="3958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Polínomica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38" name="" descr=""/>
          <p:cNvPicPr/>
          <p:nvPr/>
        </p:nvPicPr>
        <p:blipFill>
          <a:blip r:embed="rId1"/>
          <a:stretch/>
        </p:blipFill>
        <p:spPr>
          <a:xfrm>
            <a:off x="3420000" y="1215000"/>
            <a:ext cx="5398560" cy="4818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Polínomica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40" name="" descr=""/>
          <p:cNvPicPr/>
          <p:nvPr/>
        </p:nvPicPr>
        <p:blipFill>
          <a:blip r:embed="rId1"/>
          <a:stretch/>
        </p:blipFill>
        <p:spPr>
          <a:xfrm>
            <a:off x="3240000" y="1980000"/>
            <a:ext cx="5881320" cy="3958560"/>
          </a:xfrm>
          <a:prstGeom prst="rect">
            <a:avLst/>
          </a:prstGeom>
          <a:ln w="0">
            <a:noFill/>
          </a:ln>
        </p:spPr>
      </p:pic>
      <p:sp>
        <p:nvSpPr>
          <p:cNvPr id="141" name=""/>
          <p:cNvSpPr/>
          <p:nvPr/>
        </p:nvSpPr>
        <p:spPr>
          <a:xfrm>
            <a:off x="900000" y="1260000"/>
            <a:ext cx="8458560" cy="60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1" lang="es-E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Función de coste: MSE (Error cuadrático medio)</a:t>
            </a:r>
            <a:r>
              <a:rPr b="1" lang="es-ES" sz="2400" spc="-1" strike="noStrike">
                <a:solidFill>
                  <a:srgbClr val="000000"/>
                </a:solidFill>
                <a:latin typeface="C059"/>
                <a:ea typeface="DejaVu Sans"/>
              </a:rPr>
              <a:t> </a:t>
            </a:r>
            <a:r>
              <a:rPr b="0" lang="es-ES" sz="2400" spc="-1" strike="noStrike">
                <a:solidFill>
                  <a:srgbClr val="000000"/>
                </a:solidFill>
                <a:latin typeface="C059"/>
                <a:ea typeface="DejaVu Sans"/>
              </a:rPr>
              <a:t> 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Polínomica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43" name="" descr=""/>
          <p:cNvPicPr/>
          <p:nvPr/>
        </p:nvPicPr>
        <p:blipFill>
          <a:blip r:embed="rId1"/>
          <a:stretch/>
        </p:blipFill>
        <p:spPr>
          <a:xfrm>
            <a:off x="3240000" y="1070280"/>
            <a:ext cx="5398560" cy="5026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Polínomica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45" name="" descr=""/>
          <p:cNvPicPr/>
          <p:nvPr/>
        </p:nvPicPr>
        <p:blipFill>
          <a:blip r:embed="rId1"/>
          <a:stretch/>
        </p:blipFill>
        <p:spPr>
          <a:xfrm>
            <a:off x="3593520" y="1804320"/>
            <a:ext cx="6125040" cy="4314240"/>
          </a:xfrm>
          <a:prstGeom prst="rect">
            <a:avLst/>
          </a:prstGeom>
          <a:ln w="0">
            <a:noFill/>
          </a:ln>
        </p:spPr>
      </p:pic>
      <p:sp>
        <p:nvSpPr>
          <p:cNvPr id="146" name=""/>
          <p:cNvSpPr/>
          <p:nvPr/>
        </p:nvSpPr>
        <p:spPr>
          <a:xfrm>
            <a:off x="922680" y="1093320"/>
            <a:ext cx="7355880" cy="6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Función de coste: No lineal (Redes neuronales)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Polínomica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48" name="" descr=""/>
          <p:cNvPicPr/>
          <p:nvPr/>
        </p:nvPicPr>
        <p:blipFill>
          <a:blip r:embed="rId1"/>
          <a:stretch/>
        </p:blipFill>
        <p:spPr>
          <a:xfrm>
            <a:off x="2160000" y="1260000"/>
            <a:ext cx="8278200" cy="4634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con Regulación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838080" y="1124640"/>
            <a:ext cx="10507320" cy="4343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s-ES" sz="2400" spc="-1" strike="noStrike">
                <a:latin typeface="Calibri"/>
              </a:rPr>
              <a:t> </a:t>
            </a:r>
            <a:r>
              <a:rPr b="1" lang="es-ES" sz="2400" spc="-1" strike="noStrike">
                <a:latin typeface="Calibri"/>
              </a:rPr>
              <a:t>Lasso (L1):</a:t>
            </a:r>
            <a:r>
              <a:rPr b="1" lang="es-ES" sz="2000" spc="-1" strike="noStrike">
                <a:latin typeface="Calibri"/>
              </a:rPr>
              <a:t> </a:t>
            </a:r>
            <a:r>
              <a:rPr b="0" lang="es-ES" sz="2000" spc="-1" strike="noStrike">
                <a:latin typeface="Calibri"/>
              </a:rPr>
              <a:t> Esta penalización puede reducir algunos coeficientes a cero, lo que permite la selección automática de características. Es ideal cuando se sospecha que solo unas pocas variables predictoras son realmente importantes para el modelo.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1" lang="es-ES" sz="2400" spc="-1" strike="noStrike">
                <a:latin typeface="Calibri"/>
              </a:rPr>
              <a:t> </a:t>
            </a:r>
            <a:r>
              <a:rPr b="1" lang="es-ES" sz="2400" spc="-1" strike="noStrike">
                <a:latin typeface="Calibri"/>
              </a:rPr>
              <a:t>Ridge (L2): </a:t>
            </a:r>
            <a:r>
              <a:rPr b="0" lang="es-ES" sz="2000" spc="-1" strike="noStrike">
                <a:latin typeface="Calibri"/>
              </a:rPr>
              <a:t> Esta penalización reduce el tamaño de los coeficientes pero no los convierte en cero. Es útil cuando hay muchas variables predictoras y se sospecha de colinealidad, ya que reduce la variabilidad de las estimaciones de los coeficientes.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s-ES" sz="2000" spc="-1" strike="noStrike">
                <a:latin typeface="Calibri"/>
              </a:rPr>
              <a:t> </a:t>
            </a:r>
            <a:r>
              <a:rPr b="1" lang="es-ES" sz="2400" spc="-1" strike="noStrike">
                <a:latin typeface="Calibri"/>
              </a:rPr>
              <a:t>Elastic Net</a:t>
            </a:r>
            <a:r>
              <a:rPr b="1" lang="es-ES" sz="2000" spc="-1" strike="noStrike">
                <a:latin typeface="Calibri"/>
              </a:rPr>
              <a:t>: </a:t>
            </a:r>
            <a:r>
              <a:rPr b="0" lang="es-ES" sz="2000" spc="-1" strike="noStrike">
                <a:latin typeface="Calibri"/>
              </a:rPr>
              <a:t> Es un híbrido que combina las penalizaciones L1 y L2. Ofrece lo mejor de ambos mundos: puede seleccionar características (como Lasso) y manejar variables correlacionadas (como Ridge).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Lineal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52" name="" descr=""/>
          <p:cNvPicPr/>
          <p:nvPr/>
        </p:nvPicPr>
        <p:blipFill>
          <a:blip r:embed="rId1"/>
          <a:stretch/>
        </p:blipFill>
        <p:spPr>
          <a:xfrm>
            <a:off x="3240000" y="1105920"/>
            <a:ext cx="5973120" cy="5012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Lineal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54" name="" descr=""/>
          <p:cNvPicPr/>
          <p:nvPr/>
        </p:nvPicPr>
        <p:blipFill>
          <a:blip r:embed="rId1"/>
          <a:stretch/>
        </p:blipFill>
        <p:spPr>
          <a:xfrm>
            <a:off x="3240000" y="1105920"/>
            <a:ext cx="5973120" cy="5012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Lineal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56" name="" descr=""/>
          <p:cNvPicPr/>
          <p:nvPr/>
        </p:nvPicPr>
        <p:blipFill>
          <a:blip r:embed="rId1"/>
          <a:stretch/>
        </p:blipFill>
        <p:spPr>
          <a:xfrm>
            <a:off x="2880000" y="1233360"/>
            <a:ext cx="6298200" cy="4831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Logística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838080" y="1124640"/>
            <a:ext cx="10507320" cy="1753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s-ES" sz="2000" spc="-1" strike="noStrike">
                <a:latin typeface="Calibri"/>
              </a:rPr>
              <a:t> </a:t>
            </a:r>
            <a:r>
              <a:rPr b="1" lang="es-ES" sz="2400" spc="-1" strike="noStrike">
                <a:latin typeface="Calibri"/>
              </a:rPr>
              <a:t>Regresión logística:</a:t>
            </a:r>
            <a:r>
              <a:rPr b="0" lang="es-ES" sz="2000" spc="-1" strike="noStrike">
                <a:latin typeface="Calibri"/>
              </a:rPr>
              <a:t>  es un modelo paramétrico utilizado principalmente en problemas de clasificación binaria (dos clases).</a:t>
            </a:r>
            <a:endParaRPr b="0" lang="en-US" sz="2000" spc="-1" strike="noStrike"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s-ES" sz="2000" spc="-1" strike="noStrike">
                <a:latin typeface="Calibri"/>
              </a:rPr>
              <a:t>A diferencia de la regresión lineal, la regresión logística predice la probabilidad de pertenecia a una clase</a:t>
            </a:r>
            <a:endParaRPr b="0" lang="en-US" sz="2000" spc="-1" strike="noStrike">
              <a:latin typeface="Arial"/>
            </a:endParaRPr>
          </a:p>
        </p:txBody>
      </p:sp>
      <p:pic>
        <p:nvPicPr>
          <p:cNvPr id="159" name="" descr=""/>
          <p:cNvPicPr/>
          <p:nvPr/>
        </p:nvPicPr>
        <p:blipFill>
          <a:blip r:embed="rId1"/>
          <a:stretch/>
        </p:blipFill>
        <p:spPr>
          <a:xfrm>
            <a:off x="2638440" y="2880000"/>
            <a:ext cx="7139880" cy="3058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54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Logística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2340000" y="1260000"/>
            <a:ext cx="7557480" cy="53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pc="-1" strike="noStrike">
                <a:solidFill>
                  <a:srgbClr val="ff0000"/>
                </a:solidFill>
                <a:latin typeface="Calibri"/>
              </a:rPr>
              <a:t>ELIMINAR VALORES NULOS ANTES DE USAR REGRESIÓN LOGÍSTICA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889920" y="2160000"/>
            <a:ext cx="503748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Los algoritmos de regresión logística fallan cuando se introducen valores nulos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63" name="" descr=""/>
          <p:cNvPicPr/>
          <p:nvPr/>
        </p:nvPicPr>
        <p:blipFill>
          <a:blip r:embed="rId1"/>
          <a:stretch/>
        </p:blipFill>
        <p:spPr>
          <a:xfrm>
            <a:off x="1260000" y="1331280"/>
            <a:ext cx="827280" cy="827280"/>
          </a:xfrm>
          <a:prstGeom prst="rect">
            <a:avLst/>
          </a:prstGeom>
          <a:ln w="0">
            <a:noFill/>
          </a:ln>
        </p:spPr>
      </p:pic>
      <p:pic>
        <p:nvPicPr>
          <p:cNvPr id="164" name="" descr=""/>
          <p:cNvPicPr/>
          <p:nvPr/>
        </p:nvPicPr>
        <p:blipFill>
          <a:blip r:embed="rId2"/>
          <a:stretch/>
        </p:blipFill>
        <p:spPr>
          <a:xfrm>
            <a:off x="7740000" y="2340000"/>
            <a:ext cx="2698560" cy="3148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54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Logística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2340000" y="1260000"/>
            <a:ext cx="8818560" cy="53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600" spc="-1" strike="noStrike">
                <a:solidFill>
                  <a:srgbClr val="ff0000"/>
                </a:solidFill>
                <a:latin typeface="Calibri"/>
              </a:rPr>
              <a:t>ESCALAR LOS DATOS ANTES DE USAR REGRESIÓN LOGÍSTICA</a:t>
            </a:r>
            <a:endParaRPr b="0" lang="en-US" sz="2600" spc="-1" strike="noStrike">
              <a:latin typeface="Arial"/>
            </a:endParaRPr>
          </a:p>
        </p:txBody>
      </p:sp>
      <p:pic>
        <p:nvPicPr>
          <p:cNvPr id="167" name="" descr=""/>
          <p:cNvPicPr/>
          <p:nvPr/>
        </p:nvPicPr>
        <p:blipFill>
          <a:blip r:embed="rId1"/>
          <a:stretch/>
        </p:blipFill>
        <p:spPr>
          <a:xfrm>
            <a:off x="7094880" y="2700000"/>
            <a:ext cx="3882600" cy="3108600"/>
          </a:xfrm>
          <a:prstGeom prst="rect">
            <a:avLst/>
          </a:prstGeom>
          <a:ln w="0">
            <a:noFill/>
          </a:ln>
        </p:spPr>
      </p:pic>
      <p:sp>
        <p:nvSpPr>
          <p:cNvPr id="168" name=""/>
          <p:cNvSpPr/>
          <p:nvPr/>
        </p:nvSpPr>
        <p:spPr>
          <a:xfrm>
            <a:off x="889920" y="2160000"/>
            <a:ext cx="503748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No es obligatorio, pero es una práctica recomendada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StandardScaler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s-E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Recomendado para la mayoría de los casos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s-E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Convergencia más rápida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s-E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Regularización:</a:t>
            </a:r>
            <a:r>
              <a:rPr b="0" lang="es-E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 Todas la características contribuyan por igual  a la penalización de la regulación, evitando que las características con rangos más grandes dominen el modelo</a:t>
            </a:r>
            <a:endParaRPr b="0" lang="en-US" sz="2000" spc="-1" strike="noStrike">
              <a:latin typeface="Arial"/>
            </a:endParaRPr>
          </a:p>
        </p:txBody>
      </p:sp>
      <p:pic>
        <p:nvPicPr>
          <p:cNvPr id="169" name="" descr=""/>
          <p:cNvPicPr/>
          <p:nvPr/>
        </p:nvPicPr>
        <p:blipFill>
          <a:blip r:embed="rId2"/>
          <a:stretch/>
        </p:blipFill>
        <p:spPr>
          <a:xfrm>
            <a:off x="1260000" y="971280"/>
            <a:ext cx="827280" cy="827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Logística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71" name="" descr=""/>
          <p:cNvPicPr/>
          <p:nvPr/>
        </p:nvPicPr>
        <p:blipFill>
          <a:blip r:embed="rId1"/>
          <a:stretch/>
        </p:blipFill>
        <p:spPr>
          <a:xfrm>
            <a:off x="1980000" y="1260000"/>
            <a:ext cx="8998200" cy="4786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Logística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73" name="" descr=""/>
          <p:cNvPicPr/>
          <p:nvPr/>
        </p:nvPicPr>
        <p:blipFill>
          <a:blip r:embed="rId1"/>
          <a:stretch/>
        </p:blipFill>
        <p:spPr>
          <a:xfrm>
            <a:off x="3223080" y="1080000"/>
            <a:ext cx="5444280" cy="5038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Logística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75" name="" descr=""/>
          <p:cNvPicPr/>
          <p:nvPr/>
        </p:nvPicPr>
        <p:blipFill>
          <a:blip r:embed="rId1"/>
          <a:stretch/>
        </p:blipFill>
        <p:spPr>
          <a:xfrm>
            <a:off x="3060000" y="1080000"/>
            <a:ext cx="5938560" cy="5042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Logística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77" name="" descr=""/>
          <p:cNvPicPr/>
          <p:nvPr/>
        </p:nvPicPr>
        <p:blipFill>
          <a:blip r:embed="rId1"/>
          <a:stretch/>
        </p:blipFill>
        <p:spPr>
          <a:xfrm>
            <a:off x="448200" y="1484280"/>
            <a:ext cx="11250000" cy="3733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Logística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79" name="" descr=""/>
          <p:cNvPicPr/>
          <p:nvPr/>
        </p:nvPicPr>
        <p:blipFill>
          <a:blip r:embed="rId1"/>
          <a:stretch/>
        </p:blipFill>
        <p:spPr>
          <a:xfrm>
            <a:off x="2136600" y="5721840"/>
            <a:ext cx="9381600" cy="396360"/>
          </a:xfrm>
          <a:prstGeom prst="rect">
            <a:avLst/>
          </a:prstGeom>
          <a:ln w="0">
            <a:noFill/>
          </a:ln>
        </p:spPr>
      </p:pic>
      <p:pic>
        <p:nvPicPr>
          <p:cNvPr id="180" name="" descr=""/>
          <p:cNvPicPr/>
          <p:nvPr/>
        </p:nvPicPr>
        <p:blipFill>
          <a:blip r:embed="rId2"/>
          <a:stretch/>
        </p:blipFill>
        <p:spPr>
          <a:xfrm>
            <a:off x="1261800" y="1064880"/>
            <a:ext cx="8996400" cy="4347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Logística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82" name="" descr=""/>
          <p:cNvPicPr/>
          <p:nvPr/>
        </p:nvPicPr>
        <p:blipFill>
          <a:blip r:embed="rId1"/>
          <a:stretch/>
        </p:blipFill>
        <p:spPr>
          <a:xfrm>
            <a:off x="7560000" y="2266560"/>
            <a:ext cx="4586040" cy="3327840"/>
          </a:xfrm>
          <a:prstGeom prst="rect">
            <a:avLst/>
          </a:prstGeom>
          <a:ln w="0">
            <a:noFill/>
          </a:ln>
        </p:spPr>
      </p:pic>
      <p:sp>
        <p:nvSpPr>
          <p:cNvPr id="183" name=""/>
          <p:cNvSpPr/>
          <p:nvPr/>
        </p:nvSpPr>
        <p:spPr>
          <a:xfrm>
            <a:off x="975240" y="1260000"/>
            <a:ext cx="640332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1" lang="es-E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Función de coste: Log-Loss</a:t>
            </a:r>
            <a:r>
              <a:rPr b="0" lang="es-ES" sz="2400" spc="-1" strike="noStrike">
                <a:solidFill>
                  <a:srgbClr val="000000"/>
                </a:solidFill>
                <a:latin typeface="C059"/>
                <a:ea typeface="DejaVu Sans"/>
              </a:rPr>
              <a:t> 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84" name="" descr=""/>
          <p:cNvPicPr/>
          <p:nvPr/>
        </p:nvPicPr>
        <p:blipFill>
          <a:blip r:embed="rId2"/>
          <a:stretch/>
        </p:blipFill>
        <p:spPr>
          <a:xfrm>
            <a:off x="180000" y="2340000"/>
            <a:ext cx="7231680" cy="3238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Logística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/>
          </p:nvPr>
        </p:nvSpPr>
        <p:spPr>
          <a:xfrm>
            <a:off x="838080" y="1124640"/>
            <a:ext cx="10507320" cy="3193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 </a:t>
            </a:r>
            <a:r>
              <a:rPr b="1" lang="es-ES" sz="2400" spc="-1" strike="noStrike">
                <a:latin typeface="Calibri"/>
                <a:ea typeface="DejaVu Sans"/>
              </a:rPr>
              <a:t>Supuestos de la regresión logística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15000"/>
              </a:lnSpc>
              <a:spcAft>
                <a:spcPts val="1236"/>
              </a:spcAft>
              <a:buNone/>
              <a:tabLst>
                <a:tab algn="l" pos="0"/>
              </a:tabLst>
            </a:pPr>
            <a:r>
              <a:rPr b="1" lang="en-US" sz="2000" spc="-1" strike="noStrike">
                <a:latin typeface="Calibri"/>
                <a:ea typeface="DejaVu Sans"/>
              </a:rPr>
              <a:t>Linealidad</a:t>
            </a:r>
            <a:r>
              <a:rPr b="0" lang="en-US" sz="2000" spc="-1" strike="noStrike">
                <a:latin typeface="Calibri"/>
                <a:ea typeface="DejaVu Sans"/>
              </a:rPr>
              <a:t>: la relación entre variables es lineal.</a:t>
            </a: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15000"/>
              </a:lnSpc>
              <a:spcAft>
                <a:spcPts val="1236"/>
              </a:spcAft>
              <a:buNone/>
              <a:tabLst>
                <a:tab algn="l" pos="0"/>
              </a:tabLst>
            </a:pPr>
            <a:r>
              <a:rPr b="1" lang="en-US" sz="2000" spc="-1" strike="noStrike">
                <a:latin typeface="Calibri"/>
                <a:ea typeface="DejaVu Sans"/>
              </a:rPr>
              <a:t>Independencia</a:t>
            </a:r>
            <a:r>
              <a:rPr b="0" lang="en-US" sz="2000" spc="-1" strike="noStrike">
                <a:latin typeface="Calibri"/>
                <a:ea typeface="DejaVu Sans"/>
              </a:rPr>
              <a:t>: las observaciones son independientes.</a:t>
            </a: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15000"/>
              </a:lnSpc>
              <a:spcAft>
                <a:spcPts val="1236"/>
              </a:spcAft>
              <a:buNone/>
              <a:tabLst>
                <a:tab algn="l" pos="0"/>
              </a:tabLst>
            </a:pPr>
            <a:r>
              <a:rPr b="1" lang="en-US" sz="2000" spc="-1" strike="noStrike">
                <a:latin typeface="Calibri"/>
                <a:ea typeface="DejaVu Sans"/>
              </a:rPr>
              <a:t>Tamaño de la muestra: Suficientemente grande para estimar probabilidades de forma estable</a:t>
            </a: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15000"/>
              </a:lnSpc>
              <a:spcAft>
                <a:spcPts val="1236"/>
              </a:spcAft>
              <a:buNone/>
              <a:tabLst>
                <a:tab algn="l" pos="0"/>
              </a:tabLst>
            </a:pPr>
            <a:r>
              <a:rPr b="1" lang="en-US" sz="2000" spc="-1" strike="noStrike">
                <a:latin typeface="Calibri"/>
                <a:ea typeface="DejaVu Sans"/>
              </a:rPr>
              <a:t>No multicolinealidad excesiva</a:t>
            </a:r>
            <a:r>
              <a:rPr b="0" lang="en-US" sz="2000" spc="-1" strike="noStrike">
                <a:latin typeface="Calibri"/>
                <a:ea typeface="DejaVu Sans"/>
              </a:rPr>
              <a:t>: las variables predictoras no deben estar demasiado correlacionadas entre sí.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Logística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88" name="" descr=""/>
          <p:cNvPicPr/>
          <p:nvPr/>
        </p:nvPicPr>
        <p:blipFill>
          <a:blip r:embed="rId1"/>
          <a:stretch/>
        </p:blipFill>
        <p:spPr>
          <a:xfrm>
            <a:off x="720000" y="1620000"/>
            <a:ext cx="10911960" cy="3350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Logística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90" name="" descr=""/>
          <p:cNvPicPr/>
          <p:nvPr/>
        </p:nvPicPr>
        <p:blipFill>
          <a:blip r:embed="rId1"/>
          <a:stretch/>
        </p:blipFill>
        <p:spPr>
          <a:xfrm>
            <a:off x="2705760" y="1080000"/>
            <a:ext cx="6292800" cy="4909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Logística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92" name="PlaceHolder 2"/>
          <p:cNvSpPr>
            <a:spLocks noGrp="1"/>
          </p:cNvSpPr>
          <p:nvPr>
            <p:ph/>
          </p:nvPr>
        </p:nvSpPr>
        <p:spPr>
          <a:xfrm>
            <a:off x="3718080" y="1800000"/>
            <a:ext cx="7980480" cy="341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1" lang="es-ES" sz="2400" spc="-1" strike="noStrike">
                <a:latin typeface="Calibri"/>
              </a:rPr>
              <a:t> </a:t>
            </a:r>
            <a:r>
              <a:rPr b="1" lang="es-ES" sz="2400" spc="-1" strike="noStrike">
                <a:latin typeface="Calibri"/>
              </a:rPr>
              <a:t>Ventajas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"/>
              <a:tabLst>
                <a:tab algn="l" pos="450360"/>
              </a:tabLst>
            </a:pPr>
            <a:r>
              <a:rPr b="0" lang="es-ES" sz="2000" spc="-1" strike="noStrike">
                <a:latin typeface="Calibri"/>
              </a:rPr>
              <a:t>Fácil de implementar e interpretar.</a:t>
            </a: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"/>
              <a:tabLst>
                <a:tab algn="l" pos="450360"/>
              </a:tabLst>
            </a:pPr>
            <a:r>
              <a:rPr b="0" lang="es-ES" sz="2000" spc="-1" strike="noStrike">
                <a:latin typeface="Calibri"/>
              </a:rPr>
              <a:t>No requiere supuestos tan estrictos como la regresión lineal.</a:t>
            </a: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"/>
              <a:tabLst>
                <a:tab algn="l" pos="450360"/>
              </a:tabLst>
            </a:pPr>
            <a:r>
              <a:rPr b="0" lang="es-ES" sz="2000" spc="-1" strike="noStrike">
                <a:latin typeface="Calibri"/>
              </a:rPr>
              <a:t>Produce directamente probabilidades interpretables.</a:t>
            </a: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"/>
              <a:tabLst>
                <a:tab algn="l" pos="450360"/>
              </a:tabLst>
            </a:pPr>
            <a:r>
              <a:rPr b="0" lang="es-ES" sz="2000" spc="-1" strike="noStrike">
                <a:latin typeface="Calibri"/>
              </a:rPr>
              <a:t>Se puede extender a clasificación multiclase (softmax)</a:t>
            </a:r>
            <a:r>
              <a:rPr b="0" lang="es-ES" sz="2000" spc="-1" strike="noStrike">
                <a:latin typeface="Calibri"/>
              </a:rPr>
              <a:t>.</a:t>
            </a:r>
            <a:endParaRPr b="0" lang="en-US" sz="2000" spc="-1" strike="noStrike">
              <a:latin typeface="Arial"/>
            </a:endParaRPr>
          </a:p>
        </p:txBody>
      </p:sp>
      <p:pic>
        <p:nvPicPr>
          <p:cNvPr id="193" name="" descr=""/>
          <p:cNvPicPr/>
          <p:nvPr/>
        </p:nvPicPr>
        <p:blipFill>
          <a:blip r:embed="rId1"/>
          <a:stretch/>
        </p:blipFill>
        <p:spPr>
          <a:xfrm>
            <a:off x="720360" y="2340360"/>
            <a:ext cx="2158200" cy="2158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Logística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/>
          </p:nvPr>
        </p:nvSpPr>
        <p:spPr>
          <a:xfrm>
            <a:off x="3780000" y="1980000"/>
            <a:ext cx="7980480" cy="2473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1" lang="en-US" sz="2400" spc="-1" strike="noStrike">
                <a:latin typeface="Arial"/>
              </a:rPr>
              <a:t> </a:t>
            </a:r>
            <a:r>
              <a:rPr b="1" lang="es-ES" sz="2400" spc="-1" strike="noStrike">
                <a:latin typeface="Calibri"/>
              </a:rPr>
              <a:t>Desventajas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15000"/>
              </a:lnSpc>
              <a:spcAft>
                <a:spcPts val="1236"/>
              </a:spcAft>
              <a:buNone/>
              <a:tabLst>
                <a:tab algn="l" pos="0"/>
              </a:tabLst>
            </a:pPr>
            <a:r>
              <a:rPr b="0" lang="es-ES" sz="2000" spc="-1" strike="noStrike">
                <a:latin typeface="Calibri"/>
              </a:rPr>
              <a:t>Solo modela relaciones lineales en el logit.</a:t>
            </a: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15000"/>
              </a:lnSpc>
              <a:spcAft>
                <a:spcPts val="1236"/>
              </a:spcAft>
              <a:buNone/>
              <a:tabLst>
                <a:tab algn="l" pos="0"/>
              </a:tabLst>
            </a:pPr>
            <a:r>
              <a:rPr b="0" lang="es-ES" sz="2000" spc="-1" strike="noStrike">
                <a:latin typeface="Calibri"/>
              </a:rPr>
              <a:t>Menos eficaz en relaciones no lineales (aunque puede extenderse con interacciones o polinomios).</a:t>
            </a: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15000"/>
              </a:lnSpc>
              <a:spcAft>
                <a:spcPts val="1236"/>
              </a:spcAft>
              <a:buNone/>
              <a:tabLst>
                <a:tab algn="l" pos="0"/>
              </a:tabLst>
            </a:pPr>
            <a:r>
              <a:rPr b="0" lang="es-ES" sz="2000" spc="-1" strike="noStrike">
                <a:latin typeface="Calibri"/>
              </a:rPr>
              <a:t>Sensible a outliers y a variables altamente correlacionadas.</a:t>
            </a:r>
            <a:endParaRPr b="0" lang="en-US" sz="2000" spc="-1" strike="noStrike">
              <a:latin typeface="Arial"/>
            </a:endParaRPr>
          </a:p>
        </p:txBody>
      </p:sp>
      <p:pic>
        <p:nvPicPr>
          <p:cNvPr id="196" name="" descr=""/>
          <p:cNvPicPr/>
          <p:nvPr/>
        </p:nvPicPr>
        <p:blipFill>
          <a:blip r:embed="rId1"/>
          <a:stretch/>
        </p:blipFill>
        <p:spPr>
          <a:xfrm>
            <a:off x="671760" y="2160360"/>
            <a:ext cx="2206800" cy="2158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Logística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198" name="" descr=""/>
          <p:cNvPicPr/>
          <p:nvPr/>
        </p:nvPicPr>
        <p:blipFill>
          <a:blip r:embed="rId1"/>
          <a:srcRect l="0" t="0" r="0" b="12561"/>
          <a:stretch/>
        </p:blipFill>
        <p:spPr>
          <a:xfrm>
            <a:off x="2520000" y="1080000"/>
            <a:ext cx="7918560" cy="5007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Logística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200" name="" descr=""/>
          <p:cNvPicPr/>
          <p:nvPr/>
        </p:nvPicPr>
        <p:blipFill>
          <a:blip r:embed="rId1"/>
          <a:stretch/>
        </p:blipFill>
        <p:spPr>
          <a:xfrm>
            <a:off x="790560" y="1314000"/>
            <a:ext cx="10612800" cy="4338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Logística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202" name="" descr=""/>
          <p:cNvPicPr/>
          <p:nvPr/>
        </p:nvPicPr>
        <p:blipFill>
          <a:blip r:embed="rId1"/>
          <a:stretch/>
        </p:blipFill>
        <p:spPr>
          <a:xfrm>
            <a:off x="3240000" y="1069560"/>
            <a:ext cx="6158520" cy="4998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Logística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204" name="" descr=""/>
          <p:cNvPicPr/>
          <p:nvPr/>
        </p:nvPicPr>
        <p:blipFill>
          <a:blip r:embed="rId1"/>
          <a:stretch/>
        </p:blipFill>
        <p:spPr>
          <a:xfrm>
            <a:off x="3600000" y="1098720"/>
            <a:ext cx="5038560" cy="4948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Logística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206" name="" descr=""/>
          <p:cNvPicPr/>
          <p:nvPr/>
        </p:nvPicPr>
        <p:blipFill>
          <a:blip r:embed="rId1"/>
          <a:stretch/>
        </p:blipFill>
        <p:spPr>
          <a:xfrm>
            <a:off x="3150720" y="901800"/>
            <a:ext cx="5307840" cy="5130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Logística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208" name="" descr=""/>
          <p:cNvPicPr/>
          <p:nvPr/>
        </p:nvPicPr>
        <p:blipFill>
          <a:blip r:embed="rId1"/>
          <a:stretch/>
        </p:blipFill>
        <p:spPr>
          <a:xfrm>
            <a:off x="2700000" y="1080000"/>
            <a:ext cx="7018560" cy="4968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Logística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210" name="" descr=""/>
          <p:cNvPicPr/>
          <p:nvPr/>
        </p:nvPicPr>
        <p:blipFill>
          <a:blip r:embed="rId1"/>
          <a:stretch/>
        </p:blipFill>
        <p:spPr>
          <a:xfrm>
            <a:off x="720000" y="1298520"/>
            <a:ext cx="5626440" cy="4245480"/>
          </a:xfrm>
          <a:prstGeom prst="rect">
            <a:avLst/>
          </a:prstGeom>
          <a:ln w="0">
            <a:noFill/>
          </a:ln>
        </p:spPr>
      </p:pic>
      <p:pic>
        <p:nvPicPr>
          <p:cNvPr id="211" name="" descr=""/>
          <p:cNvPicPr/>
          <p:nvPr/>
        </p:nvPicPr>
        <p:blipFill>
          <a:blip r:embed="rId2"/>
          <a:stretch/>
        </p:blipFill>
        <p:spPr>
          <a:xfrm>
            <a:off x="6840000" y="2360520"/>
            <a:ext cx="5016960" cy="1598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Máquinas de vectores de soporte SVM 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838080" y="1124640"/>
            <a:ext cx="10507320" cy="1213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s-ES" sz="2400" spc="-1" strike="noStrike">
                <a:latin typeface="Calibri"/>
              </a:rPr>
              <a:t>Su objetivo es encontrar un hiperplano de separación óptimo entre clases, maximizando la distancia (margen) entre las observaciones más cercanas de cada clase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</p:txBody>
      </p:sp>
      <p:pic>
        <p:nvPicPr>
          <p:cNvPr id="214" name="" descr=""/>
          <p:cNvPicPr/>
          <p:nvPr/>
        </p:nvPicPr>
        <p:blipFill>
          <a:blip r:embed="rId1"/>
          <a:stretch/>
        </p:blipFill>
        <p:spPr>
          <a:xfrm>
            <a:off x="326880" y="2935440"/>
            <a:ext cx="11372760" cy="2284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54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Máquinas de vectores de soporte SVM 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2340000" y="1260000"/>
            <a:ext cx="7557480" cy="53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800" spc="-1" strike="noStrike">
                <a:solidFill>
                  <a:srgbClr val="ff0000"/>
                </a:solidFill>
                <a:latin typeface="Calibri"/>
              </a:rPr>
              <a:t>ELIMINAR VALORES NULOS ANTES DE USAR SVM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217" name=""/>
          <p:cNvSpPr/>
          <p:nvPr/>
        </p:nvSpPr>
        <p:spPr>
          <a:xfrm>
            <a:off x="889920" y="2160000"/>
            <a:ext cx="503748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Los algoritmos de SVM fallan cuando se introducen valores nulos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218" name="" descr=""/>
          <p:cNvPicPr/>
          <p:nvPr/>
        </p:nvPicPr>
        <p:blipFill>
          <a:blip r:embed="rId1"/>
          <a:stretch/>
        </p:blipFill>
        <p:spPr>
          <a:xfrm>
            <a:off x="1260000" y="1331280"/>
            <a:ext cx="827280" cy="827280"/>
          </a:xfrm>
          <a:prstGeom prst="rect">
            <a:avLst/>
          </a:prstGeom>
          <a:ln w="0">
            <a:noFill/>
          </a:ln>
        </p:spPr>
      </p:pic>
      <p:pic>
        <p:nvPicPr>
          <p:cNvPr id="219" name="" descr=""/>
          <p:cNvPicPr/>
          <p:nvPr/>
        </p:nvPicPr>
        <p:blipFill>
          <a:blip r:embed="rId2"/>
          <a:stretch/>
        </p:blipFill>
        <p:spPr>
          <a:xfrm>
            <a:off x="7740000" y="2340000"/>
            <a:ext cx="2698560" cy="3148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2720" cy="54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Máquinas de vectores de soporte SVM 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2340000" y="1260000"/>
            <a:ext cx="8818560" cy="53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s-ES" sz="2600" spc="-1" strike="noStrike">
                <a:solidFill>
                  <a:srgbClr val="ff0000"/>
                </a:solidFill>
                <a:latin typeface="Calibri"/>
              </a:rPr>
              <a:t>ESCALAR LOS DATOS ANTES DE USAR SVM</a:t>
            </a:r>
            <a:endParaRPr b="0" lang="en-US" sz="2600" spc="-1" strike="noStrike">
              <a:latin typeface="Arial"/>
            </a:endParaRPr>
          </a:p>
        </p:txBody>
      </p:sp>
      <p:pic>
        <p:nvPicPr>
          <p:cNvPr id="222" name="" descr=""/>
          <p:cNvPicPr/>
          <p:nvPr/>
        </p:nvPicPr>
        <p:blipFill>
          <a:blip r:embed="rId1"/>
          <a:stretch/>
        </p:blipFill>
        <p:spPr>
          <a:xfrm>
            <a:off x="7094880" y="2700000"/>
            <a:ext cx="3882600" cy="3108600"/>
          </a:xfrm>
          <a:prstGeom prst="rect">
            <a:avLst/>
          </a:prstGeom>
          <a:ln w="0">
            <a:noFill/>
          </a:ln>
        </p:spPr>
      </p:pic>
      <p:sp>
        <p:nvSpPr>
          <p:cNvPr id="223" name=""/>
          <p:cNvSpPr/>
          <p:nvPr/>
        </p:nvSpPr>
        <p:spPr>
          <a:xfrm>
            <a:off x="889920" y="2160000"/>
            <a:ext cx="503748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No es obligatorio, pero es una práctica recomendada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StandardScaler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s-E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Recomendado para la mayoría de los casos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s-E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Convergencia más rápida</a:t>
            </a:r>
            <a:endParaRPr b="0" lang="en-US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s-E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Regularización:</a:t>
            </a:r>
            <a:r>
              <a:rPr b="0" lang="es-E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 Todas la características contribuyan por igual  a la penalización de la regulación, evitando que las características con rangos más grandes dominen el modelo</a:t>
            </a:r>
            <a:endParaRPr b="0" lang="en-US" sz="2000" spc="-1" strike="noStrike">
              <a:latin typeface="Arial"/>
            </a:endParaRPr>
          </a:p>
        </p:txBody>
      </p:sp>
      <p:pic>
        <p:nvPicPr>
          <p:cNvPr id="224" name="" descr=""/>
          <p:cNvPicPr/>
          <p:nvPr/>
        </p:nvPicPr>
        <p:blipFill>
          <a:blip r:embed="rId2"/>
          <a:stretch/>
        </p:blipFill>
        <p:spPr>
          <a:xfrm>
            <a:off x="1260000" y="971280"/>
            <a:ext cx="827280" cy="827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Máquinas de vectores de soporte SVM 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226" name="" descr=""/>
          <p:cNvPicPr/>
          <p:nvPr/>
        </p:nvPicPr>
        <p:blipFill>
          <a:blip r:embed="rId1"/>
          <a:stretch/>
        </p:blipFill>
        <p:spPr>
          <a:xfrm>
            <a:off x="1980000" y="1260000"/>
            <a:ext cx="8998200" cy="4786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Máquinas de vectores de soporte SVM 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838080" y="1124640"/>
            <a:ext cx="10507320" cy="1213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s-ES" sz="2400" spc="-1" strike="noStrike">
                <a:latin typeface="Calibri"/>
              </a:rPr>
              <a:t>En un problema de clasificación binaria, SVM busca un hiperplano que separe las dos clases en el espacio de características.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s-ES" sz="2400" spc="-1" strike="noStrike">
                <a:latin typeface="Calibri"/>
              </a:rPr>
              <a:t>El “mejor” hiperplano no es cualquiera, sino el que maximiza el margen (la distancia entre el hiperplano y los vectores de soporte más cercanos).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</p:txBody>
      </p:sp>
      <p:pic>
        <p:nvPicPr>
          <p:cNvPr id="229" name="" descr=""/>
          <p:cNvPicPr/>
          <p:nvPr/>
        </p:nvPicPr>
        <p:blipFill>
          <a:blip r:embed="rId1"/>
          <a:srcRect l="2822" t="0" r="3238" b="0"/>
          <a:stretch/>
        </p:blipFill>
        <p:spPr>
          <a:xfrm>
            <a:off x="3420000" y="3060000"/>
            <a:ext cx="5219280" cy="3111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Máquinas de vectores de soporte SVM 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/>
          </p:nvPr>
        </p:nvSpPr>
        <p:spPr>
          <a:xfrm>
            <a:off x="838080" y="1124640"/>
            <a:ext cx="10507320" cy="1575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s-ES" sz="2400" spc="-1" strike="noStrike">
                <a:latin typeface="Calibri"/>
              </a:rPr>
              <a:t>Kernel</a:t>
            </a:r>
            <a:r>
              <a:rPr b="0" lang="es-ES" sz="2400" spc="-1" strike="noStrike">
                <a:latin typeface="Calibri"/>
              </a:rPr>
              <a:t>: es una función matemática que permite manejar datos que no son linealmente separables en su espacio original. Su función principal es transformar estos datos a un espacio dimensional superior donde la separación entre clases pueda realizarse mediante un hiperplano lineal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</p:txBody>
      </p:sp>
      <p:pic>
        <p:nvPicPr>
          <p:cNvPr id="232" name="" descr=""/>
          <p:cNvPicPr/>
          <p:nvPr/>
        </p:nvPicPr>
        <p:blipFill>
          <a:blip r:embed="rId1"/>
          <a:stretch/>
        </p:blipFill>
        <p:spPr>
          <a:xfrm>
            <a:off x="1260000" y="2880000"/>
            <a:ext cx="9539640" cy="3111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Máquinas de vectores de soporte SVM 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234" name="PlaceHolder 2"/>
          <p:cNvSpPr>
            <a:spLocks noGrp="1"/>
          </p:cNvSpPr>
          <p:nvPr>
            <p:ph/>
          </p:nvPr>
        </p:nvSpPr>
        <p:spPr>
          <a:xfrm>
            <a:off x="832320" y="1260000"/>
            <a:ext cx="10507320" cy="1575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s-ES" sz="2400" spc="-1" strike="noStrike">
                <a:latin typeface="Calibri"/>
              </a:rPr>
              <a:t>Kernel Lineal (Linear Kernel):</a:t>
            </a:r>
            <a:r>
              <a:rPr b="0" lang="es-ES" sz="2400" spc="-1" strike="noStrike">
                <a:latin typeface="Calibri"/>
              </a:rPr>
              <a:t> Es la opción más básica y computacionalmente eficiente, adecuada cuando existe una relación lineal entre las clases de datos. No realiza ninguna transformación de espacio, operando directamente en el espacio de entrada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</p:txBody>
      </p:sp>
      <p:pic>
        <p:nvPicPr>
          <p:cNvPr id="235" name="" descr=""/>
          <p:cNvPicPr/>
          <p:nvPr/>
        </p:nvPicPr>
        <p:blipFill>
          <a:blip r:embed="rId1"/>
          <a:stretch/>
        </p:blipFill>
        <p:spPr>
          <a:xfrm>
            <a:off x="900000" y="3350160"/>
            <a:ext cx="7807680" cy="1329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Máquinas de vectores de soporte SVM 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832320" y="1260000"/>
            <a:ext cx="10507320" cy="1575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s-ES" sz="2400" spc="-1" strike="noStrike">
                <a:latin typeface="Calibri"/>
              </a:rPr>
              <a:t>Kernel Polinómico (Polynomial Kernel):</a:t>
            </a:r>
            <a:r>
              <a:rPr b="0" lang="es-ES" sz="2400" spc="-1" strike="noStrike">
                <a:latin typeface="Calibri"/>
              </a:rPr>
              <a:t> Este kernel permite la creación de fronteras de decisión curvas al mapear implícitamente los datos a un espacio de características de mayor dimensión mediante funciones polinómicas de grado d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</p:txBody>
      </p:sp>
      <p:pic>
        <p:nvPicPr>
          <p:cNvPr id="238" name="" descr=""/>
          <p:cNvPicPr/>
          <p:nvPr/>
        </p:nvPicPr>
        <p:blipFill>
          <a:blip r:embed="rId1"/>
          <a:stretch/>
        </p:blipFill>
        <p:spPr>
          <a:xfrm>
            <a:off x="1252800" y="2700000"/>
            <a:ext cx="8646840" cy="323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Máquinas de vectores de soporte SVM 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240" name="" descr=""/>
          <p:cNvPicPr/>
          <p:nvPr/>
        </p:nvPicPr>
        <p:blipFill>
          <a:blip r:embed="rId1"/>
          <a:stretch/>
        </p:blipFill>
        <p:spPr>
          <a:xfrm>
            <a:off x="2700000" y="1080000"/>
            <a:ext cx="6659640" cy="4994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Máquinas de vectores de soporte SVM 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242" name="PlaceHolder 2"/>
          <p:cNvSpPr>
            <a:spLocks noGrp="1"/>
          </p:cNvSpPr>
          <p:nvPr>
            <p:ph/>
          </p:nvPr>
        </p:nvSpPr>
        <p:spPr>
          <a:xfrm>
            <a:off x="832320" y="1260000"/>
            <a:ext cx="10507320" cy="1575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s-ES" sz="2400" spc="-1" strike="noStrike">
                <a:latin typeface="Calibri"/>
              </a:rPr>
              <a:t>Kernel de Base Radial Gaussiano (RBF Kernel / Gaussian Kernel):</a:t>
            </a:r>
            <a:r>
              <a:rPr b="0" lang="es-ES" sz="2400" spc="-1" strike="noStrike">
                <a:latin typeface="Calibri"/>
              </a:rPr>
              <a:t> El RBF es el kernel predeterminado y más ampliamente utilizado debido a su versatilidad. Proyecta implícitamente los datos a un espacio de dimensión infinita, permitiendo la creación de fronteras de decisión complejas y localizadas.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</p:txBody>
      </p:sp>
      <p:pic>
        <p:nvPicPr>
          <p:cNvPr id="243" name="" descr=""/>
          <p:cNvPicPr/>
          <p:nvPr/>
        </p:nvPicPr>
        <p:blipFill>
          <a:blip r:embed="rId1"/>
          <a:srcRect l="0" t="0" r="70298" b="66633"/>
          <a:stretch/>
        </p:blipFill>
        <p:spPr>
          <a:xfrm>
            <a:off x="720000" y="3060000"/>
            <a:ext cx="2159280" cy="359280"/>
          </a:xfrm>
          <a:prstGeom prst="rect">
            <a:avLst/>
          </a:prstGeom>
          <a:ln w="0">
            <a:noFill/>
          </a:ln>
        </p:spPr>
      </p:pic>
      <p:pic>
        <p:nvPicPr>
          <p:cNvPr id="244" name="" descr=""/>
          <p:cNvPicPr/>
          <p:nvPr/>
        </p:nvPicPr>
        <p:blipFill>
          <a:blip r:embed="rId2"/>
          <a:stretch/>
        </p:blipFill>
        <p:spPr>
          <a:xfrm>
            <a:off x="2333160" y="4362480"/>
            <a:ext cx="3966480" cy="1577160"/>
          </a:xfrm>
          <a:prstGeom prst="rect">
            <a:avLst/>
          </a:prstGeom>
          <a:ln w="0">
            <a:noFill/>
          </a:ln>
        </p:spPr>
      </p:pic>
      <p:pic>
        <p:nvPicPr>
          <p:cNvPr id="245" name="" descr=""/>
          <p:cNvPicPr/>
          <p:nvPr/>
        </p:nvPicPr>
        <p:blipFill>
          <a:blip r:embed="rId3"/>
          <a:stretch/>
        </p:blipFill>
        <p:spPr>
          <a:xfrm>
            <a:off x="6660000" y="3420000"/>
            <a:ext cx="5284440" cy="2519640"/>
          </a:xfrm>
          <a:prstGeom prst="rect">
            <a:avLst/>
          </a:prstGeom>
          <a:ln w="0">
            <a:noFill/>
          </a:ln>
        </p:spPr>
      </p:pic>
      <p:pic>
        <p:nvPicPr>
          <p:cNvPr id="246" name="" descr=""/>
          <p:cNvPicPr/>
          <p:nvPr/>
        </p:nvPicPr>
        <p:blipFill>
          <a:blip r:embed="rId4"/>
          <a:srcRect l="45544" t="33265" r="0" b="0"/>
          <a:stretch/>
        </p:blipFill>
        <p:spPr>
          <a:xfrm>
            <a:off x="2340000" y="3240000"/>
            <a:ext cx="3959640" cy="71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Máquinas de vectores de soporte SVM 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/>
          </p:nvPr>
        </p:nvSpPr>
        <p:spPr>
          <a:xfrm>
            <a:off x="832320" y="1260000"/>
            <a:ext cx="10507320" cy="1575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s-ES" sz="2400" spc="-1" strike="noStrike">
                <a:latin typeface="Calibri"/>
              </a:rPr>
              <a:t>Kernel Sigmoidal (Sigmoid Kernel):</a:t>
            </a:r>
            <a:r>
              <a:rPr b="0" lang="es-ES" sz="2400" spc="-1" strike="noStrike">
                <a:latin typeface="Calibri"/>
              </a:rPr>
              <a:t> Utiliza la función de tangente hiperbólica como base. Es relevante por su conexión teórica con las funciones de activación utilizadas en redes neuronales, aunque su rendimiento puede variar significativamente.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</p:txBody>
      </p:sp>
      <p:pic>
        <p:nvPicPr>
          <p:cNvPr id="249" name="" descr=""/>
          <p:cNvPicPr/>
          <p:nvPr/>
        </p:nvPicPr>
        <p:blipFill>
          <a:blip r:embed="rId1"/>
          <a:stretch/>
        </p:blipFill>
        <p:spPr>
          <a:xfrm>
            <a:off x="720000" y="3060000"/>
            <a:ext cx="9878040" cy="143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Máquinas de vectores de soporte SVM 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832320" y="1260000"/>
            <a:ext cx="10507320" cy="287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s-ES" sz="2400" spc="-1" strike="noStrike">
                <a:latin typeface="Calibri"/>
              </a:rPr>
              <a:t>Soft Margin:</a:t>
            </a:r>
            <a:r>
              <a:rPr b="0" lang="es-ES" sz="2400" spc="-1" strike="noStrike">
                <a:latin typeface="Calibri"/>
              </a:rPr>
              <a:t> SVM busca el hiperplano que maximiza el margen (la distancia entre la línea de decisión y los puntos de datos más cercanos, llamados vectores de soporte). Sin embargo, en el mundo real, los datos a menudo no son perfectamente separables o contienen ruido y valores atípicos.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utkal"/>
              <a:buChar char="➢"/>
            </a:pPr>
            <a:r>
              <a:rPr b="0" lang="es-ES" sz="2400" spc="-1" strike="noStrike">
                <a:latin typeface="Calibri"/>
              </a:rPr>
              <a:t>Aquí es donde entra el parámetro C, que permite un "margen suave" (soft margin), tolerando cierto grado de error para lograr una mejor generalización.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</p:txBody>
      </p:sp>
      <p:pic>
        <p:nvPicPr>
          <p:cNvPr id="252" name="" descr=""/>
          <p:cNvPicPr/>
          <p:nvPr/>
        </p:nvPicPr>
        <p:blipFill>
          <a:blip r:embed="rId1"/>
          <a:stretch/>
        </p:blipFill>
        <p:spPr>
          <a:xfrm>
            <a:off x="2131200" y="4320000"/>
            <a:ext cx="8488440" cy="179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Logística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3718080" y="1800000"/>
            <a:ext cx="7980480" cy="341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1" lang="es-ES" sz="2400" spc="-1" strike="noStrike">
                <a:latin typeface="Calibri"/>
              </a:rPr>
              <a:t> </a:t>
            </a:r>
            <a:r>
              <a:rPr b="1" lang="es-ES" sz="2400" spc="-1" strike="noStrike">
                <a:latin typeface="Calibri"/>
              </a:rPr>
              <a:t>Ventajas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15000"/>
              </a:lnSpc>
              <a:spcAft>
                <a:spcPts val="1236"/>
              </a:spcAft>
              <a:buClr>
                <a:srgbClr val="000000"/>
              </a:buClr>
              <a:buSzPct val="45000"/>
              <a:buFont typeface="Wingdings" charset="2"/>
              <a:buChar char=""/>
              <a:tabLst>
                <a:tab algn="l" pos="450360"/>
              </a:tabLst>
            </a:pPr>
            <a:r>
              <a:rPr b="0" lang="es-ES" sz="2000" spc="-1" strike="noStrike">
                <a:latin typeface="Calibri"/>
              </a:rPr>
              <a:t>Alta capacidad de generalización, especialmente en espacios de alta dimensión.</a:t>
            </a: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15000"/>
              </a:lnSpc>
              <a:spcAft>
                <a:spcPts val="1236"/>
              </a:spcAft>
              <a:buClr>
                <a:srgbClr val="000000"/>
              </a:buClr>
              <a:buSzPct val="45000"/>
              <a:buFont typeface="Wingdings" charset="2"/>
              <a:buChar char=""/>
              <a:tabLst>
                <a:tab algn="l" pos="450360"/>
              </a:tabLst>
            </a:pPr>
            <a:r>
              <a:rPr b="0" lang="es-ES" sz="2000" spc="-1" strike="noStrike">
                <a:latin typeface="Calibri"/>
              </a:rPr>
              <a:t>Flexible gracias al uso de kernels.</a:t>
            </a: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15000"/>
              </a:lnSpc>
              <a:spcAft>
                <a:spcPts val="1236"/>
              </a:spcAft>
              <a:buClr>
                <a:srgbClr val="000000"/>
              </a:buClr>
              <a:buSzPct val="45000"/>
              <a:buFont typeface="Wingdings" charset="2"/>
              <a:buChar char=""/>
              <a:tabLst>
                <a:tab algn="l" pos="450360"/>
              </a:tabLst>
            </a:pPr>
            <a:r>
              <a:rPr b="0" lang="es-ES" sz="2000" spc="-1" strike="noStrike">
                <a:latin typeface="Calibri"/>
              </a:rPr>
              <a:t>Menos propenso al sobreajuste en datasets pequeños y con gran número de variables.</a:t>
            </a:r>
            <a:endParaRPr b="0" lang="en-US" sz="2000" spc="-1" strike="noStrike">
              <a:latin typeface="Arial"/>
            </a:endParaRPr>
          </a:p>
        </p:txBody>
      </p:sp>
      <p:pic>
        <p:nvPicPr>
          <p:cNvPr id="255" name="" descr=""/>
          <p:cNvPicPr/>
          <p:nvPr/>
        </p:nvPicPr>
        <p:blipFill>
          <a:blip r:embed="rId1"/>
          <a:stretch/>
        </p:blipFill>
        <p:spPr>
          <a:xfrm>
            <a:off x="720360" y="2340360"/>
            <a:ext cx="2158200" cy="2158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s-ES" sz="2400" spc="-1" strike="noStrike">
                <a:solidFill>
                  <a:srgbClr val="000000"/>
                </a:solidFill>
                <a:latin typeface="Calibri"/>
              </a:rPr>
              <a:t>Regresión Logística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257" name="PlaceHolder 2"/>
          <p:cNvSpPr>
            <a:spLocks noGrp="1"/>
          </p:cNvSpPr>
          <p:nvPr>
            <p:ph/>
          </p:nvPr>
        </p:nvSpPr>
        <p:spPr>
          <a:xfrm>
            <a:off x="3780000" y="1980000"/>
            <a:ext cx="7980480" cy="2473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1" lang="en-US" sz="2400" spc="-1" strike="noStrike">
                <a:latin typeface="Arial"/>
              </a:rPr>
              <a:t> </a:t>
            </a:r>
            <a:r>
              <a:rPr b="1" lang="es-ES" sz="2400" spc="-1" strike="noStrike">
                <a:latin typeface="Calibri"/>
              </a:rPr>
              <a:t>Desventajas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15000"/>
              </a:lnSpc>
              <a:spcAft>
                <a:spcPts val="1236"/>
              </a:spcAft>
              <a:buClr>
                <a:srgbClr val="000000"/>
              </a:buClr>
              <a:buSzPct val="45000"/>
              <a:buFont typeface="Wingdings" charset="2"/>
              <a:buChar char=""/>
              <a:tabLst>
                <a:tab algn="l" pos="450360"/>
              </a:tabLst>
            </a:pPr>
            <a:r>
              <a:rPr b="0" lang="es-ES" sz="2000" spc="-1" strike="noStrike">
                <a:latin typeface="Calibri"/>
              </a:rPr>
              <a:t>Escalabilidad: entrenamiento costoso en datasets muy grandes.</a:t>
            </a: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15000"/>
              </a:lnSpc>
              <a:spcAft>
                <a:spcPts val="1236"/>
              </a:spcAft>
              <a:buClr>
                <a:srgbClr val="000000"/>
              </a:buClr>
              <a:buSzPct val="45000"/>
              <a:buFont typeface="Wingdings" charset="2"/>
              <a:buChar char=""/>
              <a:tabLst>
                <a:tab algn="l" pos="450360"/>
              </a:tabLst>
            </a:pPr>
            <a:r>
              <a:rPr b="0" lang="es-ES" sz="2000" spc="-1" strike="noStrike">
                <a:latin typeface="Calibri"/>
              </a:rPr>
              <a:t>Selección del kernel adecuado puede ser compleja.</a:t>
            </a: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15000"/>
              </a:lnSpc>
              <a:spcAft>
                <a:spcPts val="1236"/>
              </a:spcAft>
              <a:buClr>
                <a:srgbClr val="000000"/>
              </a:buClr>
              <a:buSzPct val="45000"/>
              <a:buFont typeface="Wingdings" charset="2"/>
              <a:buChar char=""/>
              <a:tabLst>
                <a:tab algn="l" pos="450360"/>
              </a:tabLst>
            </a:pPr>
            <a:r>
              <a:rPr b="0" lang="es-ES" sz="2000" spc="-1" strike="noStrike">
                <a:latin typeface="Calibri"/>
              </a:rPr>
              <a:t>Menos interpretable que modelos simples</a:t>
            </a:r>
            <a:endParaRPr b="0" lang="en-US" sz="2000" spc="-1" strike="noStrike">
              <a:latin typeface="Arial"/>
            </a:endParaRPr>
          </a:p>
          <a:p>
            <a:pPr marL="450360" indent="-179640">
              <a:lnSpc>
                <a:spcPct val="115000"/>
              </a:lnSpc>
              <a:spcAft>
                <a:spcPts val="1236"/>
              </a:spcAft>
              <a:buClr>
                <a:srgbClr val="000000"/>
              </a:buClr>
              <a:buSzPct val="45000"/>
              <a:buFont typeface="Wingdings" charset="2"/>
              <a:buChar char=""/>
              <a:tabLst>
                <a:tab algn="l" pos="450360"/>
              </a:tabLst>
            </a:pPr>
            <a:r>
              <a:rPr b="0" lang="es-ES" sz="2000" spc="-1" strike="noStrike">
                <a:latin typeface="Calibri"/>
              </a:rPr>
              <a:t>Sensible a valores de hiperparametros</a:t>
            </a:r>
            <a:endParaRPr b="0" lang="en-US" sz="2000" spc="-1" strike="noStrike">
              <a:latin typeface="Arial"/>
            </a:endParaRPr>
          </a:p>
        </p:txBody>
      </p:sp>
      <p:pic>
        <p:nvPicPr>
          <p:cNvPr id="258" name="" descr=""/>
          <p:cNvPicPr/>
          <p:nvPr/>
        </p:nvPicPr>
        <p:blipFill>
          <a:blip r:embed="rId1"/>
          <a:stretch/>
        </p:blipFill>
        <p:spPr>
          <a:xfrm>
            <a:off x="671760" y="2160360"/>
            <a:ext cx="2206800" cy="2158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07320" cy="53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/>
          </p:nvPr>
        </p:nvSpPr>
        <p:spPr>
          <a:xfrm>
            <a:off x="838080" y="1124640"/>
            <a:ext cx="10507320" cy="4343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379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10 CuadroTexto"/>
          <p:cNvSpPr/>
          <p:nvPr/>
        </p:nvSpPr>
        <p:spPr>
          <a:xfrm>
            <a:off x="5150160" y="5508000"/>
            <a:ext cx="18896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s-ES" sz="2400" spc="-1" strike="noStrike">
                <a:solidFill>
                  <a:srgbClr val="ffffff"/>
                </a:solidFill>
                <a:latin typeface="Calibri"/>
                <a:ea typeface="DejaVu Sans"/>
              </a:rPr>
              <a:t>www.ceste.es</a:t>
            </a:r>
            <a:endParaRPr b="0" lang="en-US" sz="2400" spc="-1" strike="noStrike">
              <a:latin typeface="Arial"/>
            </a:endParaRPr>
          </a:p>
        </p:txBody>
      </p:sp>
      <p:pic>
        <p:nvPicPr>
          <p:cNvPr id="262" name="11 Imagen" descr=""/>
          <p:cNvPicPr/>
          <p:nvPr/>
        </p:nvPicPr>
        <p:blipFill>
          <a:blip r:embed="rId1"/>
          <a:stretch/>
        </p:blipFill>
        <p:spPr>
          <a:xfrm>
            <a:off x="4227480" y="2349000"/>
            <a:ext cx="3729600" cy="181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61D317CF2309C4E8DA448EE42D88B65" ma:contentTypeVersion="16" ma:contentTypeDescription="Crear nuevo documento." ma:contentTypeScope="" ma:versionID="73b97258e99d47497b96ecb181da94f2">
  <xsd:schema xmlns:xsd="http://www.w3.org/2001/XMLSchema" xmlns:xs="http://www.w3.org/2001/XMLSchema" xmlns:p="http://schemas.microsoft.com/office/2006/metadata/properties" xmlns:ns2="e24c3f89-b1e2-4b5c-81e1-9b07710f5189" xmlns:ns3="ce845bb0-6f82-4cf9-8b02-3916bb6268df" targetNamespace="http://schemas.microsoft.com/office/2006/metadata/properties" ma:root="true" ma:fieldsID="47e9c207501d1d53c375c00c242f54b4" ns2:_="" ns3:_="">
    <xsd:import namespace="e24c3f89-b1e2-4b5c-81e1-9b07710f5189"/>
    <xsd:import namespace="ce845bb0-6f82-4cf9-8b02-3916bb6268d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24c3f89-b1e2-4b5c-81e1-9b07710f518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Etiquetas de imagen" ma:readOnly="false" ma:fieldId="{5cf76f15-5ced-4ddc-b409-7134ff3c332f}" ma:taxonomyMulti="true" ma:sspId="59dbaa74-2a60-464d-988b-bba989cac70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e845bb0-6f82-4cf9-8b02-3916bb6268df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51e47c2f-83de-443c-9b77-fbf0d35e4197}" ma:internalName="TaxCatchAll" ma:showField="CatchAllData" ma:web="ce845bb0-6f82-4cf9-8b02-3916bb6268d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24c3f89-b1e2-4b5c-81e1-9b07710f5189">
      <Terms xmlns="http://schemas.microsoft.com/office/infopath/2007/PartnerControls"/>
    </lcf76f155ced4ddcb4097134ff3c332f>
    <TaxCatchAll xmlns="ce845bb0-6f82-4cf9-8b02-3916bb6268df" xsi:nil="true"/>
  </documentManagement>
</p:properties>
</file>

<file path=customXml/itemProps1.xml><?xml version="1.0" encoding="utf-8"?>
<ds:datastoreItem xmlns:ds="http://schemas.openxmlformats.org/officeDocument/2006/customXml" ds:itemID="{F27A6D2C-8CE5-46A4-ADEC-6FD7C5F7EDCC}"/>
</file>

<file path=customXml/itemProps2.xml><?xml version="1.0" encoding="utf-8"?>
<ds:datastoreItem xmlns:ds="http://schemas.openxmlformats.org/officeDocument/2006/customXml" ds:itemID="{7557D189-32A8-411C-A1FE-5D98FC6CCF4F}"/>
</file>

<file path=customXml/itemProps3.xml><?xml version="1.0" encoding="utf-8"?>
<ds:datastoreItem xmlns:ds="http://schemas.openxmlformats.org/officeDocument/2006/customXml" ds:itemID="{E8D8D8A5-1EAA-41DC-A1E3-E107219891EB}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3404</TotalTime>
  <Application>LibreOffice/7.3.7.2$Linux_X86_64 LibreOffice_project/30$Build-2</Application>
  <AppVersion>15.0000</AppVersion>
  <Words>12</Words>
  <Paragraphs>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2014-05-13T08:36:54Z</dcterms:created>
  <dc:creator>psoria</dc:creator>
  <dc:description/>
  <dc:language>es-ES</dc:language>
  <cp:lastModifiedBy/>
  <cp:lastPrinted>2018-06-15T07:54:48Z</cp:lastPrinted>
  <dcterms:modified xsi:type="dcterms:W3CDTF">2026-01-13T11:18:45Z</dcterms:modified>
  <cp:revision>646</cp:revision>
  <dc:subject/>
  <dc:title>Diapositiva 1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0x010100D61D317CF2309C4E8DA448EE42D88B65</vt:lpwstr>
  </property>
  <property fmtid="{D5CDD505-2E9C-101B-9397-08002B2CF9AE}" pid="3" name="PresentationFormat">
    <vt:lpwstr>Panorámica</vt:lpwstr>
  </property>
  <property fmtid="{D5CDD505-2E9C-101B-9397-08002B2CF9AE}" pid="4" name="Slides">
    <vt:i4>3</vt:i4>
  </property>
</Properties>
</file>