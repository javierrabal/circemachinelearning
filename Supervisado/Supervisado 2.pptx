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3.jpeg" ContentType="image/jpeg"/>
  <Override PartName="/ppt/media/image40.png" ContentType="image/png"/>
  <Override PartName="/ppt/media/image33.png" ContentType="image/png"/>
  <Override PartName="/ppt/media/image39.png" ContentType="image/png"/>
  <Override PartName="/ppt/media/image9.png" ContentType="image/png"/>
  <Override PartName="/ppt/media/image13.png" ContentType="image/png"/>
  <Override PartName="/ppt/media/image1.png" ContentType="image/png"/>
  <Override PartName="/ppt/media/image38.png" ContentType="image/png"/>
  <Override PartName="/ppt/media/image8.png" ContentType="image/png"/>
  <Override PartName="/ppt/media/image49.png" ContentType="image/png"/>
  <Override PartName="/ppt/media/image12.png" ContentType="image/png"/>
  <Override PartName="/ppt/media/image20.png" ContentType="image/png"/>
  <Override PartName="/ppt/media/image57.png" ContentType="image/png"/>
  <Override PartName="/ppt/media/image21.png" ContentType="image/png"/>
  <Override PartName="/ppt/media/image58.png" ContentType="image/png"/>
  <Override PartName="/ppt/media/image22.png" ContentType="image/png"/>
  <Override PartName="/ppt/media/image59.png" ContentType="image/png"/>
  <Override PartName="/ppt/media/image23.png" ContentType="image/png"/>
  <Override PartName="/ppt/media/image60.png" ContentType="image/png"/>
  <Override PartName="/ppt/media/image24.png" ContentType="image/png"/>
  <Override PartName="/ppt/media/image61.png" ContentType="image/png"/>
  <Override PartName="/ppt/media/image62.png" ContentType="image/png"/>
  <Override PartName="/ppt/media/image26.png" ContentType="image/png"/>
  <Override PartName="/ppt/media/image63.png" ContentType="image/png"/>
  <Override PartName="/ppt/media/image64.png" ContentType="image/png"/>
  <Override PartName="/ppt/media/image65.png" ContentType="image/png"/>
  <Override PartName="/ppt/media/image66.png" ContentType="image/png"/>
  <Override PartName="/ppt/media/image79.png" ContentType="image/png"/>
  <Override PartName="/ppt/media/image67.png" ContentType="image/png"/>
  <Override PartName="/ppt/media/image30.png" ContentType="image/png"/>
  <Override PartName="/ppt/media/image78.png" ContentType="image/png"/>
  <Override PartName="/ppt/media/image77.png" ContentType="image/png"/>
  <Override PartName="/ppt/media/image76.png" ContentType="image/png"/>
  <Override PartName="/ppt/media/image75.png" ContentType="image/png"/>
  <Override PartName="/ppt/media/image74.png" ContentType="image/png"/>
  <Override PartName="/ppt/media/image73.png" ContentType="image/png"/>
  <Override PartName="/ppt/media/image72.png" ContentType="image/png"/>
  <Override PartName="/ppt/media/image71.png" ContentType="image/png"/>
  <Override PartName="/ppt/media/image29.png" ContentType="image/png"/>
  <Override PartName="/ppt/media/image69.png" ContentType="image/png"/>
  <Override PartName="/ppt/media/image32.png" ContentType="image/png"/>
  <Override PartName="/ppt/media/image70.png" ContentType="image/png"/>
  <Override PartName="/ppt/media/image28.png" ContentType="image/png"/>
  <Override PartName="/ppt/media/image68.png" ContentType="image/png"/>
  <Override PartName="/ppt/media/image31.png" ContentType="image/png"/>
  <Override PartName="/ppt/media/image80.png" ContentType="image/png"/>
  <Override PartName="/ppt/media/image15.png" ContentType="image/png"/>
  <Override PartName="/ppt/media/image25.png" ContentType="image/png"/>
  <Override PartName="/ppt/media/image2.png" ContentType="image/png"/>
  <Override PartName="/ppt/media/image14.png" ContentType="image/png"/>
  <Override PartName="/ppt/media/image27.png" ContentType="image/png"/>
  <Override PartName="/ppt/media/image81.png" ContentType="image/png"/>
  <Override PartName="/ppt/media/image16.png" ContentType="image/png"/>
  <Override PartName="/ppt/media/image4.png" ContentType="image/png"/>
  <Override PartName="/ppt/media/image34.png" ContentType="image/png"/>
  <Override PartName="/ppt/media/image82.png" ContentType="image/png"/>
  <Override PartName="/ppt/media/image17.png" ContentType="image/png"/>
  <Override PartName="/ppt/media/image5.png" ContentType="image/png"/>
  <Override PartName="/ppt/media/image35.png" ContentType="image/png"/>
  <Override PartName="/ppt/media/image10.png" ContentType="image/png"/>
  <Override PartName="/ppt/media/image47.png" ContentType="image/png"/>
  <Override PartName="/ppt/media/image18.png" ContentType="image/png"/>
  <Override PartName="/ppt/media/image83.png" ContentType="image/png"/>
  <Override PartName="/ppt/media/image6.png" ContentType="image/png"/>
  <Override PartName="/ppt/media/image36.png" ContentType="image/png"/>
  <Override PartName="/ppt/media/image11.png" ContentType="image/png"/>
  <Override PartName="/ppt/media/image48.png" ContentType="image/png"/>
  <Override PartName="/ppt/media/image19.png" ContentType="image/png"/>
  <Override PartName="/ppt/media/image7.png" ContentType="image/png"/>
  <Override PartName="/ppt/media/image37.png" ContentType="image/png"/>
  <Override PartName="/ppt/presProps.xml" ContentType="application/vnd.openxmlformats-officedocument.presentationml.presProps+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76.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7.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42.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6.xml.rels" ContentType="application/vnd.openxmlformats-package.relationships+xml"/>
  <Override PartName="/ppt/slides/_rels/slide41.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48.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28.xml.rels" ContentType="application/vnd.openxmlformats-package.relationships+xml"/>
  <Override PartName="/ppt/slides/_rels/slide44.xml.rels" ContentType="application/vnd.openxmlformats-package.relationships+xml"/>
  <Override PartName="/ppt/slides/_rels/slide9.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62.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25.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66.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65.xml.rels" ContentType="application/vnd.openxmlformats-package.relationships+xml"/>
  <Override PartName="/ppt/slides/_rels/slide58.xml.rels" ContentType="application/vnd.openxmlformats-package.relationships+xml"/>
  <Override PartName="/ppt/slides/_rels/slide74.xml.rels" ContentType="application/vnd.openxmlformats-package.relationships+xml"/>
  <Override PartName="/ppt/slides/_rels/slide23.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68.xml.rels" ContentType="application/vnd.openxmlformats-package.relationships+xml"/>
  <Override PartName="/ppt/slides/_rels/slide72.xml.rels" ContentType="application/vnd.openxmlformats-package.relationships+xml"/>
  <Override PartName="/ppt/slides/_rels/slide67.xml.rels" ContentType="application/vnd.openxmlformats-package.relationships+xml"/>
  <Override PartName="/ppt/slides/_rels/slide71.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a:t>
            </a:r>
            <a:r>
              <a:rPr b="0" lang="en-US" sz="4400" spc="-1" strike="noStrike">
                <a:latin typeface="Arial"/>
              </a:rPr>
              <a:t>título</a:t>
            </a:r>
            <a:endParaRPr b="0" lang="en-US" sz="4400" spc="-1" strike="noStrike">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6 Rectángulo"/>
          <p:cNvSpPr/>
          <p:nvPr/>
        </p:nvSpPr>
        <p:spPr>
          <a:xfrm>
            <a:off x="0" y="6179400"/>
            <a:ext cx="12186000" cy="68652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39" name="Picture 4" descr="http://www.ceste.es/wp-content/uploads/2016/06/CESTE-Diamante.png"/>
          <p:cNvPicPr/>
          <p:nvPr/>
        </p:nvPicPr>
        <p:blipFill>
          <a:blip r:embed="rId2"/>
          <a:stretch/>
        </p:blipFill>
        <p:spPr>
          <a:xfrm flipH="1">
            <a:off x="1685520" y="5883840"/>
            <a:ext cx="596520" cy="598680"/>
          </a:xfrm>
          <a:prstGeom prst="rect">
            <a:avLst/>
          </a:prstGeom>
          <a:ln w="0">
            <a:noFill/>
          </a:ln>
        </p:spPr>
      </p:pic>
      <p:pic>
        <p:nvPicPr>
          <p:cNvPr id="40" name="8 Imagen" descr="CESTE blanco estrella roja sin coletilla.png"/>
          <p:cNvPicPr/>
          <p:nvPr/>
        </p:nvPicPr>
        <p:blipFill>
          <a:blip r:embed="rId3"/>
          <a:stretch/>
        </p:blipFill>
        <p:spPr>
          <a:xfrm>
            <a:off x="9936360" y="6184800"/>
            <a:ext cx="1361520" cy="646560"/>
          </a:xfrm>
          <a:prstGeom prst="rect">
            <a:avLst/>
          </a:prstGeom>
          <a:ln w="0">
            <a:noFill/>
          </a:ln>
        </p:spPr>
      </p:pic>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Pulse para editar el formato del texto de título</a:t>
            </a:r>
            <a:endParaRPr b="0" lang="en-US" sz="4400" spc="-1" strike="noStrike">
              <a:latin typeface="Arial"/>
            </a:endParaRPr>
          </a:p>
        </p:txBody>
      </p:sp>
      <p:sp>
        <p:nvSpPr>
          <p:cNvPr id="4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Pulse para editar el formato de texto del esquema</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Segundo nivel del esquema</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Tercer nivel del esquema</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Cuarto nivel del esquema</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Quinto nivel del esquema</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Sexto nivel del esquema</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Séptimo nivel del esquema</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s/_rels/slide1.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image" Target="../media/image40.png"/><Relationship Id="rId3"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46.png"/><Relationship Id="rId3"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1.png"/><Relationship Id="rId3"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3.xml"/>
</Relationships>
</file>

<file path=ppt/slides/_rels/slide47.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slideLayout" Target="../slideLayouts/slideLayout13.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9.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slideLayout" Target="../slideLayouts/slideLayout1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2.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image" Target="../media/image70.png"/><Relationship Id="rId3" Type="http://schemas.openxmlformats.org/officeDocument/2006/relationships/slideLayout" Target="../slideLayouts/slideLayout13.xml"/>
</Relationships>
</file>

<file path=ppt/slides/_rels/slide54.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3.xml"/>
</Relationships>
</file>

<file path=ppt/slides/_rels/slide55.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image" Target="../media/image74.png"/><Relationship Id="rId3" Type="http://schemas.openxmlformats.org/officeDocument/2006/relationships/slideLayout" Target="../slideLayouts/slideLayout13.xml"/>
</Relationships>
</file>

<file path=ppt/slides/_rels/slide56.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13.xml"/>
</Relationships>
</file>

<file path=ppt/slides/_rels/slide57.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1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13.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6.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slideLayout" Target="../slideLayouts/slideLayout13.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9.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13.xml"/>
</Relationships>
</file>

<file path=ppt/slides/_rels/slide70.xml.rels><?xml version="1.0" encoding="UTF-8"?>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3.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4.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13.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6.xml.rels><?xml version="1.0" encoding="UTF-8"?>
<Relationships xmlns="http://schemas.openxmlformats.org/package/2006/relationships"><Relationship Id="rId1" Type="http://schemas.openxmlformats.org/officeDocument/2006/relationships/image" Target="../media/image83.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9" name="Imagen 3" descr="Una mujer en frente de laptop&#10;&#10;Descripción generada automáticamente"/>
          <p:cNvPicPr/>
          <p:nvPr/>
        </p:nvPicPr>
        <p:blipFill>
          <a:blip r:embed="rId1"/>
          <a:srcRect l="1742" t="12716" r="9979" b="12799"/>
          <a:stretch/>
        </p:blipFill>
        <p:spPr>
          <a:xfrm>
            <a:off x="0" y="0"/>
            <a:ext cx="12186000" cy="6851880"/>
          </a:xfrm>
          <a:prstGeom prst="rect">
            <a:avLst/>
          </a:prstGeom>
          <a:ln w="0">
            <a:noFill/>
          </a:ln>
        </p:spPr>
      </p:pic>
      <p:sp>
        <p:nvSpPr>
          <p:cNvPr id="80" name="7 Rectángulo"/>
          <p:cNvSpPr/>
          <p:nvPr/>
        </p:nvSpPr>
        <p:spPr>
          <a:xfrm>
            <a:off x="852840" y="6682680"/>
            <a:ext cx="11386080" cy="34668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1" name="Picture 4" descr="http://www.ceste.es/wp-content/uploads/2016/06/CESTE-Diamante.png"/>
          <p:cNvPicPr/>
          <p:nvPr/>
        </p:nvPicPr>
        <p:blipFill>
          <a:blip r:embed="rId2"/>
          <a:stretch/>
        </p:blipFill>
        <p:spPr>
          <a:xfrm flipH="1">
            <a:off x="557640" y="6582960"/>
            <a:ext cx="596520" cy="598680"/>
          </a:xfrm>
          <a:prstGeom prst="rect">
            <a:avLst/>
          </a:prstGeom>
          <a:ln w="0">
            <a:noFill/>
          </a:ln>
        </p:spPr>
      </p:pic>
      <p:sp>
        <p:nvSpPr>
          <p:cNvPr id="82" name="7 Rectángulo"/>
          <p:cNvSpPr/>
          <p:nvPr/>
        </p:nvSpPr>
        <p:spPr>
          <a:xfrm>
            <a:off x="-96840" y="-99360"/>
            <a:ext cx="11482920" cy="281880"/>
          </a:xfrm>
          <a:prstGeom prst="rect">
            <a:avLst/>
          </a:prstGeom>
          <a:solidFill>
            <a:srgbClr val="003594"/>
          </a:solidFill>
          <a:ln>
            <a:noFill/>
          </a:ln>
        </p:spPr>
        <p:style>
          <a:lnRef idx="2">
            <a:schemeClr val="accent1">
              <a:shade val="50000"/>
            </a:schemeClr>
          </a:lnRef>
          <a:fillRef idx="1">
            <a:schemeClr val="accent1"/>
          </a:fillRef>
          <a:effectRef idx="0">
            <a:schemeClr val="accent1"/>
          </a:effectRef>
          <a:fontRef idx="minor"/>
        </p:style>
      </p:sp>
      <p:pic>
        <p:nvPicPr>
          <p:cNvPr id="83" name="Picture 4" descr="http://www.ceste.es/wp-content/uploads/2016/06/CESTE-Diamante.png"/>
          <p:cNvPicPr/>
          <p:nvPr/>
        </p:nvPicPr>
        <p:blipFill>
          <a:blip r:embed="rId3"/>
          <a:stretch/>
        </p:blipFill>
        <p:spPr>
          <a:xfrm flipH="1">
            <a:off x="11097000" y="-316440"/>
            <a:ext cx="596520" cy="598680"/>
          </a:xfrm>
          <a:prstGeom prst="rect">
            <a:avLst/>
          </a:prstGeom>
          <a:ln w="0">
            <a:noFill/>
          </a:ln>
        </p:spPr>
      </p:pic>
      <p:grpSp>
        <p:nvGrpSpPr>
          <p:cNvPr id="84" name="Grupo 14"/>
          <p:cNvGrpSpPr/>
          <p:nvPr/>
        </p:nvGrpSpPr>
        <p:grpSpPr>
          <a:xfrm>
            <a:off x="504000" y="405720"/>
            <a:ext cx="5250240" cy="2400840"/>
            <a:chOff x="504000" y="405720"/>
            <a:chExt cx="5250240" cy="2400840"/>
          </a:xfrm>
        </p:grpSpPr>
        <p:sp>
          <p:nvSpPr>
            <p:cNvPr id="85" name="12 Rectángulo"/>
            <p:cNvSpPr/>
            <p:nvPr/>
          </p:nvSpPr>
          <p:spPr>
            <a:xfrm>
              <a:off x="504000" y="405720"/>
              <a:ext cx="4848840" cy="2400840"/>
            </a:xfrm>
            <a:prstGeom prst="rect">
              <a:avLst/>
            </a:prstGeom>
            <a:solidFill>
              <a:srgbClr val="003594">
                <a:alpha val="46000"/>
              </a:srgbClr>
            </a:solidFill>
            <a:ln>
              <a:noFill/>
            </a:ln>
          </p:spPr>
          <p:style>
            <a:lnRef idx="2">
              <a:schemeClr val="accent1">
                <a:shade val="50000"/>
              </a:schemeClr>
            </a:lnRef>
            <a:fillRef idx="1">
              <a:schemeClr val="accent1"/>
            </a:fillRef>
            <a:effectRef idx="0">
              <a:schemeClr val="accent1"/>
            </a:effectRef>
            <a:fontRef idx="minor"/>
          </p:style>
        </p:sp>
        <p:grpSp>
          <p:nvGrpSpPr>
            <p:cNvPr id="86" name="Grupo 5"/>
            <p:cNvGrpSpPr/>
            <p:nvPr/>
          </p:nvGrpSpPr>
          <p:grpSpPr>
            <a:xfrm>
              <a:off x="734760" y="980640"/>
              <a:ext cx="5019480" cy="1825920"/>
              <a:chOff x="734760" y="980640"/>
              <a:chExt cx="5019480" cy="1825920"/>
            </a:xfrm>
          </p:grpSpPr>
          <p:sp>
            <p:nvSpPr>
              <p:cNvPr id="87" name="2 Subtítulo"/>
              <p:cNvSpPr/>
              <p:nvPr/>
            </p:nvSpPr>
            <p:spPr>
              <a:xfrm>
                <a:off x="778680" y="2277000"/>
                <a:ext cx="4975560" cy="529560"/>
              </a:xfrm>
              <a:prstGeom prst="rect">
                <a:avLst/>
              </a:prstGeom>
              <a:noFill/>
              <a:ln w="0">
                <a:noFill/>
              </a:ln>
            </p:spPr>
            <p:style>
              <a:lnRef idx="0"/>
              <a:fillRef idx="0"/>
              <a:effectRef idx="0"/>
              <a:fontRef idx="minor"/>
            </p:style>
            <p:txBody>
              <a:bodyPr lIns="90000" rIns="90000" tIns="45000" bIns="45000" anchor="t">
                <a:normAutofit/>
              </a:bodyPr>
              <a:p>
                <a:pPr>
                  <a:lnSpc>
                    <a:spcPct val="100000"/>
                  </a:lnSpc>
                  <a:buNone/>
                  <a:tabLst>
                    <a:tab algn="l" pos="0"/>
                  </a:tabLst>
                </a:pPr>
                <a:r>
                  <a:rPr b="1" lang="es-ES" sz="1800" spc="-1" strike="noStrike">
                    <a:solidFill>
                      <a:srgbClr val="ffffff"/>
                    </a:solidFill>
                    <a:latin typeface="Calibri"/>
                    <a:ea typeface="DejaVu Sans"/>
                  </a:rPr>
                  <a:t>Aprendizaje supervisado</a:t>
                </a:r>
                <a:endParaRPr b="0" lang="en-US" sz="1800" spc="-1" strike="noStrike">
                  <a:latin typeface="Arial"/>
                </a:endParaRPr>
              </a:p>
            </p:txBody>
          </p:sp>
          <p:sp>
            <p:nvSpPr>
              <p:cNvPr id="88" name="1 Título"/>
              <p:cNvSpPr/>
              <p:nvPr/>
            </p:nvSpPr>
            <p:spPr>
              <a:xfrm>
                <a:off x="734760" y="980640"/>
                <a:ext cx="4011480" cy="13168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1" lang="es-ES" sz="3500" spc="-1" strike="noStrike">
                    <a:solidFill>
                      <a:srgbClr val="ffffff"/>
                    </a:solidFill>
                    <a:latin typeface="Calibri"/>
                    <a:ea typeface="DejaVu Sans"/>
                  </a:rPr>
                  <a:t>Formación IA</a:t>
                </a:r>
                <a:endParaRPr b="0" lang="en-US" sz="3500" spc="-1" strike="noStrike">
                  <a:latin typeface="Arial"/>
                </a:endParaRPr>
              </a:p>
            </p:txBody>
          </p:sp>
        </p:grpSp>
      </p:grpSp>
      <p:pic>
        <p:nvPicPr>
          <p:cNvPr id="89" name="Imagen 9" descr="Logotipo&#10;&#10;El contenido generado por IA puede ser incorrecto."/>
          <p:cNvPicPr/>
          <p:nvPr/>
        </p:nvPicPr>
        <p:blipFill>
          <a:blip r:embed="rId4"/>
          <a:stretch/>
        </p:blipFill>
        <p:spPr>
          <a:xfrm>
            <a:off x="3575880" y="532440"/>
            <a:ext cx="1648080" cy="8020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a:t>
            </a:r>
            <a:endParaRPr b="0" lang="en-US" sz="2400" spc="-1" strike="noStrike">
              <a:latin typeface="Arial"/>
            </a:endParaRPr>
          </a:p>
        </p:txBody>
      </p:sp>
      <p:sp>
        <p:nvSpPr>
          <p:cNvPr id="91"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Definición:</a:t>
            </a:r>
            <a:r>
              <a:rPr b="0" lang="es-ES" sz="2000" spc="-1" strike="noStrike">
                <a:latin typeface="Calibri"/>
              </a:rPr>
              <a:t> es una medida cuantitativa utilizada para evaluar el rendimiento, la eficacia y la calidad de un modelo de aprendizaje automático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Evaluación objetiva:</a:t>
            </a:r>
            <a:r>
              <a:rPr b="0" lang="es-ES" sz="2000" spc="-1" strike="noStrike">
                <a:latin typeface="Calibri"/>
              </a:rPr>
              <a:t> Permiten saber qué tan bien se comporta un modelo al realizar predicciones con datos no vistos anteriormente.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Toma de decisiones:</a:t>
            </a:r>
            <a:r>
              <a:rPr b="0" lang="es-ES" sz="2000" spc="-1" strike="noStrike">
                <a:latin typeface="Calibri"/>
              </a:rPr>
              <a:t> Guían la elección del mejor modelo para un problema específico y ayudan a identificar si es adecuado para su implementación en un entorno real.</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Identificación de problemas:</a:t>
            </a:r>
            <a:r>
              <a:rPr b="0" lang="es-ES" sz="2000" spc="-1" strike="noStrike">
                <a:latin typeface="Calibri"/>
              </a:rPr>
              <a:t> Ayudan a diagnosticar si un modelo tiene problemas como el sobreajuste (overfitting) o subajuste (underfitting).</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Comunicación de resultados:</a:t>
            </a:r>
            <a:r>
              <a:rPr b="0" lang="es-ES" sz="2000" spc="-1" strike="noStrike">
                <a:latin typeface="Calibri"/>
              </a:rPr>
              <a:t> Facilitan la comunicación del desempeño del modelo a las partes interesadas, como clientes o equipos de negocio</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sp>
        <p:nvSpPr>
          <p:cNvPr id="93" name="PlaceHolder 2"/>
          <p:cNvSpPr>
            <a:spLocks noGrp="1"/>
          </p:cNvSpPr>
          <p:nvPr>
            <p:ph/>
          </p:nvPr>
        </p:nvSpPr>
        <p:spPr>
          <a:xfrm>
            <a:off x="838080" y="1124640"/>
            <a:ext cx="10509480" cy="2293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Error Absoluto Medio (MAE):</a:t>
            </a:r>
            <a:r>
              <a:rPr b="0" lang="es-ES" sz="2000" spc="-1" strike="noStrike">
                <a:latin typeface="Calibri"/>
              </a:rPr>
              <a:t> El promedio de las diferencias absolutas entre los valores predichos y los valores reales</a:t>
            </a:r>
            <a:endParaRPr b="0" lang="en-US" sz="2000" spc="-1" strike="noStrike">
              <a:latin typeface="Arial"/>
            </a:endParaRPr>
          </a:p>
          <a:p>
            <a:pPr>
              <a:lnSpc>
                <a:spcPct val="100000"/>
              </a:lnSpc>
              <a:buNone/>
            </a:pP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1" lang="es-ES" sz="2000" spc="-1" strike="noStrike">
                <a:latin typeface="Calibri"/>
              </a:rPr>
              <a:t>Intuitivo:</a:t>
            </a:r>
            <a:r>
              <a:rPr b="0" lang="es-ES" sz="2000" spc="-1" strike="noStrike">
                <a:latin typeface="Calibri"/>
              </a:rPr>
              <a:t> mide cuánto se desvían en promedio las predicciones de los valores reales.</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1" lang="es-ES" sz="2000" spc="-1" strike="noStrike">
                <a:latin typeface="Calibri"/>
              </a:rPr>
              <a:t>Ventaja: </a:t>
            </a:r>
            <a:r>
              <a:rPr b="0" lang="es-ES" sz="2000" spc="-1" strike="noStrike">
                <a:latin typeface="Calibri"/>
              </a:rPr>
              <a:t>fácil de interpretar en la misma escala de la variable.</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1" lang="es-ES" sz="2000" spc="-1" strike="noStrike">
                <a:latin typeface="Calibri"/>
              </a:rPr>
              <a:t>Desventaja:</a:t>
            </a:r>
            <a:r>
              <a:rPr b="0" lang="es-ES" sz="2000" spc="-1" strike="noStrike">
                <a:latin typeface="Calibri"/>
              </a:rPr>
              <a:t> no penaliza fuertemente los errores grandes.</a:t>
            </a:r>
            <a:endParaRPr b="0" lang="en-US" sz="2000" spc="-1" strike="noStrike">
              <a:latin typeface="Arial"/>
            </a:endParaRPr>
          </a:p>
        </p:txBody>
      </p:sp>
      <p:pic>
        <p:nvPicPr>
          <p:cNvPr id="94" name="" descr=""/>
          <p:cNvPicPr/>
          <p:nvPr/>
        </p:nvPicPr>
        <p:blipFill>
          <a:blip r:embed="rId1"/>
          <a:stretch/>
        </p:blipFill>
        <p:spPr>
          <a:xfrm>
            <a:off x="2340000" y="4500000"/>
            <a:ext cx="2434680" cy="718200"/>
          </a:xfrm>
          <a:prstGeom prst="rect">
            <a:avLst/>
          </a:prstGeom>
          <a:ln w="0">
            <a:noFill/>
          </a:ln>
        </p:spPr>
      </p:pic>
      <p:pic>
        <p:nvPicPr>
          <p:cNvPr id="95" name="" descr=""/>
          <p:cNvPicPr/>
          <p:nvPr/>
        </p:nvPicPr>
        <p:blipFill>
          <a:blip r:embed="rId2"/>
          <a:stretch/>
        </p:blipFill>
        <p:spPr>
          <a:xfrm>
            <a:off x="5954400" y="3731400"/>
            <a:ext cx="3763800" cy="2388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sp>
        <p:nvSpPr>
          <p:cNvPr id="97" name="PlaceHolder 2"/>
          <p:cNvSpPr>
            <a:spLocks noGrp="1"/>
          </p:cNvSpPr>
          <p:nvPr>
            <p:ph/>
          </p:nvPr>
        </p:nvSpPr>
        <p:spPr>
          <a:xfrm>
            <a:off x="838080" y="1124640"/>
            <a:ext cx="10509480" cy="2473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000" spc="-1" strike="noStrike">
                <a:latin typeface="Calibri"/>
              </a:rPr>
              <a:t>Error Cuadrático Medio (MSE):</a:t>
            </a:r>
            <a:r>
              <a:rPr b="0" lang="es-ES" sz="2000" spc="-1" strike="noStrike">
                <a:latin typeface="Calibri"/>
              </a:rPr>
              <a:t> El promedio de las diferencias al cuadrado entre los valores predichos y los valores reales, penalizando más los errores grandes</a:t>
            </a:r>
            <a:endParaRPr b="0" lang="en-US" sz="2000" spc="-1" strike="noStrike">
              <a:latin typeface="Arial"/>
            </a:endParaRPr>
          </a:p>
          <a:p>
            <a:pPr>
              <a:lnSpc>
                <a:spcPct val="100000"/>
              </a:lnSpc>
              <a:buNone/>
            </a:pP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Penaliza más los errores grandes por el cuadrado.</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Útil para optimización, ya que es diferenciable.</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Desventaja: menos interpretable directamente.</a:t>
            </a:r>
            <a:endParaRPr b="0" lang="en-US" sz="2000" spc="-1" strike="noStrike">
              <a:latin typeface="Arial"/>
            </a:endParaRPr>
          </a:p>
        </p:txBody>
      </p:sp>
      <p:pic>
        <p:nvPicPr>
          <p:cNvPr id="98" name="" descr=""/>
          <p:cNvPicPr/>
          <p:nvPr/>
        </p:nvPicPr>
        <p:blipFill>
          <a:blip r:embed="rId1"/>
          <a:stretch/>
        </p:blipFill>
        <p:spPr>
          <a:xfrm>
            <a:off x="2785320" y="4320000"/>
            <a:ext cx="2350440" cy="718200"/>
          </a:xfrm>
          <a:prstGeom prst="rect">
            <a:avLst/>
          </a:prstGeom>
          <a:ln w="0">
            <a:noFill/>
          </a:ln>
        </p:spPr>
      </p:pic>
      <p:pic>
        <p:nvPicPr>
          <p:cNvPr id="99" name="" descr=""/>
          <p:cNvPicPr/>
          <p:nvPr/>
        </p:nvPicPr>
        <p:blipFill>
          <a:blip r:embed="rId2"/>
          <a:stretch/>
        </p:blipFill>
        <p:spPr>
          <a:xfrm>
            <a:off x="7587720" y="2340000"/>
            <a:ext cx="4341240" cy="323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sp>
        <p:nvSpPr>
          <p:cNvPr id="101"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Raíz del Error Cuadrático Medio (RMSE):</a:t>
            </a:r>
            <a:r>
              <a:rPr b="0" lang="es-ES" sz="2000" spc="-1" strike="noStrike">
                <a:latin typeface="Calibri"/>
              </a:rPr>
              <a:t> La raíz cuadrada del MSE</a:t>
            </a:r>
            <a:endParaRPr b="0" lang="en-US" sz="2000" spc="-1" strike="noStrike">
              <a:latin typeface="Arial"/>
            </a:endParaRPr>
          </a:p>
          <a:p>
            <a:pPr>
              <a:lnSpc>
                <a:spcPct val="100000"/>
              </a:lnSpc>
              <a:buNone/>
            </a:pP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Interpretable en la misma escala de la variable objetivo.</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Más sensible a valores atípicos que MAE</a:t>
            </a:r>
            <a:endParaRPr b="0" lang="en-US" sz="2000" spc="-1" strike="noStrike">
              <a:latin typeface="Arial"/>
            </a:endParaRPr>
          </a:p>
        </p:txBody>
      </p:sp>
      <p:pic>
        <p:nvPicPr>
          <p:cNvPr id="102" name="" descr=""/>
          <p:cNvPicPr/>
          <p:nvPr/>
        </p:nvPicPr>
        <p:blipFill>
          <a:blip r:embed="rId1"/>
          <a:stretch/>
        </p:blipFill>
        <p:spPr>
          <a:xfrm>
            <a:off x="3600000" y="3411720"/>
            <a:ext cx="3778200" cy="663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sp>
        <p:nvSpPr>
          <p:cNvPr id="104" name="PlaceHolder 2"/>
          <p:cNvSpPr>
            <a:spLocks noGrp="1"/>
          </p:cNvSpPr>
          <p:nvPr>
            <p:ph/>
          </p:nvPr>
        </p:nvSpPr>
        <p:spPr>
          <a:xfrm>
            <a:off x="838080" y="1124640"/>
            <a:ext cx="10509480" cy="67356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Coeficiente de Determinación (R²):</a:t>
            </a:r>
            <a:r>
              <a:rPr b="0" lang="es-ES" sz="2000" spc="-1" strike="noStrike">
                <a:latin typeface="Calibri"/>
              </a:rPr>
              <a:t> Representa la proporción de variabilidad explicada por el modelo.</a:t>
            </a:r>
            <a:endParaRPr b="0" lang="en-US" sz="2000" spc="-1" strike="noStrike">
              <a:latin typeface="Arial"/>
            </a:endParaRPr>
          </a:p>
        </p:txBody>
      </p:sp>
      <p:pic>
        <p:nvPicPr>
          <p:cNvPr id="105" name="" descr=""/>
          <p:cNvPicPr/>
          <p:nvPr/>
        </p:nvPicPr>
        <p:blipFill>
          <a:blip r:embed="rId1"/>
          <a:stretch/>
        </p:blipFill>
        <p:spPr>
          <a:xfrm>
            <a:off x="1914120" y="2700000"/>
            <a:ext cx="2584080" cy="711000"/>
          </a:xfrm>
          <a:prstGeom prst="rect">
            <a:avLst/>
          </a:prstGeom>
          <a:ln w="0">
            <a:noFill/>
          </a:ln>
        </p:spPr>
      </p:pic>
      <p:pic>
        <p:nvPicPr>
          <p:cNvPr id="106" name="" descr=""/>
          <p:cNvPicPr/>
          <p:nvPr/>
        </p:nvPicPr>
        <p:blipFill>
          <a:blip r:embed="rId2"/>
          <a:stretch/>
        </p:blipFill>
        <p:spPr>
          <a:xfrm>
            <a:off x="6485760" y="2062440"/>
            <a:ext cx="4492440" cy="3695760"/>
          </a:xfrm>
          <a:prstGeom prst="rect">
            <a:avLst/>
          </a:prstGeom>
          <a:ln w="0">
            <a:noFill/>
          </a:ln>
        </p:spPr>
      </p:pic>
      <p:pic>
        <p:nvPicPr>
          <p:cNvPr id="107" name="" descr=""/>
          <p:cNvPicPr/>
          <p:nvPr/>
        </p:nvPicPr>
        <p:blipFill>
          <a:blip r:embed="rId3"/>
          <a:stretch/>
        </p:blipFill>
        <p:spPr>
          <a:xfrm>
            <a:off x="733320" y="3960000"/>
            <a:ext cx="5204880" cy="863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pic>
        <p:nvPicPr>
          <p:cNvPr id="109" name="" descr=""/>
          <p:cNvPicPr/>
          <p:nvPr/>
        </p:nvPicPr>
        <p:blipFill>
          <a:blip r:embed="rId1"/>
          <a:stretch/>
        </p:blipFill>
        <p:spPr>
          <a:xfrm>
            <a:off x="2278800" y="1260000"/>
            <a:ext cx="8154000" cy="413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Regresión</a:t>
            </a:r>
            <a:endParaRPr b="0" lang="en-US" sz="2400" spc="-1" strike="noStrike">
              <a:latin typeface="Arial"/>
            </a:endParaRPr>
          </a:p>
        </p:txBody>
      </p:sp>
      <p:pic>
        <p:nvPicPr>
          <p:cNvPr id="111" name="" descr=""/>
          <p:cNvPicPr/>
          <p:nvPr/>
        </p:nvPicPr>
        <p:blipFill>
          <a:blip r:embed="rId1"/>
          <a:stretch/>
        </p:blipFill>
        <p:spPr>
          <a:xfrm>
            <a:off x="2160000" y="1440000"/>
            <a:ext cx="7908480" cy="3778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13" name="PlaceHolder 2"/>
          <p:cNvSpPr>
            <a:spLocks noGrp="1"/>
          </p:cNvSpPr>
          <p:nvPr>
            <p:ph/>
          </p:nvPr>
        </p:nvSpPr>
        <p:spPr>
          <a:xfrm>
            <a:off x="838080" y="1124640"/>
            <a:ext cx="10509480" cy="103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0" lang="es-ES" sz="1800" spc="-1" strike="noStrike">
                <a:latin typeface="Calibri"/>
              </a:rPr>
              <a:t>Matriz de confusión: Es una tabla que compara las clases reales (verdaderas) de los datos con las clases predichas por el modelo. Permite análisis detallado de los errores del modelo y es la base para calcular todas las métricas de rendimiento</a:t>
            </a:r>
            <a:endParaRPr b="0" lang="en-US" sz="1800" spc="-1" strike="noStrike">
              <a:latin typeface="Arial"/>
            </a:endParaRPr>
          </a:p>
        </p:txBody>
      </p:sp>
      <p:pic>
        <p:nvPicPr>
          <p:cNvPr id="114" name="" descr=""/>
          <p:cNvPicPr/>
          <p:nvPr/>
        </p:nvPicPr>
        <p:blipFill>
          <a:blip r:embed="rId1"/>
          <a:stretch/>
        </p:blipFill>
        <p:spPr>
          <a:xfrm>
            <a:off x="1080000" y="2160000"/>
            <a:ext cx="5398560" cy="3784680"/>
          </a:xfrm>
          <a:prstGeom prst="rect">
            <a:avLst/>
          </a:prstGeom>
          <a:ln w="0">
            <a:noFill/>
          </a:ln>
        </p:spPr>
      </p:pic>
      <p:pic>
        <p:nvPicPr>
          <p:cNvPr id="115" name="" descr=""/>
          <p:cNvPicPr/>
          <p:nvPr/>
        </p:nvPicPr>
        <p:blipFill>
          <a:blip r:embed="rId2"/>
          <a:stretch/>
        </p:blipFill>
        <p:spPr>
          <a:xfrm>
            <a:off x="7446600" y="2244600"/>
            <a:ext cx="3531960" cy="3693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17" name="" descr=""/>
          <p:cNvPicPr/>
          <p:nvPr/>
        </p:nvPicPr>
        <p:blipFill>
          <a:blip r:embed="rId1"/>
          <a:stretch/>
        </p:blipFill>
        <p:spPr>
          <a:xfrm>
            <a:off x="1620000" y="1260000"/>
            <a:ext cx="9275040" cy="4422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19" name="" descr=""/>
          <p:cNvPicPr/>
          <p:nvPr/>
        </p:nvPicPr>
        <p:blipFill>
          <a:blip r:embed="rId1"/>
          <a:stretch/>
        </p:blipFill>
        <p:spPr>
          <a:xfrm>
            <a:off x="1027080" y="2160000"/>
            <a:ext cx="10671480" cy="269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21" name="PlaceHolder 2"/>
          <p:cNvSpPr>
            <a:spLocks noGrp="1"/>
          </p:cNvSpPr>
          <p:nvPr>
            <p:ph/>
          </p:nvPr>
        </p:nvSpPr>
        <p:spPr>
          <a:xfrm>
            <a:off x="828720" y="105300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0" lang="en-US" sz="1800" spc="-1" strike="noStrike">
                <a:latin typeface="Arial"/>
              </a:rPr>
              <a:t>Exactitud (Accuracy): Mide la proporción de predicciones correctas sobre el total de casos. Es útil </a:t>
            </a:r>
            <a:r>
              <a:rPr b="0" lang="en-US" sz="1800" spc="-1" strike="noStrike">
                <a:latin typeface="Arial"/>
              </a:rPr>
              <a:t>cuando las clases están balanceadas, pero puede ser engañosa en conjuntos de datos </a:t>
            </a:r>
            <a:r>
              <a:rPr b="0" lang="en-US" sz="1800" spc="-1" strike="noStrike">
                <a:latin typeface="Arial"/>
              </a:rPr>
              <a:t>desbalanceados.</a:t>
            </a:r>
            <a:endParaRPr b="0" lang="en-US" sz="1800" spc="-1" strike="noStrike">
              <a:latin typeface="Arial"/>
            </a:endParaRPr>
          </a:p>
        </p:txBody>
      </p:sp>
      <p:pic>
        <p:nvPicPr>
          <p:cNvPr id="122" name="" descr=""/>
          <p:cNvPicPr/>
          <p:nvPr/>
        </p:nvPicPr>
        <p:blipFill>
          <a:blip r:embed="rId1"/>
          <a:stretch/>
        </p:blipFill>
        <p:spPr>
          <a:xfrm>
            <a:off x="3481560" y="2606040"/>
            <a:ext cx="4229640" cy="8121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24" name="PlaceHolder 2"/>
          <p:cNvSpPr>
            <a:spLocks noGrp="1"/>
          </p:cNvSpPr>
          <p:nvPr>
            <p:ph/>
          </p:nvPr>
        </p:nvSpPr>
        <p:spPr>
          <a:xfrm>
            <a:off x="72000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Precisión (Precision):</a:t>
            </a:r>
            <a:r>
              <a:rPr b="0" lang="es-ES" sz="2000" spc="-1" strike="noStrike">
                <a:latin typeface="Calibri"/>
              </a:rPr>
              <a:t> Responde a la pregunta: ¿cuántos de los elementos que el modelo etiquetó como positivos son realmente positivos? Se centra en la calidad de las predicciones positivas</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Importante cuando el costo de falsos positivos es alto (ej: diagnóstico de cáncer)</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1800" spc="-1" strike="noStrike">
                <a:latin typeface="Calibri"/>
              </a:rPr>
              <a:t> </a:t>
            </a:r>
            <a:r>
              <a:rPr b="0" lang="es-ES" sz="1800" spc="-1" strike="noStrike">
                <a:latin typeface="Calibri"/>
              </a:rPr>
              <a:t>Queremos que, cuando el modelo dé un resultado "positivo" (dice que hay cáncer), estemos muy seguros de que es correcto. Se prioriza la calidad de la predicción positiva. Si el modelo es altamente preciso, minimizamos los falsos positivos y evitamos el daño y los costos asociados a diagnósticos erróneos. Es preferible que el modelo sea conservador con los diagnósticos positivos.</a:t>
            </a:r>
            <a:endParaRPr b="0" lang="en-US" sz="1800" spc="-1" strike="noStrike">
              <a:latin typeface="Arial"/>
            </a:endParaRPr>
          </a:p>
          <a:p>
            <a:pPr marL="630000" indent="-179640">
              <a:lnSpc>
                <a:spcPct val="115000"/>
              </a:lnSpc>
              <a:spcAft>
                <a:spcPts val="1236"/>
              </a:spcAft>
              <a:buNone/>
              <a:tabLst>
                <a:tab algn="l" pos="0"/>
              </a:tabLst>
            </a:pPr>
            <a:endParaRPr b="0" lang="en-US" sz="1800" spc="-1" strike="noStrike">
              <a:latin typeface="Arial"/>
            </a:endParaRPr>
          </a:p>
        </p:txBody>
      </p:sp>
      <p:pic>
        <p:nvPicPr>
          <p:cNvPr id="125" name="" descr=""/>
          <p:cNvPicPr/>
          <p:nvPr/>
        </p:nvPicPr>
        <p:blipFill>
          <a:blip r:embed="rId1"/>
          <a:stretch/>
        </p:blipFill>
        <p:spPr>
          <a:xfrm>
            <a:off x="4320000" y="3240000"/>
            <a:ext cx="2968560" cy="805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27" name="PlaceHolder 2"/>
          <p:cNvSpPr>
            <a:spLocks noGrp="1"/>
          </p:cNvSpPr>
          <p:nvPr>
            <p:ph/>
          </p:nvPr>
        </p:nvSpPr>
        <p:spPr>
          <a:xfrm>
            <a:off x="720000" y="944640"/>
            <a:ext cx="10509480" cy="4813560"/>
          </a:xfrm>
          <a:prstGeom prst="rect">
            <a:avLst/>
          </a:prstGeom>
          <a:noFill/>
          <a:ln w="0">
            <a:noFill/>
          </a:ln>
        </p:spPr>
        <p:txBody>
          <a:bodyPr lIns="90000" rIns="90000" tIns="45000" bIns="45000" anchor="t">
            <a:noAutofit/>
          </a:bodyPr>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Sensibilidad/Recall (Recall):</a:t>
            </a:r>
            <a:r>
              <a:rPr b="0" lang="es-ES" sz="2000" spc="-1" strike="noStrike">
                <a:latin typeface="Calibri"/>
              </a:rPr>
              <a:t> Responde a la pregunta: ¿cuántos de los elementos realmente positivos fueron capturados por el modelo? Se centra en la exhaustividad de las predicciones positivas.</a:t>
            </a:r>
            <a:endParaRPr b="0" lang="en-US" sz="2000" spc="-1" strike="noStrike">
              <a:latin typeface="Arial"/>
            </a:endParaRPr>
          </a:p>
          <a:p>
            <a:pPr>
              <a:lnSpc>
                <a:spcPct val="100000"/>
              </a:lnSpc>
              <a:buNone/>
            </a:pPr>
            <a:endParaRPr b="0" lang="en-US" sz="2000" spc="-1" strike="noStrike">
              <a:latin typeface="Arial"/>
            </a:endParaRPr>
          </a:p>
          <a:p>
            <a:pPr marL="630000" indent="-179640">
              <a:lnSpc>
                <a:spcPct val="115000"/>
              </a:lnSpc>
              <a:spcAft>
                <a:spcPts val="1236"/>
              </a:spcAft>
              <a:buClr>
                <a:srgbClr val="000000"/>
              </a:buClr>
              <a:buFont typeface="Wingdings" charset="2"/>
              <a:buChar char=""/>
              <a:tabLst>
                <a:tab algn="l" pos="630000"/>
              </a:tabLst>
            </a:pPr>
            <a:r>
              <a:rPr b="0" lang="es-ES" sz="2000" spc="-1" strike="noStrike">
                <a:latin typeface="Calibri"/>
              </a:rPr>
              <a:t>Crítico cuando no queremos dejar pasar positivos (ej: detección de fraudes)</a:t>
            </a:r>
            <a:endParaRPr b="0" lang="en-US" sz="2000" spc="-1" strike="noStrike">
              <a:latin typeface="Arial"/>
            </a:endParaRPr>
          </a:p>
          <a:p>
            <a:pPr>
              <a:lnSpc>
                <a:spcPct val="100000"/>
              </a:lnSpc>
              <a:buNone/>
              <a:tabLst>
                <a:tab algn="l" pos="630000"/>
              </a:tabLst>
            </a:pPr>
            <a:endParaRPr b="0" lang="en-US" sz="2000" spc="-1" strike="noStrike">
              <a:latin typeface="Arial"/>
            </a:endParaRPr>
          </a:p>
          <a:p>
            <a:pPr>
              <a:lnSpc>
                <a:spcPct val="100000"/>
              </a:lnSpc>
              <a:buNone/>
              <a:tabLst>
                <a:tab algn="l" pos="630000"/>
              </a:tabLst>
            </a:pPr>
            <a:endParaRPr b="0" lang="en-US" sz="2000" spc="-1" strike="noStrike">
              <a:latin typeface="Arial"/>
            </a:endParaRPr>
          </a:p>
          <a:p>
            <a:pPr>
              <a:lnSpc>
                <a:spcPct val="100000"/>
              </a:lnSpc>
              <a:buNone/>
              <a:tabLst>
                <a:tab algn="l" pos="630000"/>
              </a:tabLst>
            </a:pPr>
            <a:endParaRPr b="0" lang="en-US" sz="2000" spc="-1" strike="noStrike">
              <a:latin typeface="Arial"/>
            </a:endParaRPr>
          </a:p>
          <a:p>
            <a:pPr>
              <a:lnSpc>
                <a:spcPct val="100000"/>
              </a:lnSpc>
              <a:buNone/>
              <a:tabLst>
                <a:tab algn="l" pos="630000"/>
              </a:tabLst>
            </a:pPr>
            <a:endParaRPr b="0" lang="en-US" sz="2000" spc="-1" strike="noStrike">
              <a:latin typeface="Arial"/>
            </a:endParaRPr>
          </a:p>
          <a:p>
            <a:pPr marL="630000" indent="-324000">
              <a:lnSpc>
                <a:spcPct val="100000"/>
              </a:lnSpc>
              <a:buClr>
                <a:srgbClr val="000000"/>
              </a:buClr>
              <a:buFont typeface="Wingdings" charset="2"/>
              <a:buChar char=""/>
              <a:tabLst>
                <a:tab algn="l" pos="630000"/>
              </a:tabLst>
            </a:pPr>
            <a:r>
              <a:rPr b="0" lang="es-ES" sz="1800" spc="-1" strike="noStrike">
                <a:latin typeface="Calibri"/>
              </a:rPr>
              <a:t> </a:t>
            </a:r>
            <a:r>
              <a:rPr b="0" lang="es-ES" sz="1800" spc="-1" strike="noStrike">
                <a:latin typeface="Calibri"/>
              </a:rPr>
              <a:t>Queremos asegurarnos de capturar la mayor cantidad posible de fraudes reales. Se prioriza la exhaustividad de la detección. Es preferible tener un alto recall, incluso si esto significa generar ocasionalmente algún falso positivo (por ejemplo, rechazar una compra legítima que el cliente puede verificar rápidamente con una llamada). El costo de un falso negativo (dinero robado) es mucho mayor que el costo de un falso positivo (una pequeña molestia para el cliente).</a:t>
            </a:r>
            <a:endParaRPr b="0" lang="en-US" sz="1800" spc="-1" strike="noStrike">
              <a:latin typeface="Arial"/>
            </a:endParaRPr>
          </a:p>
          <a:p>
            <a:pPr>
              <a:lnSpc>
                <a:spcPct val="100000"/>
              </a:lnSpc>
              <a:buNone/>
              <a:tabLst>
                <a:tab algn="l" pos="630000"/>
              </a:tabLst>
            </a:pPr>
            <a:endParaRPr b="0" lang="en-US" sz="2000" spc="-1" strike="noStrike">
              <a:latin typeface="Arial"/>
            </a:endParaRPr>
          </a:p>
          <a:p>
            <a:pPr marL="630000" indent="-179640">
              <a:lnSpc>
                <a:spcPct val="115000"/>
              </a:lnSpc>
              <a:spcAft>
                <a:spcPts val="1236"/>
              </a:spcAft>
              <a:buNone/>
              <a:tabLst>
                <a:tab algn="l" pos="0"/>
              </a:tabLst>
            </a:pPr>
            <a:r>
              <a:rPr b="0" lang="es-ES" sz="2000" spc="-1" strike="noStrike">
                <a:latin typeface="Calibri"/>
              </a:rPr>
              <a:t>         </a:t>
            </a:r>
            <a:endParaRPr b="0" lang="en-US" sz="2000" spc="-1" strike="noStrike">
              <a:latin typeface="Arial"/>
            </a:endParaRPr>
          </a:p>
          <a:p>
            <a:pPr marL="630000" indent="-179640">
              <a:lnSpc>
                <a:spcPct val="100000"/>
              </a:lnSpc>
              <a:buNone/>
              <a:tabLst>
                <a:tab algn="l" pos="0"/>
              </a:tabLst>
            </a:pPr>
            <a:endParaRPr b="0" lang="en-US" sz="1800" spc="-1" strike="noStrike">
              <a:latin typeface="Arial"/>
            </a:endParaRPr>
          </a:p>
          <a:p>
            <a:pPr marL="630000" indent="-179640">
              <a:lnSpc>
                <a:spcPct val="115000"/>
              </a:lnSpc>
              <a:spcAft>
                <a:spcPts val="1236"/>
              </a:spcAft>
              <a:buNone/>
              <a:tabLst>
                <a:tab algn="l" pos="0"/>
              </a:tabLst>
            </a:pPr>
            <a:endParaRPr b="0" lang="en-US" sz="1800" spc="-1" strike="noStrike">
              <a:latin typeface="Arial"/>
            </a:endParaRPr>
          </a:p>
        </p:txBody>
      </p:sp>
      <p:pic>
        <p:nvPicPr>
          <p:cNvPr id="128" name="" descr=""/>
          <p:cNvPicPr/>
          <p:nvPr/>
        </p:nvPicPr>
        <p:blipFill>
          <a:blip r:embed="rId1"/>
          <a:stretch/>
        </p:blipFill>
        <p:spPr>
          <a:xfrm>
            <a:off x="4485240" y="3240000"/>
            <a:ext cx="2712960" cy="881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30" name="" descr=""/>
          <p:cNvPicPr/>
          <p:nvPr/>
        </p:nvPicPr>
        <p:blipFill>
          <a:blip r:embed="rId1"/>
          <a:stretch/>
        </p:blipFill>
        <p:spPr>
          <a:xfrm>
            <a:off x="1440000" y="1080000"/>
            <a:ext cx="3530880" cy="1826280"/>
          </a:xfrm>
          <a:prstGeom prst="rect">
            <a:avLst/>
          </a:prstGeom>
          <a:ln w="0">
            <a:noFill/>
          </a:ln>
        </p:spPr>
      </p:pic>
      <p:pic>
        <p:nvPicPr>
          <p:cNvPr id="131" name="" descr=""/>
          <p:cNvPicPr/>
          <p:nvPr/>
        </p:nvPicPr>
        <p:blipFill>
          <a:blip r:embed="rId2"/>
          <a:stretch/>
        </p:blipFill>
        <p:spPr>
          <a:xfrm>
            <a:off x="444240" y="2922480"/>
            <a:ext cx="5673960" cy="2835720"/>
          </a:xfrm>
          <a:prstGeom prst="rect">
            <a:avLst/>
          </a:prstGeom>
          <a:ln w="0">
            <a:noFill/>
          </a:ln>
        </p:spPr>
      </p:pic>
      <p:pic>
        <p:nvPicPr>
          <p:cNvPr id="132" name="" descr=""/>
          <p:cNvPicPr/>
          <p:nvPr/>
        </p:nvPicPr>
        <p:blipFill>
          <a:blip r:embed="rId3"/>
          <a:srcRect l="6031" t="0" r="9466" b="0"/>
          <a:stretch/>
        </p:blipFill>
        <p:spPr>
          <a:xfrm>
            <a:off x="6840360" y="1084320"/>
            <a:ext cx="5037840" cy="4673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34" name="" descr=""/>
          <p:cNvPicPr/>
          <p:nvPr/>
        </p:nvPicPr>
        <p:blipFill>
          <a:blip r:embed="rId1"/>
          <a:stretch/>
        </p:blipFill>
        <p:spPr>
          <a:xfrm>
            <a:off x="900000" y="1800000"/>
            <a:ext cx="5494680" cy="3238560"/>
          </a:xfrm>
          <a:prstGeom prst="rect">
            <a:avLst/>
          </a:prstGeom>
          <a:ln w="0">
            <a:noFill/>
          </a:ln>
        </p:spPr>
      </p:pic>
      <p:pic>
        <p:nvPicPr>
          <p:cNvPr id="135" name="" descr=""/>
          <p:cNvPicPr/>
          <p:nvPr/>
        </p:nvPicPr>
        <p:blipFill>
          <a:blip r:embed="rId2"/>
          <a:stretch/>
        </p:blipFill>
        <p:spPr>
          <a:xfrm>
            <a:off x="7380000" y="1260000"/>
            <a:ext cx="3958560" cy="3941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37" name="PlaceHolder 2"/>
          <p:cNvSpPr>
            <a:spLocks noGrp="1"/>
          </p:cNvSpPr>
          <p:nvPr>
            <p:ph/>
          </p:nvPr>
        </p:nvSpPr>
        <p:spPr>
          <a:xfrm>
            <a:off x="838080" y="1124640"/>
            <a:ext cx="11040480" cy="247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F1 Score:</a:t>
            </a:r>
            <a:r>
              <a:rPr b="0" lang="es-ES" sz="2000" spc="-1" strike="noStrike">
                <a:latin typeface="Calibri"/>
              </a:rPr>
              <a:t> es una métrica crucial que ofrece un equilibrio entre dos medidas que a menudo compiten entre sí: la Precisión y Recall</a:t>
            </a:r>
            <a:endParaRPr b="0" lang="en-US" sz="2000" spc="-1" strike="noStrike">
              <a:latin typeface="Arial"/>
            </a:endParaRPr>
          </a:p>
          <a:p>
            <a:pPr>
              <a:lnSpc>
                <a:spcPct val="100000"/>
              </a:lnSpc>
              <a:buNone/>
            </a:pP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Útil para evaluar modelos de clasificación en conjuntos de datos con un desequilibrio de clases, donde una clase es mucho más común que la otra.</a:t>
            </a:r>
            <a:endParaRPr b="0" lang="en-US" sz="2000" spc="-1" strike="noStrike">
              <a:latin typeface="Arial"/>
            </a:endParaRPr>
          </a:p>
          <a:p>
            <a:pPr marL="630000" indent="-179640">
              <a:lnSpc>
                <a:spcPct val="115000"/>
              </a:lnSpc>
              <a:spcAft>
                <a:spcPts val="1236"/>
              </a:spcAft>
              <a:buClr>
                <a:srgbClr val="000000"/>
              </a:buClr>
              <a:buSzPct val="45000"/>
              <a:buFont typeface="Wingdings" charset="2"/>
              <a:buChar char=""/>
              <a:tabLst>
                <a:tab algn="l" pos="630000"/>
              </a:tabLst>
            </a:pPr>
            <a:r>
              <a:rPr b="0" lang="es-ES" sz="2000" spc="-1" strike="noStrike">
                <a:latin typeface="Calibri"/>
              </a:rPr>
              <a:t>La media armónica penaliza los valores extremos. Esto significa que el F1-score solo será alto si tanto la precisión como el recall son altos</a:t>
            </a:r>
            <a:endParaRPr b="0" lang="en-US" sz="2000" spc="-1" strike="noStrike">
              <a:latin typeface="Arial"/>
            </a:endParaRPr>
          </a:p>
        </p:txBody>
      </p:sp>
      <p:pic>
        <p:nvPicPr>
          <p:cNvPr id="138" name="" descr=""/>
          <p:cNvPicPr/>
          <p:nvPr/>
        </p:nvPicPr>
        <p:blipFill>
          <a:blip r:embed="rId1"/>
          <a:stretch/>
        </p:blipFill>
        <p:spPr>
          <a:xfrm>
            <a:off x="900000" y="3877560"/>
            <a:ext cx="3058560" cy="2061000"/>
          </a:xfrm>
          <a:prstGeom prst="rect">
            <a:avLst/>
          </a:prstGeom>
          <a:ln w="0">
            <a:noFill/>
          </a:ln>
        </p:spPr>
      </p:pic>
      <p:pic>
        <p:nvPicPr>
          <p:cNvPr id="139" name="" descr=""/>
          <p:cNvPicPr/>
          <p:nvPr/>
        </p:nvPicPr>
        <p:blipFill>
          <a:blip r:embed="rId2"/>
          <a:srcRect l="6773" t="12574" r="6216" b="29132"/>
          <a:stretch/>
        </p:blipFill>
        <p:spPr>
          <a:xfrm>
            <a:off x="5940360" y="3960000"/>
            <a:ext cx="5938200" cy="2119680"/>
          </a:xfrm>
          <a:prstGeom prst="rect">
            <a:avLst/>
          </a:prstGeom>
          <a:ln w="0">
            <a:noFill/>
          </a:ln>
        </p:spPr>
      </p:pic>
      <p:pic>
        <p:nvPicPr>
          <p:cNvPr id="140" name="" descr=""/>
          <p:cNvPicPr/>
          <p:nvPr/>
        </p:nvPicPr>
        <p:blipFill>
          <a:blip r:embed="rId3"/>
          <a:stretch/>
        </p:blipFill>
        <p:spPr>
          <a:xfrm>
            <a:off x="4547160" y="3871800"/>
            <a:ext cx="3011400" cy="806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42" name="" descr=""/>
          <p:cNvPicPr/>
          <p:nvPr/>
        </p:nvPicPr>
        <p:blipFill>
          <a:blip r:embed="rId1"/>
          <a:srcRect l="0" t="3012" r="0" b="44156"/>
          <a:stretch/>
        </p:blipFill>
        <p:spPr>
          <a:xfrm>
            <a:off x="1620000" y="903960"/>
            <a:ext cx="9178560" cy="3075480"/>
          </a:xfrm>
          <a:prstGeom prst="rect">
            <a:avLst/>
          </a:prstGeom>
          <a:ln w="0">
            <a:noFill/>
          </a:ln>
        </p:spPr>
      </p:pic>
      <p:sp>
        <p:nvSpPr>
          <p:cNvPr id="143" name=""/>
          <p:cNvSpPr/>
          <p:nvPr/>
        </p:nvSpPr>
        <p:spPr>
          <a:xfrm>
            <a:off x="180000" y="4140000"/>
            <a:ext cx="5758560" cy="1798560"/>
          </a:xfrm>
          <a:prstGeom prst="wedgeRoundRectCallout">
            <a:avLst>
              <a:gd name="adj1" fmla="val 31453"/>
              <a:gd name="adj2" fmla="val -71032"/>
              <a:gd name="adj3" fmla="val 16667"/>
            </a:avLst>
          </a:prstGeom>
          <a:solidFill>
            <a:srgbClr val="ff3838"/>
          </a:solidFill>
          <a:ln w="0">
            <a:solidFill>
              <a:srgbClr val="3465a4"/>
            </a:solidFill>
          </a:ln>
        </p:spPr>
        <p:style>
          <a:lnRef idx="0"/>
          <a:fillRef idx="0"/>
          <a:effectRef idx="0"/>
          <a:fontRef idx="minor"/>
        </p:style>
      </p:sp>
      <p:pic>
        <p:nvPicPr>
          <p:cNvPr id="144" name="" descr=""/>
          <p:cNvPicPr/>
          <p:nvPr/>
        </p:nvPicPr>
        <p:blipFill>
          <a:blip r:embed="rId2"/>
          <a:stretch/>
        </p:blipFill>
        <p:spPr>
          <a:xfrm>
            <a:off x="347040" y="4500000"/>
            <a:ext cx="5411520" cy="998640"/>
          </a:xfrm>
          <a:prstGeom prst="rect">
            <a:avLst/>
          </a:prstGeom>
          <a:ln w="0">
            <a:noFill/>
          </a:ln>
        </p:spPr>
      </p:pic>
      <p:sp>
        <p:nvSpPr>
          <p:cNvPr id="145" name=""/>
          <p:cNvSpPr/>
          <p:nvPr/>
        </p:nvSpPr>
        <p:spPr>
          <a:xfrm>
            <a:off x="6300000" y="4140000"/>
            <a:ext cx="5398560" cy="1798560"/>
          </a:xfrm>
          <a:prstGeom prst="wedgeRoundRectCallout">
            <a:avLst>
              <a:gd name="adj1" fmla="val -28050"/>
              <a:gd name="adj2" fmla="val -74430"/>
              <a:gd name="adj3" fmla="val 16667"/>
            </a:avLst>
          </a:prstGeom>
          <a:solidFill>
            <a:srgbClr val="00a933"/>
          </a:solidFill>
          <a:ln w="0">
            <a:solidFill>
              <a:srgbClr val="3465a4"/>
            </a:solidFill>
          </a:ln>
        </p:spPr>
        <p:style>
          <a:lnRef idx="0"/>
          <a:fillRef idx="0"/>
          <a:effectRef idx="0"/>
          <a:fontRef idx="minor"/>
        </p:style>
      </p:sp>
      <p:pic>
        <p:nvPicPr>
          <p:cNvPr id="146" name="" descr=""/>
          <p:cNvPicPr/>
          <p:nvPr/>
        </p:nvPicPr>
        <p:blipFill>
          <a:blip r:embed="rId3"/>
          <a:stretch/>
        </p:blipFill>
        <p:spPr>
          <a:xfrm>
            <a:off x="6480000" y="4376520"/>
            <a:ext cx="5038560" cy="1215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540000"/>
            <a:ext cx="10509480" cy="537480"/>
          </a:xfrm>
          <a:prstGeom prst="rect">
            <a:avLst/>
          </a:prstGeom>
          <a:noFill/>
          <a:ln w="0">
            <a:noFill/>
          </a:ln>
        </p:spPr>
        <p:txBody>
          <a:bodyPr lIns="90000" rIns="90000" tIns="45000" bIns="45000" anchor="ctr">
            <a:noAutofit/>
          </a:bodyPr>
          <a:p>
            <a:pPr>
              <a:lnSpc>
                <a:spcPct val="90000"/>
              </a:lnSpc>
              <a:buNone/>
            </a:pPr>
            <a:endParaRPr b="0" lang="en-US" sz="1800" spc="-1" strike="noStrike">
              <a:latin typeface="Arial"/>
            </a:endParaRPr>
          </a:p>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p:txBody>
      </p:sp>
      <p:sp>
        <p:nvSpPr>
          <p:cNvPr id="148"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ROC:</a:t>
            </a:r>
            <a:r>
              <a:rPr b="0" lang="es-ES" sz="2000" spc="-1" strike="noStrike">
                <a:latin typeface="Calibri"/>
              </a:rPr>
              <a:t> Es un gráfico que muestra el rendimiento de un modelo de clasificación en todos los posibles umbrales de decisión </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Si usamos un umbral de 0.50: Cualquier cosa por encima del 50% se considera "sí abandona". Esto capturará a muchos clientes, pero puede incluir algunos que en realidad se queden (falsos positivos).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Si usamos un umbral de 0.90: Solo los clientes con más del 90% de probabilidad se marcan como "sí abandona". Seremos muy precisos, pero probablemente perderemos a muchos clientes que estaban en riesgo (falsos negativos).</a:t>
            </a:r>
            <a:endParaRPr b="0" lang="en-US" sz="2000" spc="-1" strike="noStrike">
              <a:latin typeface="Arial"/>
            </a:endParaRPr>
          </a:p>
          <a:p>
            <a:pPr>
              <a:lnSpc>
                <a:spcPct val="100000"/>
              </a:lnSpc>
              <a:spcBef>
                <a:spcPts val="1417"/>
              </a:spcBef>
              <a:buNone/>
            </a:pPr>
            <a:endParaRPr b="0" lang="en-US" sz="2000" spc="-1" strike="noStrike">
              <a:latin typeface="Arial"/>
            </a:endParaRPr>
          </a:p>
          <a:p>
            <a:pPr marL="432000" indent="-324000">
              <a:lnSpc>
                <a:spcPct val="100000"/>
              </a:lnSpc>
              <a:buClr>
                <a:srgbClr val="000000"/>
              </a:buClr>
              <a:buFont typeface="Wingdings" charset="2"/>
              <a:buChar char=""/>
            </a:pPr>
            <a:r>
              <a:rPr b="0" lang="es-ES" sz="2000" spc="-1" strike="noStrike">
                <a:latin typeface="Calibri"/>
              </a:rPr>
              <a:t>La curva ROC es inteligente porque evalúa el modelo para todos los umbrales posibles, desde 0.0 hasta 1.0. No se limita a una única configuración.</a:t>
            </a: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50" name="" descr=""/>
          <p:cNvPicPr/>
          <p:nvPr/>
        </p:nvPicPr>
        <p:blipFill>
          <a:blip r:embed="rId1"/>
          <a:stretch/>
        </p:blipFill>
        <p:spPr>
          <a:xfrm>
            <a:off x="0" y="1308960"/>
            <a:ext cx="7313400" cy="4103640"/>
          </a:xfrm>
          <a:prstGeom prst="rect">
            <a:avLst/>
          </a:prstGeom>
          <a:ln w="0">
            <a:noFill/>
          </a:ln>
        </p:spPr>
      </p:pic>
      <p:pic>
        <p:nvPicPr>
          <p:cNvPr id="151" name="" descr=""/>
          <p:cNvPicPr/>
          <p:nvPr/>
        </p:nvPicPr>
        <p:blipFill>
          <a:blip r:embed="rId2"/>
          <a:srcRect l="0" t="0" r="33056" b="0"/>
          <a:stretch/>
        </p:blipFill>
        <p:spPr>
          <a:xfrm>
            <a:off x="7740000" y="1532520"/>
            <a:ext cx="4180680" cy="35060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53" name="" descr=""/>
          <p:cNvPicPr/>
          <p:nvPr/>
        </p:nvPicPr>
        <p:blipFill>
          <a:blip r:embed="rId1"/>
          <a:stretch/>
        </p:blipFill>
        <p:spPr>
          <a:xfrm>
            <a:off x="180000" y="1260000"/>
            <a:ext cx="7558560" cy="4241160"/>
          </a:xfrm>
          <a:prstGeom prst="rect">
            <a:avLst/>
          </a:prstGeom>
          <a:ln w="0">
            <a:noFill/>
          </a:ln>
        </p:spPr>
      </p:pic>
      <p:pic>
        <p:nvPicPr>
          <p:cNvPr id="154" name="" descr=""/>
          <p:cNvPicPr/>
          <p:nvPr/>
        </p:nvPicPr>
        <p:blipFill>
          <a:blip r:embed="rId2"/>
          <a:srcRect l="0" t="0" r="33056" b="0"/>
          <a:stretch/>
        </p:blipFill>
        <p:spPr>
          <a:xfrm>
            <a:off x="8100000" y="1728360"/>
            <a:ext cx="3947400" cy="3310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pic>
        <p:nvPicPr>
          <p:cNvPr id="156" name="" descr=""/>
          <p:cNvPicPr/>
          <p:nvPr/>
        </p:nvPicPr>
        <p:blipFill>
          <a:blip r:embed="rId1"/>
          <a:srcRect l="7382" t="3810" r="6491" b="741"/>
          <a:stretch/>
        </p:blipFill>
        <p:spPr>
          <a:xfrm>
            <a:off x="648000" y="1620000"/>
            <a:ext cx="5290560" cy="3778560"/>
          </a:xfrm>
          <a:prstGeom prst="rect">
            <a:avLst/>
          </a:prstGeom>
          <a:ln w="0">
            <a:noFill/>
          </a:ln>
        </p:spPr>
      </p:pic>
      <p:pic>
        <p:nvPicPr>
          <p:cNvPr id="157" name="" descr=""/>
          <p:cNvPicPr/>
          <p:nvPr/>
        </p:nvPicPr>
        <p:blipFill>
          <a:blip r:embed="rId2"/>
          <a:srcRect l="6491" t="0" r="7382" b="0"/>
          <a:stretch/>
        </p:blipFill>
        <p:spPr>
          <a:xfrm>
            <a:off x="6431040" y="1378800"/>
            <a:ext cx="5234400" cy="413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Métricas de Clasificación</a:t>
            </a:r>
            <a:endParaRPr b="0" lang="en-US" sz="2400" spc="-1" strike="noStrike">
              <a:latin typeface="Arial"/>
            </a:endParaRPr>
          </a:p>
        </p:txBody>
      </p:sp>
      <p:sp>
        <p:nvSpPr>
          <p:cNvPr id="159" name="PlaceHolder 2"/>
          <p:cNvSpPr>
            <a:spLocks noGrp="1"/>
          </p:cNvSpPr>
          <p:nvPr>
            <p:ph/>
          </p:nvPr>
        </p:nvSpPr>
        <p:spPr>
          <a:xfrm>
            <a:off x="838080" y="1124640"/>
            <a:ext cx="10509480" cy="85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AUC:</a:t>
            </a:r>
            <a:r>
              <a:rPr b="0" lang="es-ES" sz="2000" spc="-1" strike="noStrike">
                <a:latin typeface="Calibri"/>
              </a:rPr>
              <a:t> Es el valor escalar que resume el rendimiento de la curva ROC en un solo número. Representa el área bajo la curva ROC. Útil para comparar clasificadores.</a:t>
            </a:r>
            <a:endParaRPr b="0" lang="en-US" sz="2000" spc="-1" strike="noStrike">
              <a:latin typeface="Arial"/>
            </a:endParaRPr>
          </a:p>
        </p:txBody>
      </p:sp>
      <p:pic>
        <p:nvPicPr>
          <p:cNvPr id="160" name="" descr=""/>
          <p:cNvPicPr/>
          <p:nvPr/>
        </p:nvPicPr>
        <p:blipFill>
          <a:blip r:embed="rId1"/>
          <a:srcRect l="0" t="9111" r="4598" b="0"/>
          <a:stretch/>
        </p:blipFill>
        <p:spPr>
          <a:xfrm>
            <a:off x="5220360" y="2496240"/>
            <a:ext cx="6118200" cy="3262320"/>
          </a:xfrm>
          <a:prstGeom prst="rect">
            <a:avLst/>
          </a:prstGeom>
          <a:ln w="0">
            <a:noFill/>
          </a:ln>
        </p:spPr>
      </p:pic>
      <p:pic>
        <p:nvPicPr>
          <p:cNvPr id="161" name="" descr=""/>
          <p:cNvPicPr/>
          <p:nvPr/>
        </p:nvPicPr>
        <p:blipFill>
          <a:blip r:embed="rId2"/>
          <a:srcRect l="13031" t="7325" r="17394" b="0"/>
          <a:stretch/>
        </p:blipFill>
        <p:spPr>
          <a:xfrm>
            <a:off x="1260000" y="2340000"/>
            <a:ext cx="3418560" cy="34102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sp>
        <p:nvSpPr>
          <p:cNvPr id="163" name="PlaceHolder 2"/>
          <p:cNvSpPr>
            <a:spLocks noGrp="1"/>
          </p:cNvSpPr>
          <p:nvPr>
            <p:ph/>
          </p:nvPr>
        </p:nvSpPr>
        <p:spPr>
          <a:xfrm>
            <a:off x="838080" y="1124640"/>
            <a:ext cx="10509480" cy="193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Definición:</a:t>
            </a:r>
            <a:r>
              <a:rPr b="0" lang="es-ES" sz="2000" spc="-1" strike="noStrike">
                <a:latin typeface="Calibri"/>
              </a:rPr>
              <a:t> Un</a:t>
            </a:r>
            <a:r>
              <a:rPr b="0" lang="en-US" sz="1800" spc="-1" strike="noStrike">
                <a:latin typeface="Arial"/>
              </a:rPr>
              <a:t> árbol de decisión es un modelo de aprendizaje supervisado que representa un conjunto de reglas de decisión en forma de estructura jerárquica (similar a un diagrama de flujo).</a:t>
            </a:r>
            <a:endParaRPr b="0" lang="en-US" sz="18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Se utiliza tanto para clasificación como para regresión.</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Divide el espacio de características en regiones más pequeñas aplicando reglas de partición secuenciales.</a:t>
            </a:r>
            <a:endParaRPr b="0" lang="en-US" sz="2000" spc="-1" strike="noStrike">
              <a:latin typeface="Arial"/>
            </a:endParaRPr>
          </a:p>
        </p:txBody>
      </p:sp>
      <p:pic>
        <p:nvPicPr>
          <p:cNvPr id="164" name="" descr=""/>
          <p:cNvPicPr/>
          <p:nvPr/>
        </p:nvPicPr>
        <p:blipFill>
          <a:blip r:embed="rId1"/>
          <a:stretch/>
        </p:blipFill>
        <p:spPr>
          <a:xfrm>
            <a:off x="3956760" y="3420000"/>
            <a:ext cx="4141800" cy="23184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sp>
        <p:nvSpPr>
          <p:cNvPr id="166" name="PlaceHolder 2"/>
          <p:cNvSpPr>
            <a:spLocks noGrp="1"/>
          </p:cNvSpPr>
          <p:nvPr>
            <p:ph/>
          </p:nvPr>
        </p:nvSpPr>
        <p:spPr>
          <a:xfrm>
            <a:off x="838080" y="1124640"/>
            <a:ext cx="10509480" cy="247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0" lang="es-ES" sz="2000" spc="-1" strike="noStrike">
                <a:latin typeface="Calibri"/>
              </a:rPr>
              <a:t>Un árbol está compuesto por:</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000" spc="-1" strike="noStrike">
                <a:latin typeface="Calibri"/>
              </a:rPr>
              <a:t>Nodo raíz:</a:t>
            </a:r>
            <a:r>
              <a:rPr b="0" lang="es-ES" sz="2000" spc="-1" strike="noStrike">
                <a:latin typeface="Calibri"/>
              </a:rPr>
              <a:t> punto inicial con el dataset completo.</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000" spc="-1" strike="noStrike">
                <a:latin typeface="Calibri"/>
              </a:rPr>
              <a:t>Nodos internos:</a:t>
            </a:r>
            <a:r>
              <a:rPr b="0" lang="es-ES" sz="2000" spc="-1" strike="noStrike">
                <a:latin typeface="Calibri"/>
              </a:rPr>
              <a:t> representan condiciones sobre atributos (ej. “edad &lt; 30”).</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000" spc="-1" strike="noStrike">
                <a:latin typeface="Calibri"/>
              </a:rPr>
              <a:t>Ramas:</a:t>
            </a:r>
            <a:r>
              <a:rPr b="0" lang="es-ES" sz="2000" spc="-1" strike="noStrike">
                <a:latin typeface="Calibri"/>
              </a:rPr>
              <a:t> dividen los datos según el resultado de la condición.</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000" spc="-1" strike="noStrike">
                <a:latin typeface="Calibri"/>
              </a:rPr>
              <a:t>Hojas:</a:t>
            </a:r>
            <a:r>
              <a:rPr b="0" lang="es-ES" sz="2000" spc="-1" strike="noStrike">
                <a:latin typeface="Calibri"/>
              </a:rPr>
              <a:t> contienen la predicción final (una clase en clasificación, un valor medio en regresión).</a:t>
            </a:r>
            <a:endParaRPr b="0" lang="en-US" sz="2000" spc="-1" strike="noStrike">
              <a:latin typeface="Arial"/>
            </a:endParaRPr>
          </a:p>
        </p:txBody>
      </p:sp>
      <p:pic>
        <p:nvPicPr>
          <p:cNvPr id="167" name="" descr=""/>
          <p:cNvPicPr/>
          <p:nvPr/>
        </p:nvPicPr>
        <p:blipFill>
          <a:blip r:embed="rId1"/>
          <a:stretch/>
        </p:blipFill>
        <p:spPr>
          <a:xfrm>
            <a:off x="4140000" y="3600000"/>
            <a:ext cx="3954960" cy="251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sp>
        <p:nvSpPr>
          <p:cNvPr id="169"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000" spc="-1" strike="noStrike">
                <a:latin typeface="Calibri"/>
              </a:rPr>
              <a:t>El árbol se construye de forma recursiva:</a:t>
            </a:r>
            <a:endParaRPr b="0" lang="en-US" sz="20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Seleccionar la característica y punto de corte que mejor divide los datos.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Crear nodos hijos para cada partición.</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Repetir hasta que se cumpla un criterio de parada:</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Altura máxima del árbol.</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Número mínimo de observaciones en un nodo.</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Pureza del nodo (todas las observaciones pertenecen a la misma clase).</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71" name="" descr=""/>
          <p:cNvPicPr/>
          <p:nvPr/>
        </p:nvPicPr>
        <p:blipFill>
          <a:blip r:embed="rId1"/>
          <a:stretch/>
        </p:blipFill>
        <p:spPr>
          <a:xfrm>
            <a:off x="720000" y="1980000"/>
            <a:ext cx="5007600" cy="2878560"/>
          </a:xfrm>
          <a:prstGeom prst="rect">
            <a:avLst/>
          </a:prstGeom>
          <a:ln w="0">
            <a:noFill/>
          </a:ln>
        </p:spPr>
      </p:pic>
      <p:pic>
        <p:nvPicPr>
          <p:cNvPr id="172" name="" descr=""/>
          <p:cNvPicPr/>
          <p:nvPr/>
        </p:nvPicPr>
        <p:blipFill>
          <a:blip r:embed="rId2"/>
          <a:stretch/>
        </p:blipFill>
        <p:spPr>
          <a:xfrm>
            <a:off x="6480000" y="365040"/>
            <a:ext cx="5218560" cy="5448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sp>
        <p:nvSpPr>
          <p:cNvPr id="174" name="PlaceHolder 2"/>
          <p:cNvSpPr>
            <a:spLocks noGrp="1"/>
          </p:cNvSpPr>
          <p:nvPr>
            <p:ph/>
          </p:nvPr>
        </p:nvSpPr>
        <p:spPr>
          <a:xfrm>
            <a:off x="838080" y="1124640"/>
            <a:ext cx="4380480" cy="301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0" lang="en-US" sz="1800" spc="-1" strike="noStrike">
                <a:latin typeface="Arial"/>
              </a:rPr>
              <a:t>Los hiperparámetros en los árboles de decisión: son ajustes de configuración que controlan cómo se construye el árbol y, fundamentalmente, ayudan a prevenir el sobreajuste (overfitting), que es el problema más común con este tipo de modelos.</a:t>
            </a:r>
            <a:endParaRPr b="0" lang="en-US" sz="1800" spc="-1" strike="noStrike">
              <a:latin typeface="Arial"/>
            </a:endParaRPr>
          </a:p>
        </p:txBody>
      </p:sp>
      <p:pic>
        <p:nvPicPr>
          <p:cNvPr id="175" name="" descr=""/>
          <p:cNvPicPr/>
          <p:nvPr/>
        </p:nvPicPr>
        <p:blipFill>
          <a:blip r:embed="rId1"/>
          <a:stretch/>
        </p:blipFill>
        <p:spPr>
          <a:xfrm>
            <a:off x="5940000" y="180000"/>
            <a:ext cx="5758560" cy="5641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sp>
        <p:nvSpPr>
          <p:cNvPr id="177" name="PlaceHolder 2"/>
          <p:cNvSpPr>
            <a:spLocks noGrp="1"/>
          </p:cNvSpPr>
          <p:nvPr>
            <p:ph/>
          </p:nvPr>
        </p:nvSpPr>
        <p:spPr>
          <a:xfrm>
            <a:off x="900000" y="1124640"/>
            <a:ext cx="10509480" cy="4813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Criterios de partición (criterion):</a:t>
            </a:r>
            <a:r>
              <a:rPr b="0" lang="es-ES" sz="2000" spc="-1" strike="noStrike">
                <a:latin typeface="Calibri"/>
              </a:rPr>
              <a:t> Son las funciones matemáticas que guían la búsqueda de la división óptima. El objetivo es maximizar la ganancia de información o minimizar la impureza/incertidumbre en cada nodo</a:t>
            </a:r>
            <a:endParaRPr b="0" lang="en-US" sz="20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400" spc="-1" strike="noStrike">
                <a:latin typeface="Calibri"/>
              </a:rPr>
              <a:t>Entropía:</a:t>
            </a:r>
            <a:r>
              <a:rPr b="0" lang="es-ES" sz="2000" spc="-1" strike="noStrike">
                <a:latin typeface="Calibri"/>
              </a:rPr>
              <a:t> La entropía es 0 cuando un nodo es puro (no hay incertidumbre) y es máxima cuando las clases están distribuidas de manera uniforme. El algoritmo busca la división que ofrezca la mayor reducción de entropía, es decir, quiere pasar del caos total a un orden más claro en las ramas resultantes.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1" lang="es-ES" sz="2400" spc="-1" strike="noStrike">
                <a:latin typeface="Calibri"/>
              </a:rPr>
              <a:t>Gini:</a:t>
            </a:r>
            <a:r>
              <a:rPr b="0" lang="es-ES" sz="2000" spc="-1" strike="noStrike">
                <a:latin typeface="Calibri"/>
              </a:rPr>
              <a:t> El algoritmo busca la división que minimice el índice de Gini ponderado en los nuevos grupos. Busca la división que haga los grupos resultantes lo más "puros" posible, donde la probabilidad de adivinar mal sea mínima.. Un Gini de 0 significa pureza perfecta (todas las muestras son de la misma clase). Un Gini de 0.5 significa máxima impureza (para clasificación binaria 50/50). Se usa por defecto en SKLearn</a:t>
            </a:r>
            <a:endParaRPr b="0" lang="en-US" sz="2000" spc="-1" strike="noStrike">
              <a:latin typeface="Arial"/>
            </a:endParaRPr>
          </a:p>
          <a:p>
            <a:pPr marL="450360" indent="-179640">
              <a:lnSpc>
                <a:spcPct val="115000"/>
              </a:lnSpc>
              <a:spcAft>
                <a:spcPts val="1236"/>
              </a:spcAft>
              <a:buNone/>
              <a:tabLst>
                <a:tab algn="l" pos="0"/>
              </a:tabLst>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79" name="" descr=""/>
          <p:cNvPicPr/>
          <p:nvPr/>
        </p:nvPicPr>
        <p:blipFill>
          <a:blip r:embed="rId1"/>
          <a:stretch/>
        </p:blipFill>
        <p:spPr>
          <a:xfrm>
            <a:off x="2520000" y="1182240"/>
            <a:ext cx="7225920" cy="4576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81" name="" descr=""/>
          <p:cNvPicPr/>
          <p:nvPr/>
        </p:nvPicPr>
        <p:blipFill>
          <a:blip r:embed="rId1"/>
          <a:stretch/>
        </p:blipFill>
        <p:spPr>
          <a:xfrm>
            <a:off x="2377800" y="1260000"/>
            <a:ext cx="8060760" cy="431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83" name="" descr=""/>
          <p:cNvPicPr/>
          <p:nvPr/>
        </p:nvPicPr>
        <p:blipFill>
          <a:blip r:embed="rId1"/>
          <a:stretch/>
        </p:blipFill>
        <p:spPr>
          <a:xfrm>
            <a:off x="2520000" y="1249200"/>
            <a:ext cx="7458840" cy="4641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85" name="" descr=""/>
          <p:cNvPicPr/>
          <p:nvPr/>
        </p:nvPicPr>
        <p:blipFill>
          <a:blip r:embed="rId1"/>
          <a:stretch/>
        </p:blipFill>
        <p:spPr>
          <a:xfrm>
            <a:off x="2520000" y="1080000"/>
            <a:ext cx="7390440" cy="4858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87" name="" descr=""/>
          <p:cNvPicPr/>
          <p:nvPr/>
        </p:nvPicPr>
        <p:blipFill>
          <a:blip r:embed="rId1"/>
          <a:stretch/>
        </p:blipFill>
        <p:spPr>
          <a:xfrm>
            <a:off x="2615760" y="1618200"/>
            <a:ext cx="7102800" cy="28803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Árbol de decisión</a:t>
            </a:r>
            <a:endParaRPr b="0" lang="en-US" sz="2400" spc="-1" strike="noStrike">
              <a:latin typeface="Arial"/>
            </a:endParaRPr>
          </a:p>
        </p:txBody>
      </p:sp>
      <p:pic>
        <p:nvPicPr>
          <p:cNvPr id="189" name="" descr=""/>
          <p:cNvPicPr/>
          <p:nvPr/>
        </p:nvPicPr>
        <p:blipFill>
          <a:blip r:embed="rId1"/>
          <a:stretch/>
        </p:blipFill>
        <p:spPr>
          <a:xfrm>
            <a:off x="2700000" y="1080000"/>
            <a:ext cx="5758560" cy="50202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Métodos de ensemble</a:t>
            </a:r>
            <a:endParaRPr b="0" lang="en-US" sz="2400" spc="-1" strike="noStrike">
              <a:latin typeface="Arial"/>
            </a:endParaRPr>
          </a:p>
        </p:txBody>
      </p:sp>
      <p:sp>
        <p:nvSpPr>
          <p:cNvPr id="191" name="PlaceHolder 2"/>
          <p:cNvSpPr>
            <a:spLocks noGrp="1"/>
          </p:cNvSpPr>
          <p:nvPr>
            <p:ph/>
          </p:nvPr>
        </p:nvSpPr>
        <p:spPr>
          <a:xfrm>
            <a:off x="838080" y="1124640"/>
            <a:ext cx="10509480" cy="211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n-US" sz="2400" spc="-1" strike="noStrike">
                <a:latin typeface="Arial"/>
              </a:rPr>
              <a:t> </a:t>
            </a:r>
            <a:r>
              <a:rPr b="1" lang="es-ES" sz="2400" spc="-1" strike="noStrike">
                <a:latin typeface="Calibri"/>
              </a:rPr>
              <a:t>Definición:</a:t>
            </a:r>
            <a:r>
              <a:rPr b="0" lang="es-ES" sz="2000" spc="-1" strike="noStrike">
                <a:latin typeface="Calibri"/>
              </a:rPr>
              <a:t> Un método de ensemble combina múltiples modelos  para obtener un modelo final más robusto y preciso.</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La idea es que varios modelos débiles, cuando se combinan adecuadamente, pueden producir un modelo fuerte.</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Los ensembles reducen el riesgo de sobreajuste y mejoran la capacidad de generalización.</a:t>
            </a:r>
            <a:endParaRPr b="0" lang="en-US" sz="2000" spc="-1" strike="noStrike">
              <a:latin typeface="Arial"/>
            </a:endParaRPr>
          </a:p>
        </p:txBody>
      </p:sp>
      <p:pic>
        <p:nvPicPr>
          <p:cNvPr id="192" name="" descr=""/>
          <p:cNvPicPr/>
          <p:nvPr/>
        </p:nvPicPr>
        <p:blipFill>
          <a:blip r:embed="rId1"/>
          <a:srcRect l="12932" t="7969" r="16187" b="47382"/>
          <a:stretch/>
        </p:blipFill>
        <p:spPr>
          <a:xfrm>
            <a:off x="2880000" y="3570120"/>
            <a:ext cx="7198920" cy="2548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Bagging</a:t>
            </a:r>
            <a:endParaRPr b="0" lang="en-US" sz="2400" spc="-1" strike="noStrike">
              <a:latin typeface="Arial"/>
            </a:endParaRPr>
          </a:p>
        </p:txBody>
      </p:sp>
      <p:sp>
        <p:nvSpPr>
          <p:cNvPr id="194"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ea typeface="DejaVu Sans"/>
              </a:rPr>
              <a:t> </a:t>
            </a:r>
            <a:r>
              <a:rPr b="1" lang="es-ES" sz="2400" spc="-1" strike="noStrike">
                <a:latin typeface="Calibri"/>
                <a:ea typeface="DejaVu Sans"/>
              </a:rPr>
              <a:t>Bagging</a:t>
            </a: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Consiste en entrenar múltiples modelos en paralelo sobre diferentes subconjuntos del dataset obtenidos mediante bootstrap sampling (muestreo aleatorio con reemplazo).</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Reducir la VARIANZA</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Cada modelo produce una predicción y el resultado final se obtiene combinando todas las predicciones:</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ea typeface="DejaVu Sans"/>
              </a:rPr>
              <a:t>Clasificación → votación mayoritaria.</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ea typeface="DejaVu Sans"/>
              </a:rPr>
              <a:t>Regresión → promedio.</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Bagging</a:t>
            </a:r>
            <a:endParaRPr b="0" lang="en-US" sz="2400" spc="-1" strike="noStrike">
              <a:latin typeface="Arial"/>
            </a:endParaRPr>
          </a:p>
        </p:txBody>
      </p:sp>
      <p:pic>
        <p:nvPicPr>
          <p:cNvPr id="196" name="" descr=""/>
          <p:cNvPicPr/>
          <p:nvPr/>
        </p:nvPicPr>
        <p:blipFill>
          <a:blip r:embed="rId1"/>
          <a:stretch/>
        </p:blipFill>
        <p:spPr>
          <a:xfrm>
            <a:off x="2520000" y="885240"/>
            <a:ext cx="7740000" cy="5177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Bagging</a:t>
            </a:r>
            <a:endParaRPr b="0" lang="en-US" sz="2400" spc="-1" strike="noStrike">
              <a:latin typeface="Arial"/>
            </a:endParaRPr>
          </a:p>
        </p:txBody>
      </p:sp>
      <p:pic>
        <p:nvPicPr>
          <p:cNvPr id="198" name="" descr=""/>
          <p:cNvPicPr/>
          <p:nvPr/>
        </p:nvPicPr>
        <p:blipFill>
          <a:blip r:embed="rId1"/>
          <a:stretch/>
        </p:blipFill>
        <p:spPr>
          <a:xfrm>
            <a:off x="2440080" y="529200"/>
            <a:ext cx="8898840" cy="54943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Bagging</a:t>
            </a:r>
            <a:endParaRPr b="0" lang="en-US" sz="2400" spc="-1" strike="noStrike">
              <a:latin typeface="Arial"/>
            </a:endParaRPr>
          </a:p>
        </p:txBody>
      </p:sp>
      <p:sp>
        <p:nvSpPr>
          <p:cNvPr id="200" name="PlaceHolder 2"/>
          <p:cNvSpPr>
            <a:spLocks noGrp="1"/>
          </p:cNvSpPr>
          <p:nvPr>
            <p:ph/>
          </p:nvPr>
        </p:nvSpPr>
        <p:spPr>
          <a:xfrm>
            <a:off x="4078080" y="903600"/>
            <a:ext cx="7620840" cy="4858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Ventajas:</a:t>
            </a:r>
            <a:endParaRPr b="0" lang="en-US" sz="24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Reduce la varianza de los modelos base.</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Menos propenso al sobreajuste que un único árbol de decisión.</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Escalable y paralelizable.</a:t>
            </a:r>
            <a:endParaRPr b="0" lang="en-US" sz="2000" spc="-1" strike="noStrike">
              <a:latin typeface="Arial"/>
            </a:endParaRPr>
          </a:p>
          <a:p>
            <a:pPr marL="900360" indent="-179640">
              <a:lnSpc>
                <a:spcPct val="115000"/>
              </a:lnSpc>
              <a:spcAft>
                <a:spcPts val="1236"/>
              </a:spcAft>
              <a:buNone/>
              <a:tabLst>
                <a:tab algn="l" pos="0"/>
              </a:tabLst>
            </a:pPr>
            <a:endParaRPr b="0" lang="en-US" sz="2000" spc="-1" strike="noStrike">
              <a:latin typeface="Arial"/>
            </a:endParaRPr>
          </a:p>
          <a:p>
            <a:pPr marL="450360" indent="-179640">
              <a:lnSpc>
                <a:spcPct val="115000"/>
              </a:lnSpc>
              <a:spcAft>
                <a:spcPts val="1236"/>
              </a:spcAft>
              <a:buNone/>
              <a:tabLst>
                <a:tab algn="l" pos="0"/>
              </a:tabLst>
            </a:pPr>
            <a:r>
              <a:rPr b="1" lang="es-ES" sz="2400" spc="-1" strike="noStrike">
                <a:latin typeface="Calibri"/>
              </a:rPr>
              <a:t>Desventajas:</a:t>
            </a:r>
            <a:endParaRPr b="0" lang="en-US" sz="24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Menos interpretable que un solo árbol.</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rPr>
              <a:t>Puede ser costoso en memoria y tiempo de entrenamiento si el número de modelos es grande.</a:t>
            </a:r>
            <a:endParaRPr b="0" lang="en-US" sz="2000" spc="-1" strike="noStrike">
              <a:latin typeface="Arial"/>
            </a:endParaRPr>
          </a:p>
        </p:txBody>
      </p:sp>
      <p:pic>
        <p:nvPicPr>
          <p:cNvPr id="201" name="" descr=""/>
          <p:cNvPicPr/>
          <p:nvPr/>
        </p:nvPicPr>
        <p:blipFill>
          <a:blip r:embed="rId1"/>
          <a:stretch/>
        </p:blipFill>
        <p:spPr>
          <a:xfrm>
            <a:off x="1620000" y="1620000"/>
            <a:ext cx="1438920" cy="1438920"/>
          </a:xfrm>
          <a:prstGeom prst="rect">
            <a:avLst/>
          </a:prstGeom>
          <a:ln w="0">
            <a:noFill/>
          </a:ln>
        </p:spPr>
      </p:pic>
      <p:pic>
        <p:nvPicPr>
          <p:cNvPr id="202" name="" descr=""/>
          <p:cNvPicPr/>
          <p:nvPr/>
        </p:nvPicPr>
        <p:blipFill>
          <a:blip r:embed="rId2"/>
          <a:stretch/>
        </p:blipFill>
        <p:spPr>
          <a:xfrm>
            <a:off x="1620360" y="3960000"/>
            <a:ext cx="1438560" cy="14068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Boosting</a:t>
            </a:r>
            <a:endParaRPr b="0" lang="en-US" sz="2400" spc="-1" strike="noStrike">
              <a:latin typeface="Arial"/>
            </a:endParaRPr>
          </a:p>
        </p:txBody>
      </p:sp>
      <p:sp>
        <p:nvSpPr>
          <p:cNvPr id="204"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ea typeface="DejaVu Sans"/>
              </a:rPr>
              <a:t>Boosting</a:t>
            </a:r>
            <a:endParaRPr b="0" lang="en-US" sz="2400" spc="-1" strike="noStrike">
              <a:latin typeface="Arial"/>
            </a:endParaRPr>
          </a:p>
          <a:p>
            <a:pPr>
              <a:lnSpc>
                <a:spcPct val="100000"/>
              </a:lnSpc>
              <a:buNone/>
            </a:pPr>
            <a:endParaRPr b="0" lang="en-US" sz="24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Entrena múltiples modelos de manera secuencial, donde cada nuevo modelo se centra en corregir los errores cometidos por los anteriores.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Asigna más peso a los ejemplos mal clasificados en iteraciones previas, forzando al modelo a “aprender de sus errores”.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El modelo final es una combinación ponderada de todos los modelos.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Reducir el SESGO y VARIANZA</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Boosting</a:t>
            </a:r>
            <a:endParaRPr b="0" lang="en-US" sz="2400" spc="-1" strike="noStrike">
              <a:latin typeface="Arial"/>
            </a:endParaRPr>
          </a:p>
        </p:txBody>
      </p:sp>
      <p:pic>
        <p:nvPicPr>
          <p:cNvPr id="206" name="" descr=""/>
          <p:cNvPicPr/>
          <p:nvPr/>
        </p:nvPicPr>
        <p:blipFill>
          <a:blip r:embed="rId1"/>
          <a:stretch/>
        </p:blipFill>
        <p:spPr>
          <a:xfrm>
            <a:off x="3060000" y="451440"/>
            <a:ext cx="7918920" cy="5524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Boosting</a:t>
            </a:r>
            <a:endParaRPr b="0" lang="en-US" sz="2400" spc="-1" strike="noStrike">
              <a:latin typeface="Arial"/>
            </a:endParaRPr>
          </a:p>
        </p:txBody>
      </p:sp>
      <p:pic>
        <p:nvPicPr>
          <p:cNvPr id="208" name="" descr=""/>
          <p:cNvPicPr/>
          <p:nvPr/>
        </p:nvPicPr>
        <p:blipFill>
          <a:blip r:embed="rId1"/>
          <a:stretch/>
        </p:blipFill>
        <p:spPr>
          <a:xfrm>
            <a:off x="1620000" y="1620000"/>
            <a:ext cx="1438920" cy="1438920"/>
          </a:xfrm>
          <a:prstGeom prst="rect">
            <a:avLst/>
          </a:prstGeom>
          <a:ln w="0">
            <a:noFill/>
          </a:ln>
        </p:spPr>
      </p:pic>
      <p:pic>
        <p:nvPicPr>
          <p:cNvPr id="209" name="" descr=""/>
          <p:cNvPicPr/>
          <p:nvPr/>
        </p:nvPicPr>
        <p:blipFill>
          <a:blip r:embed="rId2"/>
          <a:stretch/>
        </p:blipFill>
        <p:spPr>
          <a:xfrm>
            <a:off x="1620360" y="3960000"/>
            <a:ext cx="1438560" cy="1406880"/>
          </a:xfrm>
          <a:prstGeom prst="rect">
            <a:avLst/>
          </a:prstGeom>
          <a:ln w="0">
            <a:noFill/>
          </a:ln>
        </p:spPr>
      </p:pic>
      <p:sp>
        <p:nvSpPr>
          <p:cNvPr id="210" name="PlaceHolder 4"/>
          <p:cNvSpPr/>
          <p:nvPr/>
        </p:nvSpPr>
        <p:spPr>
          <a:xfrm>
            <a:off x="4078080" y="1080000"/>
            <a:ext cx="7620840" cy="4858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00000"/>
                </a:solidFill>
                <a:latin typeface="Calibri"/>
                <a:ea typeface="DejaVu Sans"/>
              </a:rPr>
              <a:t>Ventajas:</a:t>
            </a:r>
            <a:endParaRPr b="0" lang="en-US" sz="24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Excelente precisión en muchos problemas.</a:t>
            </a:r>
            <a:endParaRPr b="0" lang="en-US" sz="20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Capaz de reducir tanto sesgo como varianza.</a:t>
            </a:r>
            <a:endParaRPr b="0" lang="en-US" sz="20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Muy efectivo en datasets con relaciones complejas.</a:t>
            </a:r>
            <a:endParaRPr b="0" lang="en-US" sz="2000" spc="-1" strike="noStrike">
              <a:latin typeface="Arial"/>
            </a:endParaRPr>
          </a:p>
          <a:p>
            <a:pPr>
              <a:lnSpc>
                <a:spcPct val="100000"/>
              </a:lnSpc>
              <a:spcBef>
                <a:spcPts val="1417"/>
              </a:spcBef>
              <a:buNone/>
              <a:tabLst>
                <a:tab algn="l" pos="900360"/>
              </a:tabLst>
            </a:pPr>
            <a:endParaRPr b="0" lang="en-US" sz="2000" spc="-1" strike="noStrike">
              <a:latin typeface="Arial"/>
            </a:endParaRPr>
          </a:p>
          <a:p>
            <a:pPr>
              <a:lnSpc>
                <a:spcPct val="100000"/>
              </a:lnSpc>
              <a:buNone/>
              <a:tabLst>
                <a:tab algn="l" pos="900360"/>
              </a:tabLst>
            </a:pPr>
            <a:r>
              <a:rPr b="1" lang="es-ES" sz="2400" spc="-1" strike="noStrike">
                <a:solidFill>
                  <a:srgbClr val="000000"/>
                </a:solidFill>
                <a:latin typeface="Calibri"/>
                <a:ea typeface="DejaVu Sans"/>
              </a:rPr>
              <a:t>Desventajas:</a:t>
            </a:r>
            <a:endParaRPr b="0" lang="en-US" sz="24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Entrenamiento más lento que bagging (es secuencial, no paralelo).</a:t>
            </a:r>
            <a:endParaRPr b="0" lang="en-US" sz="20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Más sensible al ruido y a valores atípicos.</a:t>
            </a:r>
            <a:endParaRPr b="0" lang="en-US" sz="2000" spc="-1" strike="noStrike">
              <a:latin typeface="Arial"/>
            </a:endParaRPr>
          </a:p>
          <a:p>
            <a:pPr marL="900360" indent="-179640">
              <a:lnSpc>
                <a:spcPct val="100000"/>
              </a:lnSpc>
              <a:spcBef>
                <a:spcPts val="1417"/>
              </a:spcBef>
              <a:buClr>
                <a:srgbClr val="000000"/>
              </a:buClr>
              <a:buSzPct val="45000"/>
              <a:buFont typeface="Wingdings" charset="2"/>
              <a:buChar char=""/>
              <a:tabLst>
                <a:tab algn="l" pos="900360"/>
              </a:tabLst>
            </a:pPr>
            <a:r>
              <a:rPr b="0" lang="es-ES" sz="2000" spc="-1" strike="noStrike">
                <a:solidFill>
                  <a:srgbClr val="000000"/>
                </a:solidFill>
                <a:latin typeface="Calibri"/>
                <a:ea typeface="DejaVu Sans"/>
              </a:rPr>
              <a:t>Mayor riesgo de sobreajuste si no se regula adecuadamente.</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Stacking</a:t>
            </a:r>
            <a:endParaRPr b="0" lang="en-US" sz="2400" spc="-1" strike="noStrike">
              <a:latin typeface="Arial"/>
            </a:endParaRPr>
          </a:p>
        </p:txBody>
      </p:sp>
      <p:sp>
        <p:nvSpPr>
          <p:cNvPr id="212"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50360" indent="-179640">
              <a:lnSpc>
                <a:spcPct val="115000"/>
              </a:lnSpc>
              <a:spcAft>
                <a:spcPts val="1236"/>
              </a:spcAft>
              <a:buClr>
                <a:srgbClr val="000000"/>
              </a:buClr>
              <a:buFont typeface="Wingdings" charset="2"/>
              <a:buChar char=""/>
              <a:tabLst>
                <a:tab algn="l" pos="450360"/>
              </a:tabLst>
            </a:pPr>
            <a:r>
              <a:rPr b="0" lang="es-ES" sz="2000" spc="-1" strike="noStrike">
                <a:latin typeface="Calibri"/>
              </a:rPr>
              <a:t> </a:t>
            </a:r>
            <a:r>
              <a:rPr b="1" lang="es-ES" sz="2400" spc="-1" strike="noStrike">
                <a:latin typeface="Calibri"/>
                <a:ea typeface="DejaVu Sans"/>
              </a:rPr>
              <a:t>Stacking</a:t>
            </a:r>
            <a:endParaRPr b="0" lang="en-US" sz="24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Stacking es una técnica de ensamble que combina diferentes modelos para mejorar la capacidad predictiva.</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A diferencia de Bagging y Boosting, que suelen trabajar con modelos del mismo tipo (ej. árboles de decisión), el Stacking busca diversidad de algoritmos.</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Funcionamiento:</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ea typeface="DejaVu Sans"/>
              </a:rPr>
              <a:t>Se entrenan varios modelos base de forma independiente.</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ea typeface="DejaVu Sans"/>
              </a:rPr>
              <a:t>Sus predicciones se usan como nuevas características.</a:t>
            </a:r>
            <a:endParaRPr b="0" lang="en-US" sz="2000" spc="-1" strike="noStrike">
              <a:latin typeface="Arial"/>
            </a:endParaRPr>
          </a:p>
          <a:p>
            <a:pPr marL="900360" indent="-179640">
              <a:lnSpc>
                <a:spcPct val="115000"/>
              </a:lnSpc>
              <a:spcAft>
                <a:spcPts val="1236"/>
              </a:spcAft>
              <a:buClr>
                <a:srgbClr val="000000"/>
              </a:buClr>
              <a:buSzPct val="45000"/>
              <a:buFont typeface="Wingdings" charset="2"/>
              <a:buChar char=""/>
              <a:tabLst>
                <a:tab algn="l" pos="900360"/>
              </a:tabLst>
            </a:pPr>
            <a:r>
              <a:rPr b="0" lang="es-ES" sz="2000" spc="-1" strike="noStrike">
                <a:latin typeface="Calibri"/>
                <a:ea typeface="DejaVu Sans"/>
              </a:rPr>
              <a:t>Un meta-modelo (nivel superior) se entrena sobre esas predicciones para dar la predicción final.</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Stacking</a:t>
            </a:r>
            <a:endParaRPr b="0" lang="en-US" sz="2400" spc="-1" strike="noStrike">
              <a:latin typeface="Arial"/>
            </a:endParaRPr>
          </a:p>
        </p:txBody>
      </p:sp>
      <p:pic>
        <p:nvPicPr>
          <p:cNvPr id="214" name="" descr=""/>
          <p:cNvPicPr/>
          <p:nvPr/>
        </p:nvPicPr>
        <p:blipFill>
          <a:blip r:embed="rId1"/>
          <a:srcRect l="5533" t="0" r="0" b="0"/>
          <a:stretch/>
        </p:blipFill>
        <p:spPr>
          <a:xfrm>
            <a:off x="2306880" y="453960"/>
            <a:ext cx="9212040" cy="5484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Stacking</a:t>
            </a:r>
            <a:endParaRPr b="0" lang="en-US" sz="2400" spc="-1" strike="noStrike">
              <a:latin typeface="Arial"/>
            </a:endParaRPr>
          </a:p>
        </p:txBody>
      </p:sp>
      <p:sp>
        <p:nvSpPr>
          <p:cNvPr id="216" name="PlaceHolder 2"/>
          <p:cNvSpPr>
            <a:spLocks noGrp="1"/>
          </p:cNvSpPr>
          <p:nvPr>
            <p:ph/>
          </p:nvPr>
        </p:nvSpPr>
        <p:spPr>
          <a:xfrm>
            <a:off x="838080" y="1124640"/>
            <a:ext cx="10509480" cy="229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ea typeface="DejaVu Sans"/>
              </a:rPr>
              <a:t>Aplicaciones típicas</a:t>
            </a: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Competencias de machine learning donde maximizar precisión es crítico.</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Problemas en los que no se conoce de antemano qué modelo funcionará mejor.</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ea typeface="DejaVu Sans"/>
              </a:rPr>
              <a:t>Situaciones con datasets complejos y heterogéneos.</a:t>
            </a:r>
            <a:endParaRPr b="0" lang="en-US" sz="2000" spc="-1" strike="noStrike">
              <a:latin typeface="Arial"/>
            </a:endParaRPr>
          </a:p>
        </p:txBody>
      </p:sp>
      <p:pic>
        <p:nvPicPr>
          <p:cNvPr id="217" name="" descr=""/>
          <p:cNvPicPr/>
          <p:nvPr/>
        </p:nvPicPr>
        <p:blipFill>
          <a:blip r:embed="rId1"/>
          <a:stretch/>
        </p:blipFill>
        <p:spPr>
          <a:xfrm>
            <a:off x="2846160" y="3358080"/>
            <a:ext cx="6332760" cy="2760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Stacking</a:t>
            </a:r>
            <a:endParaRPr b="0" lang="en-US" sz="2400" spc="-1" strike="noStrike">
              <a:latin typeface="Arial"/>
            </a:endParaRPr>
          </a:p>
        </p:txBody>
      </p:sp>
      <p:pic>
        <p:nvPicPr>
          <p:cNvPr id="219" name="" descr=""/>
          <p:cNvPicPr/>
          <p:nvPr/>
        </p:nvPicPr>
        <p:blipFill>
          <a:blip r:embed="rId1"/>
          <a:stretch/>
        </p:blipFill>
        <p:spPr>
          <a:xfrm>
            <a:off x="1620000" y="1620000"/>
            <a:ext cx="1438920" cy="1438920"/>
          </a:xfrm>
          <a:prstGeom prst="rect">
            <a:avLst/>
          </a:prstGeom>
          <a:ln w="0">
            <a:noFill/>
          </a:ln>
        </p:spPr>
      </p:pic>
      <p:pic>
        <p:nvPicPr>
          <p:cNvPr id="220" name="" descr=""/>
          <p:cNvPicPr/>
          <p:nvPr/>
        </p:nvPicPr>
        <p:blipFill>
          <a:blip r:embed="rId2"/>
          <a:stretch/>
        </p:blipFill>
        <p:spPr>
          <a:xfrm>
            <a:off x="1620360" y="3960000"/>
            <a:ext cx="1438560" cy="1406880"/>
          </a:xfrm>
          <a:prstGeom prst="rect">
            <a:avLst/>
          </a:prstGeom>
          <a:ln w="0">
            <a:noFill/>
          </a:ln>
        </p:spPr>
      </p:pic>
      <p:sp>
        <p:nvSpPr>
          <p:cNvPr id="221" name="PlaceHolder 6"/>
          <p:cNvSpPr/>
          <p:nvPr/>
        </p:nvSpPr>
        <p:spPr>
          <a:xfrm>
            <a:off x="4078080" y="1080000"/>
            <a:ext cx="7620840" cy="4858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1" lang="es-ES" sz="2400" spc="-1" strike="noStrike">
                <a:solidFill>
                  <a:srgbClr val="000000"/>
                </a:solidFill>
                <a:latin typeface="Calibri"/>
                <a:ea typeface="DejaVu Sans"/>
              </a:rPr>
              <a:t>Ventajas:</a:t>
            </a:r>
            <a:endParaRPr b="0" lang="en-US" sz="24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solidFill>
                  <a:srgbClr val="000000"/>
                </a:solidFill>
                <a:latin typeface="Calibri"/>
                <a:ea typeface="DejaVu Sans"/>
              </a:rPr>
              <a:t>Permite combinar fortalezas de distintos algoritmos</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solidFill>
                  <a:srgbClr val="000000"/>
                </a:solidFill>
                <a:latin typeface="Calibri"/>
                <a:ea typeface="DejaVu Sans"/>
              </a:rPr>
              <a:t>Puede superar en rendimiento a cualquier modelo individual.</a:t>
            </a:r>
            <a:endParaRPr b="0" lang="en-US" sz="2000" spc="-1" strike="noStrike">
              <a:latin typeface="Arial"/>
            </a:endParaRPr>
          </a:p>
          <a:p>
            <a:pPr>
              <a:lnSpc>
                <a:spcPct val="100000"/>
              </a:lnSpc>
              <a:spcBef>
                <a:spcPts val="1417"/>
              </a:spcBef>
              <a:buNone/>
              <a:tabLst>
                <a:tab algn="l" pos="450360"/>
              </a:tabLst>
            </a:pPr>
            <a:endParaRPr b="0" lang="en-US" sz="2000" spc="-1" strike="noStrike">
              <a:latin typeface="Arial"/>
            </a:endParaRPr>
          </a:p>
          <a:p>
            <a:pPr>
              <a:lnSpc>
                <a:spcPct val="100000"/>
              </a:lnSpc>
              <a:buNone/>
              <a:tabLst>
                <a:tab algn="l" pos="450360"/>
              </a:tabLst>
            </a:pPr>
            <a:r>
              <a:rPr b="1" lang="es-ES" sz="2400" spc="-1" strike="noStrike">
                <a:solidFill>
                  <a:srgbClr val="000000"/>
                </a:solidFill>
                <a:latin typeface="Calibri"/>
                <a:ea typeface="DejaVu Sans"/>
              </a:rPr>
              <a:t>Desventajas:</a:t>
            </a:r>
            <a:endParaRPr b="0" lang="en-US" sz="24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solidFill>
                  <a:srgbClr val="000000"/>
                </a:solidFill>
                <a:latin typeface="Calibri"/>
                <a:ea typeface="DejaVu Sans"/>
              </a:rPr>
              <a:t>Mayor complejidad: difícil de interpretar.</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solidFill>
                  <a:srgbClr val="000000"/>
                </a:solidFill>
                <a:latin typeface="Calibri"/>
                <a:ea typeface="DejaVu Sans"/>
              </a:rPr>
              <a:t>Requiere más recursos computacionales y tiempo de entrenamiento.</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solidFill>
                  <a:srgbClr val="000000"/>
                </a:solidFill>
                <a:latin typeface="Calibri"/>
                <a:ea typeface="DejaVu Sans"/>
              </a:rPr>
              <a:t>Riesgo de sobreajuste si no se valida adecuadamente</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23" name="PlaceHolder 2"/>
          <p:cNvSpPr>
            <a:spLocks noGrp="1"/>
          </p:cNvSpPr>
          <p:nvPr>
            <p:ph/>
          </p:nvPr>
        </p:nvSpPr>
        <p:spPr>
          <a:xfrm>
            <a:off x="838080" y="1124640"/>
            <a:ext cx="10509480" cy="265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Random Forest</a:t>
            </a: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Se trata de un ensamble de árboles de decisión que combina sus predicciones para obtener un modelo más robusto, preciso y con menor riesgo de sobreajuste.</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Fue propuesto por Leo Breiman (2001) </a:t>
            </a:r>
            <a:endParaRPr b="0" lang="en-US" sz="2000" spc="-1" strike="noStrike">
              <a:latin typeface="Arial"/>
            </a:endParaRPr>
          </a:p>
          <a:p>
            <a:pPr marL="450360" indent="-179640">
              <a:lnSpc>
                <a:spcPct val="115000"/>
              </a:lnSpc>
              <a:spcAft>
                <a:spcPts val="1236"/>
              </a:spcAft>
              <a:buClr>
                <a:srgbClr val="000000"/>
              </a:buClr>
              <a:buSzPct val="45000"/>
              <a:buFont typeface="Wingdings" charset="2"/>
              <a:buChar char=""/>
              <a:tabLst>
                <a:tab algn="l" pos="450360"/>
              </a:tabLst>
            </a:pPr>
            <a:r>
              <a:rPr b="0" lang="es-ES" sz="2000" spc="-1" strike="noStrike">
                <a:latin typeface="Calibri"/>
              </a:rPr>
              <a:t>Se usa para problemas de clasificación y regresión.</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pic>
        <p:nvPicPr>
          <p:cNvPr id="225" name="" descr=""/>
          <p:cNvPicPr/>
          <p:nvPr/>
        </p:nvPicPr>
        <p:blipFill>
          <a:blip r:embed="rId1"/>
          <a:stretch/>
        </p:blipFill>
        <p:spPr>
          <a:xfrm>
            <a:off x="646920" y="1289520"/>
            <a:ext cx="4932000" cy="4109400"/>
          </a:xfrm>
          <a:prstGeom prst="rect">
            <a:avLst/>
          </a:prstGeom>
          <a:ln w="0">
            <a:noFill/>
          </a:ln>
        </p:spPr>
      </p:pic>
      <p:pic>
        <p:nvPicPr>
          <p:cNvPr id="226" name="" descr=""/>
          <p:cNvPicPr/>
          <p:nvPr/>
        </p:nvPicPr>
        <p:blipFill>
          <a:blip r:embed="rId2"/>
          <a:stretch/>
        </p:blipFill>
        <p:spPr>
          <a:xfrm>
            <a:off x="5940000" y="1260000"/>
            <a:ext cx="5974200" cy="3969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28" name="PlaceHolder 2"/>
          <p:cNvSpPr>
            <a:spLocks noGrp="1"/>
          </p:cNvSpPr>
          <p:nvPr>
            <p:ph/>
          </p:nvPr>
        </p:nvSpPr>
        <p:spPr>
          <a:xfrm>
            <a:off x="720000" y="1304640"/>
            <a:ext cx="10509480" cy="373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ea typeface="DejaVu Sans"/>
              </a:rPr>
              <a:t>Funcionamiento paso a paso</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15000"/>
              </a:lnSpc>
              <a:spcAft>
                <a:spcPts val="1236"/>
              </a:spcAft>
              <a:buNone/>
              <a:tabLst>
                <a:tab algn="l" pos="0"/>
              </a:tabLst>
            </a:pPr>
            <a:r>
              <a:rPr b="1" lang="es-ES" sz="2400" spc="-1" strike="noStrike">
                <a:latin typeface="Calibri"/>
                <a:ea typeface="DejaVu Sans"/>
              </a:rPr>
              <a:t> </a:t>
            </a:r>
            <a:r>
              <a:rPr b="1" lang="es-ES" sz="2400" spc="-1" strike="noStrike">
                <a:latin typeface="Calibri"/>
                <a:ea typeface="DejaVu Sans"/>
              </a:rPr>
              <a:t>1 Muestreo bootstrap</a:t>
            </a:r>
            <a:endParaRPr b="0" lang="en-US" sz="2400" spc="-1" strike="noStrike">
              <a:latin typeface="Arial"/>
            </a:endParaRPr>
          </a:p>
          <a:p>
            <a:pPr marL="900360" indent="-179640">
              <a:lnSpc>
                <a:spcPct val="115000"/>
              </a:lnSpc>
              <a:spcAft>
                <a:spcPts val="1236"/>
              </a:spcAft>
              <a:buNone/>
              <a:tabLst>
                <a:tab algn="l" pos="0"/>
              </a:tabLst>
            </a:pPr>
            <a:r>
              <a:rPr b="0" lang="es-ES" sz="2000" spc="-1" strike="noStrike">
                <a:latin typeface="Calibri"/>
                <a:ea typeface="DejaVu Sans"/>
              </a:rPr>
              <a:t>A partir del dataset original, se generan múltiples subconjuntos de datos mediante muestreo </a:t>
            </a:r>
            <a:r>
              <a:rPr b="0" lang="es-ES" sz="2000" spc="-1" strike="noStrike">
                <a:latin typeface="Calibri"/>
                <a:ea typeface="DejaVu Sans"/>
              </a:rPr>
              <a:t>con reemplazo.</a:t>
            </a:r>
            <a:endParaRPr b="0" lang="en-US" sz="2000" spc="-1" strike="noStrike">
              <a:latin typeface="Arial"/>
            </a:endParaRPr>
          </a:p>
          <a:p>
            <a:pPr marL="900360" indent="-179640">
              <a:lnSpc>
                <a:spcPct val="115000"/>
              </a:lnSpc>
              <a:spcAft>
                <a:spcPts val="1236"/>
              </a:spcAft>
              <a:buNone/>
              <a:tabLst>
                <a:tab algn="l" pos="0"/>
              </a:tabLst>
            </a:pPr>
            <a:r>
              <a:rPr b="0" lang="es-ES" sz="2000" spc="-1" strike="noStrike">
                <a:latin typeface="Calibri"/>
                <a:ea typeface="DejaVu Sans"/>
              </a:rPr>
              <a:t>Cada subconjunto se utiliza para entrenar un árbol de decisión.</a:t>
            </a:r>
            <a:endParaRPr b="0" lang="en-US" sz="2000" spc="-1" strike="noStrike">
              <a:latin typeface="Arial"/>
            </a:endParaRPr>
          </a:p>
          <a:p>
            <a:pPr marL="450360" indent="-179640">
              <a:lnSpc>
                <a:spcPct val="115000"/>
              </a:lnSpc>
              <a:spcAft>
                <a:spcPts val="1236"/>
              </a:spcAft>
              <a:buNone/>
              <a:tabLst>
                <a:tab algn="l" pos="0"/>
              </a:tabLst>
            </a:pPr>
            <a:endParaRPr b="0" lang="en-US" sz="2400" spc="-1" strike="noStrike">
              <a:latin typeface="Arial"/>
            </a:endParaRPr>
          </a:p>
          <a:p>
            <a:pPr marL="450360" indent="-179640">
              <a:lnSpc>
                <a:spcPct val="115000"/>
              </a:lnSpc>
              <a:spcAft>
                <a:spcPts val="1236"/>
              </a:spcAft>
              <a:buNone/>
              <a:tabLst>
                <a:tab algn="l" pos="0"/>
              </a:tabLst>
            </a:pPr>
            <a:endParaRPr b="0" lang="en-US" sz="24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30" name="PlaceHolder 7"/>
          <p:cNvSpPr/>
          <p:nvPr/>
        </p:nvSpPr>
        <p:spPr>
          <a:xfrm>
            <a:off x="829440" y="1080000"/>
            <a:ext cx="10509480" cy="4345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1800" spc="-1" strike="noStrike">
              <a:latin typeface="Arial"/>
            </a:endParaRPr>
          </a:p>
          <a:p>
            <a:pPr marL="450360" indent="-179640">
              <a:lnSpc>
                <a:spcPct val="115000"/>
              </a:lnSpc>
              <a:spcBef>
                <a:spcPts val="1417"/>
              </a:spcBef>
              <a:buNone/>
              <a:tabLst>
                <a:tab algn="l" pos="0"/>
              </a:tabLst>
            </a:pPr>
            <a:r>
              <a:rPr b="1" lang="es-ES" sz="2400" spc="-1" strike="noStrike">
                <a:solidFill>
                  <a:srgbClr val="000000"/>
                </a:solidFill>
                <a:latin typeface="Calibri"/>
                <a:ea typeface="DejaVu Sans"/>
              </a:rPr>
              <a:t>2 Construcción de árboles</a:t>
            </a:r>
            <a:endParaRPr b="0" lang="en-US" sz="2400" spc="-1" strike="noStrike">
              <a:latin typeface="Arial"/>
            </a:endParaRPr>
          </a:p>
          <a:p>
            <a:pPr marL="900360" indent="-179640">
              <a:lnSpc>
                <a:spcPct val="115000"/>
              </a:lnSpc>
              <a:spcBef>
                <a:spcPts val="1417"/>
              </a:spcBef>
              <a:buNone/>
              <a:tabLst>
                <a:tab algn="l" pos="0"/>
              </a:tabLst>
            </a:pPr>
            <a:r>
              <a:rPr b="0" lang="es-ES" sz="2000" spc="-1" strike="noStrike">
                <a:solidFill>
                  <a:srgbClr val="000000"/>
                </a:solidFill>
                <a:latin typeface="Calibri"/>
                <a:ea typeface="DejaVu Sans"/>
              </a:rPr>
              <a:t>A diferencia del bagging clásico, Random Forest introduce aleatoriedad adicional:</a:t>
            </a:r>
            <a:endParaRPr b="0" lang="en-US" sz="2000" spc="-1" strike="noStrike">
              <a:latin typeface="Arial"/>
            </a:endParaRPr>
          </a:p>
          <a:p>
            <a:pPr marL="1350720" indent="-179640">
              <a:lnSpc>
                <a:spcPct val="115000"/>
              </a:lnSpc>
              <a:spcBef>
                <a:spcPts val="1417"/>
              </a:spcBef>
              <a:buNone/>
              <a:tabLst>
                <a:tab algn="l" pos="0"/>
              </a:tabLst>
            </a:pPr>
            <a:r>
              <a:rPr b="0" lang="es-ES" sz="2000" spc="-1" strike="noStrike">
                <a:solidFill>
                  <a:srgbClr val="000000"/>
                </a:solidFill>
                <a:latin typeface="Calibri"/>
                <a:ea typeface="DejaVu Sans"/>
              </a:rPr>
              <a:t>En cada división del árbol, no se consideran todas las características, sino un subconjunto aleatorio.</a:t>
            </a:r>
            <a:endParaRPr b="0" lang="en-US" sz="2000" spc="-1" strike="noStrike">
              <a:latin typeface="Arial"/>
            </a:endParaRPr>
          </a:p>
          <a:p>
            <a:pPr marL="1350720" indent="-179640">
              <a:lnSpc>
                <a:spcPct val="115000"/>
              </a:lnSpc>
              <a:spcBef>
                <a:spcPts val="1417"/>
              </a:spcBef>
              <a:buNone/>
              <a:tabLst>
                <a:tab algn="l" pos="0"/>
              </a:tabLst>
            </a:pPr>
            <a:r>
              <a:rPr b="0" lang="es-ES" sz="2000" spc="-1" strike="noStrike">
                <a:solidFill>
                  <a:srgbClr val="000000"/>
                </a:solidFill>
                <a:latin typeface="Calibri"/>
                <a:ea typeface="DejaVu Sans"/>
              </a:rPr>
              <a:t>Esto reduce la correlación entre árboles, mejorando la diversidad del bosque.</a:t>
            </a:r>
            <a:endParaRPr b="0" lang="en-US" sz="2000" spc="-1" strike="noStrike">
              <a:latin typeface="Arial"/>
            </a:endParaRPr>
          </a:p>
          <a:p>
            <a:pPr marL="450360" indent="-179640">
              <a:lnSpc>
                <a:spcPct val="115000"/>
              </a:lnSpc>
              <a:spcAft>
                <a:spcPts val="1236"/>
              </a:spcAft>
              <a:buNone/>
              <a:tabLst>
                <a:tab algn="l" pos="0"/>
              </a:tabLst>
            </a:pPr>
            <a:r>
              <a:rPr b="1" lang="es-ES" sz="2400" spc="-1" strike="noStrike">
                <a:solidFill>
                  <a:srgbClr val="000000"/>
                </a:solidFill>
                <a:latin typeface="Calibri"/>
                <a:ea typeface="DejaVu Sans"/>
              </a:rPr>
              <a:t>3 Agregación de predicciones</a:t>
            </a:r>
            <a:endParaRPr b="0" lang="en-US" sz="2400" spc="-1" strike="noStrike">
              <a:latin typeface="Arial"/>
            </a:endParaRPr>
          </a:p>
          <a:p>
            <a:pPr marL="900360" indent="-179640">
              <a:lnSpc>
                <a:spcPct val="115000"/>
              </a:lnSpc>
              <a:spcAft>
                <a:spcPts val="1236"/>
              </a:spcAft>
              <a:buNone/>
              <a:tabLst>
                <a:tab algn="l" pos="0"/>
              </a:tabLst>
            </a:pPr>
            <a:r>
              <a:rPr b="0" lang="es-ES" sz="2000" spc="-1" strike="noStrike">
                <a:solidFill>
                  <a:srgbClr val="000000"/>
                </a:solidFill>
                <a:latin typeface="Calibri"/>
                <a:ea typeface="DejaVu Sans"/>
              </a:rPr>
              <a:t>Clasificación: cada árbol vota por una clase y se elige la mayoría.</a:t>
            </a:r>
            <a:endParaRPr b="0" lang="en-US" sz="2000" spc="-1" strike="noStrike">
              <a:latin typeface="Arial"/>
            </a:endParaRPr>
          </a:p>
          <a:p>
            <a:pPr marL="900360" indent="-179640">
              <a:lnSpc>
                <a:spcPct val="115000"/>
              </a:lnSpc>
              <a:spcAft>
                <a:spcPts val="1236"/>
              </a:spcAft>
              <a:buNone/>
              <a:tabLst>
                <a:tab algn="l" pos="0"/>
              </a:tabLst>
            </a:pPr>
            <a:r>
              <a:rPr b="0" lang="es-ES" sz="2000" spc="-1" strike="noStrike">
                <a:solidFill>
                  <a:srgbClr val="000000"/>
                </a:solidFill>
                <a:latin typeface="Calibri"/>
                <a:ea typeface="DejaVu Sans"/>
              </a:rPr>
              <a:t>Regresión: se hace el promedio de las predicciones de todos los árboles.</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pic>
        <p:nvPicPr>
          <p:cNvPr id="232" name="" descr=""/>
          <p:cNvPicPr/>
          <p:nvPr/>
        </p:nvPicPr>
        <p:blipFill>
          <a:blip r:embed="rId1"/>
          <a:stretch/>
        </p:blipFill>
        <p:spPr>
          <a:xfrm>
            <a:off x="2700000" y="1063800"/>
            <a:ext cx="7018920" cy="4875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34" name="PlaceHolder 2"/>
          <p:cNvSpPr>
            <a:spLocks noGrp="1"/>
          </p:cNvSpPr>
          <p:nvPr>
            <p:ph/>
          </p:nvPr>
        </p:nvSpPr>
        <p:spPr>
          <a:xfrm>
            <a:off x="838080" y="1124640"/>
            <a:ext cx="10509480" cy="175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Hiperparámetros:</a:t>
            </a:r>
            <a:endParaRPr b="0" lang="en-US" sz="24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400" spc="-1" strike="noStrike">
                <a:latin typeface="Calibri"/>
              </a:rPr>
              <a:t>n_estimators:</a:t>
            </a:r>
            <a:r>
              <a:rPr b="0" lang="es-ES" sz="2000" spc="-1" strike="noStrike">
                <a:latin typeface="Calibri"/>
              </a:rPr>
              <a:t> Es el total de árboles de decisión que se van a entrenar</a:t>
            </a:r>
            <a:endParaRPr b="0" lang="en-US" sz="2000" spc="-1" strike="noStrike">
              <a:latin typeface="Arial"/>
            </a:endParaRPr>
          </a:p>
        </p:txBody>
      </p:sp>
      <p:pic>
        <p:nvPicPr>
          <p:cNvPr id="235" name="" descr=""/>
          <p:cNvPicPr/>
          <p:nvPr/>
        </p:nvPicPr>
        <p:blipFill>
          <a:blip r:embed="rId1"/>
          <a:stretch/>
        </p:blipFill>
        <p:spPr>
          <a:xfrm>
            <a:off x="5769000" y="2630160"/>
            <a:ext cx="4489920" cy="3128760"/>
          </a:xfrm>
          <a:prstGeom prst="rect">
            <a:avLst/>
          </a:prstGeom>
          <a:ln w="0">
            <a:noFill/>
          </a:ln>
        </p:spPr>
      </p:pic>
      <p:pic>
        <p:nvPicPr>
          <p:cNvPr id="236" name="" descr=""/>
          <p:cNvPicPr/>
          <p:nvPr/>
        </p:nvPicPr>
        <p:blipFill>
          <a:blip r:embed="rId2"/>
          <a:stretch/>
        </p:blipFill>
        <p:spPr>
          <a:xfrm>
            <a:off x="1440000" y="3124440"/>
            <a:ext cx="2878920" cy="2274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38" name="PlaceHolder 2"/>
          <p:cNvSpPr>
            <a:spLocks noGrp="1"/>
          </p:cNvSpPr>
          <p:nvPr>
            <p:ph/>
          </p:nvPr>
        </p:nvSpPr>
        <p:spPr>
          <a:xfrm>
            <a:off x="838080" y="1124640"/>
            <a:ext cx="10509480" cy="49428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1" lang="es-ES" sz="2400" spc="-1" strike="noStrike">
                <a:latin typeface="Calibri"/>
              </a:rPr>
              <a:t> </a:t>
            </a:r>
            <a:r>
              <a:rPr b="1" lang="es-ES" sz="2400" spc="-1" strike="noStrike">
                <a:latin typeface="Calibri"/>
              </a:rPr>
              <a:t>Hiperparámetros:</a:t>
            </a:r>
            <a:endParaRPr b="0" lang="en-US" sz="2400" spc="-1" strike="noStrike">
              <a:latin typeface="Arial"/>
            </a:endParaRPr>
          </a:p>
        </p:txBody>
      </p:sp>
      <p:pic>
        <p:nvPicPr>
          <p:cNvPr id="239" name="" descr=""/>
          <p:cNvPicPr/>
          <p:nvPr/>
        </p:nvPicPr>
        <p:blipFill>
          <a:blip r:embed="rId1"/>
          <a:stretch/>
        </p:blipFill>
        <p:spPr>
          <a:xfrm>
            <a:off x="540000" y="2160000"/>
            <a:ext cx="5920200" cy="3230640"/>
          </a:xfrm>
          <a:prstGeom prst="rect">
            <a:avLst/>
          </a:prstGeom>
          <a:ln w="0">
            <a:noFill/>
          </a:ln>
        </p:spPr>
      </p:pic>
      <p:pic>
        <p:nvPicPr>
          <p:cNvPr id="240" name="" descr=""/>
          <p:cNvPicPr/>
          <p:nvPr/>
        </p:nvPicPr>
        <p:blipFill>
          <a:blip r:embed="rId2"/>
          <a:stretch/>
        </p:blipFill>
        <p:spPr>
          <a:xfrm>
            <a:off x="6852600" y="2160000"/>
            <a:ext cx="5206320" cy="33548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pic>
        <p:nvPicPr>
          <p:cNvPr id="242" name="" descr=""/>
          <p:cNvPicPr/>
          <p:nvPr/>
        </p:nvPicPr>
        <p:blipFill>
          <a:blip r:embed="rId1"/>
          <a:stretch/>
        </p:blipFill>
        <p:spPr>
          <a:xfrm>
            <a:off x="452880" y="1440000"/>
            <a:ext cx="5666040" cy="3617280"/>
          </a:xfrm>
          <a:prstGeom prst="rect">
            <a:avLst/>
          </a:prstGeom>
          <a:ln w="0">
            <a:noFill/>
          </a:ln>
        </p:spPr>
      </p:pic>
      <p:pic>
        <p:nvPicPr>
          <p:cNvPr id="243" name="" descr=""/>
          <p:cNvPicPr/>
          <p:nvPr/>
        </p:nvPicPr>
        <p:blipFill>
          <a:blip r:embed="rId2"/>
          <a:stretch/>
        </p:blipFill>
        <p:spPr>
          <a:xfrm>
            <a:off x="6324840" y="1440000"/>
            <a:ext cx="5554080" cy="23277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45" name="PlaceHolder 2"/>
          <p:cNvSpPr>
            <a:spLocks noGrp="1"/>
          </p:cNvSpPr>
          <p:nvPr>
            <p:ph/>
          </p:nvPr>
        </p:nvSpPr>
        <p:spPr>
          <a:xfrm>
            <a:off x="3898080" y="1440000"/>
            <a:ext cx="7980840" cy="413892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Ventajas</a:t>
            </a: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Robusto frente al sobreajuste (aunque no inmune).</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Puede manejar grandes volúmenes de datos y muchas variables de entrada.</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Funciona bien incluso con valores faltantes y datos ruidosos.</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Proporciona medidas de importancia de características (feature importance).</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Escalable y fácil de paralelizar.</a:t>
            </a:r>
            <a:endParaRPr b="0" lang="en-US" sz="2000" spc="-1" strike="noStrike">
              <a:latin typeface="Arial"/>
            </a:endParaRPr>
          </a:p>
        </p:txBody>
      </p:sp>
      <p:pic>
        <p:nvPicPr>
          <p:cNvPr id="246" name="" descr=""/>
          <p:cNvPicPr/>
          <p:nvPr/>
        </p:nvPicPr>
        <p:blipFill>
          <a:blip r:embed="rId1"/>
          <a:stretch/>
        </p:blipFill>
        <p:spPr>
          <a:xfrm>
            <a:off x="1080000" y="2700000"/>
            <a:ext cx="1798920" cy="1798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Random Forest</a:t>
            </a:r>
            <a:endParaRPr b="0" lang="en-US" sz="2400" spc="-1" strike="noStrike">
              <a:latin typeface="Arial"/>
            </a:endParaRPr>
          </a:p>
        </p:txBody>
      </p:sp>
      <p:sp>
        <p:nvSpPr>
          <p:cNvPr id="248" name="PlaceHolder 2"/>
          <p:cNvSpPr>
            <a:spLocks noGrp="1"/>
          </p:cNvSpPr>
          <p:nvPr>
            <p:ph/>
          </p:nvPr>
        </p:nvSpPr>
        <p:spPr>
          <a:xfrm>
            <a:off x="3898080" y="1593720"/>
            <a:ext cx="7800840" cy="362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Desventajas</a:t>
            </a:r>
            <a:endParaRPr b="0" lang="en-US" sz="2400" spc="-1" strike="noStrike">
              <a:latin typeface="Arial"/>
            </a:endParaRPr>
          </a:p>
          <a:p>
            <a:pPr>
              <a:lnSpc>
                <a:spcPct val="100000"/>
              </a:lnSpc>
              <a:buNone/>
            </a:pP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Menos interpretable que un único árbol.</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Requiere más recursos computacionales en entrenamiento y predicción.</a:t>
            </a:r>
            <a:endParaRPr b="0" lang="en-US" sz="2000" spc="-1" strike="noStrike">
              <a:latin typeface="Arial"/>
            </a:endParaRPr>
          </a:p>
          <a:p>
            <a:pPr marL="450360" indent="-179640">
              <a:lnSpc>
                <a:spcPct val="100000"/>
              </a:lnSpc>
              <a:spcBef>
                <a:spcPts val="1417"/>
              </a:spcBef>
              <a:buClr>
                <a:srgbClr val="000000"/>
              </a:buClr>
              <a:buSzPct val="45000"/>
              <a:buFont typeface="Wingdings" charset="2"/>
              <a:buChar char=""/>
              <a:tabLst>
                <a:tab algn="l" pos="450360"/>
              </a:tabLst>
            </a:pPr>
            <a:r>
              <a:rPr b="0" lang="es-ES" sz="2000" spc="-1" strike="noStrike">
                <a:latin typeface="Calibri"/>
              </a:rPr>
              <a:t>Puede perder rendimiento si las clases están muy desbalanceadas </a:t>
            </a:r>
            <a:endParaRPr b="0" lang="en-US" sz="2000" spc="-1" strike="noStrike">
              <a:latin typeface="Arial"/>
            </a:endParaRPr>
          </a:p>
        </p:txBody>
      </p:sp>
      <p:pic>
        <p:nvPicPr>
          <p:cNvPr id="249" name="" descr=""/>
          <p:cNvPicPr/>
          <p:nvPr/>
        </p:nvPicPr>
        <p:blipFill>
          <a:blip r:embed="rId1"/>
          <a:stretch/>
        </p:blipFill>
        <p:spPr>
          <a:xfrm>
            <a:off x="1080360" y="2340000"/>
            <a:ext cx="1798560" cy="1758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sp>
        <p:nvSpPr>
          <p:cNvPr id="251" name="PlaceHolder 2"/>
          <p:cNvSpPr>
            <a:spLocks noGrp="1"/>
          </p:cNvSpPr>
          <p:nvPr>
            <p:ph/>
          </p:nvPr>
        </p:nvSpPr>
        <p:spPr>
          <a:xfrm>
            <a:off x="838080" y="1124640"/>
            <a:ext cx="10509480" cy="67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000" spc="-1" strike="noStrike">
                <a:latin typeface="Calibri"/>
              </a:rPr>
              <a:t>XGBoost:</a:t>
            </a:r>
            <a:r>
              <a:rPr b="0" lang="es-ES" sz="2000" spc="-1" strike="noStrike">
                <a:latin typeface="Calibri"/>
              </a:rPr>
              <a:t> Es una implementación optimizada y eficiente del algoritmo de Boosting</a:t>
            </a:r>
            <a:endParaRPr b="0" lang="en-US" sz="2000" spc="-1" strike="noStrike">
              <a:latin typeface="Arial"/>
            </a:endParaRPr>
          </a:p>
        </p:txBody>
      </p:sp>
      <p:pic>
        <p:nvPicPr>
          <p:cNvPr id="252" name="" descr=""/>
          <p:cNvPicPr/>
          <p:nvPr/>
        </p:nvPicPr>
        <p:blipFill>
          <a:blip r:embed="rId1"/>
          <a:stretch/>
        </p:blipFill>
        <p:spPr>
          <a:xfrm>
            <a:off x="2340000" y="1800000"/>
            <a:ext cx="7739640" cy="435348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sp>
        <p:nvSpPr>
          <p:cNvPr id="254" name="PlaceHolder 2"/>
          <p:cNvSpPr>
            <a:spLocks noGrp="1"/>
          </p:cNvSpPr>
          <p:nvPr>
            <p:ph/>
          </p:nvPr>
        </p:nvSpPr>
        <p:spPr>
          <a:xfrm>
            <a:off x="838080" y="1124640"/>
            <a:ext cx="10509480" cy="481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Características</a:t>
            </a:r>
            <a:r>
              <a:rPr b="1" lang="es-ES" sz="2400" spc="-1" strike="noStrike">
                <a:latin typeface="Calibri"/>
              </a:rPr>
              <a:t>	</a:t>
            </a: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1" lang="es-ES" sz="2400" spc="-1" strike="noStrike">
                <a:latin typeface="Calibri"/>
              </a:rPr>
              <a:t>Regularización (L1 y L2):</a:t>
            </a:r>
            <a:r>
              <a:rPr b="0" lang="es-ES" sz="2000" spc="-1" strike="noStrike">
                <a:latin typeface="Calibri"/>
              </a:rPr>
              <a:t> XGBoost añade automáticamente penalizaciones L1 (Lasso) y L2 (Ridge) a la función de coste durante el entrenamiento. La regularización de garantiza que el modelo generalice mejor a datos del mundo real (reducir overfitting)</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La principal diferencia entre la regularización L1 (Lasso) y L2 (Ridge) radica en la fórmula matemática que utilizan para penalizar los coeficientes del modelo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L1 (Lasso Regression):</a:t>
            </a:r>
            <a:r>
              <a:rPr b="0" lang="es-ES" sz="2000" spc="-1" strike="noStrike">
                <a:latin typeface="Calibri"/>
              </a:rPr>
              <a:t> Añade la suma de los valores absolutos de todos los coeficientes del modelo como término de penalización. Tiende a reducir algunos coeficientes exactamente a cero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L2 (Ridge Regression):</a:t>
            </a:r>
            <a:r>
              <a:rPr b="0" lang="es-ES" sz="2000" spc="-1" strike="noStrike">
                <a:latin typeface="Calibri"/>
              </a:rPr>
              <a:t> Añade la suma de los cuadrados de todos los coeficientes del modelo como término de penalización. Tiende a reducir todos los coeficientes a valores pequeños pero distintos de cero</a:t>
            </a: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sp>
        <p:nvSpPr>
          <p:cNvPr id="256" name="PlaceHolder 2"/>
          <p:cNvSpPr>
            <a:spLocks noGrp="1"/>
          </p:cNvSpPr>
          <p:nvPr>
            <p:ph/>
          </p:nvPr>
        </p:nvSpPr>
        <p:spPr>
          <a:xfrm>
            <a:off x="838080" y="1124640"/>
            <a:ext cx="10509480" cy="373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Características</a:t>
            </a:r>
            <a:r>
              <a:rPr b="1" lang="es-ES" sz="2400" spc="-1" strike="noStrike">
                <a:latin typeface="Calibri"/>
              </a:rPr>
              <a:t>	</a:t>
            </a:r>
            <a:endParaRPr b="0" lang="en-US" sz="2400" spc="-1" strike="noStrike">
              <a:latin typeface="Arial"/>
            </a:endParaRPr>
          </a:p>
          <a:p>
            <a:pPr>
              <a:lnSpc>
                <a:spcPct val="100000"/>
              </a:lnSpc>
              <a:buNone/>
            </a:pPr>
            <a:endParaRPr b="0" lang="en-US" sz="2400" spc="-1" strike="noStrike">
              <a:latin typeface="Arial"/>
            </a:endParaRPr>
          </a:p>
          <a:p>
            <a:pPr>
              <a:lnSpc>
                <a:spcPct val="100000"/>
              </a:lnSpc>
              <a:buNone/>
            </a:pPr>
            <a:endParaRPr b="0" lang="en-US" sz="2400" spc="-1" strike="noStrike">
              <a:latin typeface="Arial"/>
            </a:endParaRPr>
          </a:p>
          <a:p>
            <a:pPr marL="432000" indent="-324000">
              <a:lnSpc>
                <a:spcPct val="100000"/>
              </a:lnSpc>
              <a:buClr>
                <a:srgbClr val="000000"/>
              </a:buClr>
              <a:buFont typeface="Wingdings" charset="2"/>
              <a:buChar char=""/>
            </a:pPr>
            <a:r>
              <a:rPr b="1" lang="es-ES" sz="2400" spc="-1" strike="noStrike">
                <a:latin typeface="Calibri"/>
              </a:rPr>
              <a:t>Uso Eficiente de Memoria y CPU y Paralelización:</a:t>
            </a:r>
            <a:r>
              <a:rPr b="0" lang="es-ES" sz="2000" spc="-1" strike="noStrike">
                <a:latin typeface="Calibri"/>
              </a:rPr>
              <a:t> Permite entrenar modelos mucho más rápido y con menos recursos de hardware que otras librerías de la competencia</a:t>
            </a:r>
            <a:endParaRPr b="0" lang="en-US" sz="2000" spc="-1" strike="noStrike">
              <a:latin typeface="Arial"/>
            </a:endParaRPr>
          </a:p>
          <a:p>
            <a:pPr>
              <a:lnSpc>
                <a:spcPct val="100000"/>
              </a:lnSpc>
              <a:buNone/>
            </a:pPr>
            <a:endParaRPr b="0" lang="en-US" sz="2000" spc="-1" strike="noStrike">
              <a:latin typeface="Arial"/>
            </a:endParaRPr>
          </a:p>
          <a:p>
            <a:pPr>
              <a:lnSpc>
                <a:spcPct val="100000"/>
              </a:lnSpc>
              <a:buNone/>
            </a:pPr>
            <a:endParaRPr b="0" lang="en-US" sz="2000" spc="-1" strike="noStrike">
              <a:latin typeface="Arial"/>
            </a:endParaRPr>
          </a:p>
          <a:p>
            <a:pPr marL="432000" indent="-324000">
              <a:lnSpc>
                <a:spcPct val="100000"/>
              </a:lnSpc>
              <a:buClr>
                <a:srgbClr val="000000"/>
              </a:buClr>
              <a:buFont typeface="Wingdings" charset="2"/>
              <a:buChar char=""/>
            </a:pPr>
            <a:r>
              <a:rPr b="1" lang="es-ES" sz="2400" spc="-1" strike="noStrike">
                <a:latin typeface="Calibri"/>
              </a:rPr>
              <a:t>Soporte para Valores Faltantes:</a:t>
            </a:r>
            <a:r>
              <a:rPr b="0" lang="es-ES" sz="2000" spc="-1" strike="noStrike">
                <a:latin typeface="Calibri"/>
              </a:rPr>
              <a:t> XGBoost puede manejar automáticamente los datos incompletos (valores nulos o NaN).</a:t>
            </a:r>
            <a:endParaRPr b="0" lang="en-US" sz="2000" spc="-1" strike="noStrike">
              <a:latin typeface="Arial"/>
            </a:endParaRPr>
          </a:p>
          <a:p>
            <a:pPr>
              <a:lnSpc>
                <a:spcPct val="100000"/>
              </a:lnSpc>
              <a:spcBef>
                <a:spcPts val="1417"/>
              </a:spcBef>
              <a:buNone/>
            </a:pPr>
            <a:endParaRPr b="0" lang="en-US" sz="20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sp>
        <p:nvSpPr>
          <p:cNvPr id="258" name="PlaceHolder 2"/>
          <p:cNvSpPr>
            <a:spLocks noGrp="1"/>
          </p:cNvSpPr>
          <p:nvPr>
            <p:ph/>
          </p:nvPr>
        </p:nvSpPr>
        <p:spPr>
          <a:xfrm>
            <a:off x="838080" y="1124640"/>
            <a:ext cx="10509480" cy="481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Algoritmo</a:t>
            </a:r>
            <a:endParaRPr b="0" lang="en-US" sz="24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 </a:t>
            </a:r>
            <a:r>
              <a:rPr b="1" lang="es-ES" sz="2000" spc="-1" strike="noStrike">
                <a:latin typeface="Calibri"/>
              </a:rPr>
              <a:t>Entrenamiento del primer modelo:</a:t>
            </a:r>
            <a:r>
              <a:rPr b="0" lang="es-ES" sz="2000" spc="-1" strike="noStrike">
                <a:latin typeface="Calibri"/>
              </a:rPr>
              <a:t> Se entrena el Modelo 1 con el conjunto de datos de entrenamiento original. Este modelo hace su primera predicción. </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ea typeface="DejaVu Sans"/>
              </a:rPr>
              <a:t>Corrección de errores:</a:t>
            </a:r>
            <a:r>
              <a:rPr b="0" lang="es-ES" sz="2000" spc="-1" strike="noStrike">
                <a:latin typeface="Calibri"/>
                <a:ea typeface="DejaVu Sans"/>
              </a:rPr>
              <a:t> El siguiente modelo, el Modelo 2, se entrena prestando especial atención a los errores que cometió el Modelo 1. Esto significa que se da más "peso" a los datos que el modelo anterior clasificó incorrectamente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ea typeface="DejaVu Sans"/>
              </a:rPr>
              <a:t>Proceso iterativo:</a:t>
            </a:r>
            <a:r>
              <a:rPr b="0" lang="es-ES" sz="2000" spc="-1" strike="noStrike">
                <a:latin typeface="Calibri"/>
                <a:ea typeface="DejaVu Sans"/>
              </a:rPr>
              <a:t> Este proceso se repite para el Modelo 3 y los modelos subsiguientes. Cada nuevo modelo se enfoca en corregir los errores de sus predecesores, mejorando iterativamente la precisión.</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ea typeface="DejaVu Sans"/>
              </a:rPr>
              <a:t>Predicción final:</a:t>
            </a:r>
            <a:r>
              <a:rPr b="0" lang="es-ES" sz="2000" spc="-1" strike="noStrike">
                <a:latin typeface="Calibri"/>
                <a:ea typeface="DejaVu Sans"/>
              </a:rPr>
              <a:t> Al final, las predicciones de todos los modelos se combinan para formar una predicción general ponderada. Los modelos que han tenido un mejor rendimiento pueden tener más influencia en el resultado final.</a:t>
            </a:r>
            <a:endParaRPr b="0" lang="en-US" sz="2000" spc="-1" strike="noStrike">
              <a:latin typeface="Arial"/>
            </a:endParaRPr>
          </a:p>
          <a:p>
            <a:pPr marL="900360" indent="-179640">
              <a:lnSpc>
                <a:spcPct val="115000"/>
              </a:lnSpc>
              <a:spcAft>
                <a:spcPts val="1236"/>
              </a:spcAft>
              <a:buNone/>
              <a:tabLst>
                <a:tab algn="l" pos="0"/>
              </a:tabLst>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pic>
        <p:nvPicPr>
          <p:cNvPr id="260" name="" descr=""/>
          <p:cNvPicPr/>
          <p:nvPr/>
        </p:nvPicPr>
        <p:blipFill>
          <a:blip r:embed="rId1"/>
          <a:stretch/>
        </p:blipFill>
        <p:spPr>
          <a:xfrm>
            <a:off x="3714480" y="834480"/>
            <a:ext cx="4925520" cy="49255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 Hiperparámetros</a:t>
            </a:r>
            <a:endParaRPr b="0" lang="en-US" sz="2400" spc="-1" strike="noStrike">
              <a:latin typeface="Arial"/>
            </a:endParaRPr>
          </a:p>
        </p:txBody>
      </p:sp>
      <p:sp>
        <p:nvSpPr>
          <p:cNvPr id="262" name="PlaceHolder 2"/>
          <p:cNvSpPr>
            <a:spLocks noGrp="1"/>
          </p:cNvSpPr>
          <p:nvPr>
            <p:ph/>
          </p:nvPr>
        </p:nvSpPr>
        <p:spPr>
          <a:xfrm>
            <a:off x="838080" y="1124640"/>
            <a:ext cx="10509480" cy="229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Objetive:</a:t>
            </a:r>
            <a:r>
              <a:rPr b="0" lang="es-ES" sz="2000" spc="-1" strike="noStrike">
                <a:latin typeface="Calibri"/>
              </a:rPr>
              <a:t> Define la métrica matemática que se está optimizando</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reg:squarederror: </a:t>
            </a:r>
            <a:r>
              <a:rPr b="0" lang="es-ES" sz="2000" spc="-1" strike="noStrike">
                <a:latin typeface="Calibri"/>
              </a:rPr>
              <a:t>Para problemas de regresión (minimiza el error cuadrático medio).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binary:logistic:</a:t>
            </a:r>
            <a:r>
              <a:rPr b="0" lang="es-ES" sz="2000" spc="-1" strike="noStrike">
                <a:latin typeface="Calibri"/>
              </a:rPr>
              <a:t> Para clasificación binaria (produce probabilidades).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multi:softprob</a:t>
            </a:r>
            <a:r>
              <a:rPr b="0" lang="es-ES" sz="2000" spc="-1" strike="noStrike">
                <a:latin typeface="Calibri"/>
              </a:rPr>
              <a:t>: Para clasificación multiclase (produce probabilidades para cada clase).</a:t>
            </a:r>
            <a:endParaRPr b="0" lang="en-US" sz="2000" spc="-1" strike="noStrike">
              <a:latin typeface="Arial"/>
            </a:endParaRPr>
          </a:p>
          <a:p>
            <a:pPr>
              <a:lnSpc>
                <a:spcPct val="100000"/>
              </a:lnSpc>
              <a:spcBef>
                <a:spcPts val="1417"/>
              </a:spcBef>
              <a:buNone/>
            </a:pPr>
            <a:endParaRPr b="0" lang="en-US" sz="2000" spc="-1" strike="noStrike">
              <a:latin typeface="Arial"/>
            </a:endParaRPr>
          </a:p>
        </p:txBody>
      </p:sp>
      <p:sp>
        <p:nvSpPr>
          <p:cNvPr id="263" name="PlaceHolder 38"/>
          <p:cNvSpPr/>
          <p:nvPr/>
        </p:nvSpPr>
        <p:spPr>
          <a:xfrm>
            <a:off x="830160" y="3600000"/>
            <a:ext cx="10509480" cy="229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Subsample:</a:t>
            </a:r>
            <a:r>
              <a:rPr b="0" lang="es-ES" sz="2000" spc="-1" strike="noStrike">
                <a:latin typeface="Calibri"/>
              </a:rPr>
              <a:t> controla la fracción de filas (muestras de datos) que XGBoost utiliza para entrenar cada nuevo árbol de decisión individual.</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Se especifica como un valor decimal entre 0.0 y 1.0</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prevención del sobreajuste (overfitting)</a:t>
            </a:r>
            <a:endParaRPr b="0" lang="en-US" sz="2000" spc="-1" strike="noStrike">
              <a:latin typeface="Arial"/>
            </a:endParaRPr>
          </a:p>
          <a:p>
            <a:pPr>
              <a:lnSpc>
                <a:spcPct val="100000"/>
              </a:lnSpc>
              <a:spcBef>
                <a:spcPts val="1134"/>
              </a:spcBef>
              <a:buNone/>
            </a:pPr>
            <a:endParaRPr b="0" lang="en-US" sz="2000" spc="-1" strike="noStrike">
              <a:latin typeface="Arial"/>
            </a:endParaRPr>
          </a:p>
          <a:p>
            <a:pPr>
              <a:lnSpc>
                <a:spcPct val="100000"/>
              </a:lnSpc>
              <a:spcBef>
                <a:spcPts val="1134"/>
              </a:spcBef>
              <a:buNone/>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 Hiperparámetros</a:t>
            </a:r>
            <a:endParaRPr b="0" lang="en-US" sz="2400" spc="-1" strike="noStrike">
              <a:latin typeface="Arial"/>
            </a:endParaRPr>
          </a:p>
        </p:txBody>
      </p:sp>
      <p:sp>
        <p:nvSpPr>
          <p:cNvPr id="265" name="PlaceHolder 13"/>
          <p:cNvSpPr/>
          <p:nvPr/>
        </p:nvSpPr>
        <p:spPr>
          <a:xfrm>
            <a:off x="838080" y="1124640"/>
            <a:ext cx="10509480" cy="445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Learning Rate:</a:t>
            </a:r>
            <a:r>
              <a:rPr b="0" lang="es-ES" sz="2000" spc="-1" strike="noStrike">
                <a:latin typeface="Calibri"/>
              </a:rPr>
              <a:t> Balancea la velocidad de entrenamiento con la precisión y la estabilidad del modelo final</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es el hiperparámetro más crítico para la convergencia del modelo y la calidad del ajuste final.</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Valor alto (ej. 0.3 o superior): El modelo aprende rápido, converge en menos iteraciones , pero puede "pasarse" del mínimo óptimo de la función de pérdida, lo que lleva a un rendimiento subóptimo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Valor bajo (ej. 0.01 o 0.05): El modelo aprende lentamente y requiere muchos más árboles para converger. Sin embargo, un proceso de aprendizaje más lento y deliberado permite al modelo encontrar un mínimo global más preciso y robusto, mejorando la generalización. Penaliza el tiempo de computación</a:t>
            </a:r>
            <a:endParaRPr b="0" lang="en-US" sz="2000" spc="-1" strike="noStrike">
              <a:latin typeface="Arial"/>
            </a:endParaRPr>
          </a:p>
          <a:p>
            <a:pPr>
              <a:lnSpc>
                <a:spcPct val="100000"/>
              </a:lnSpc>
              <a:spcBef>
                <a:spcPts val="1134"/>
              </a:spcBef>
              <a:buNone/>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 Hiperparámetros</a:t>
            </a:r>
            <a:endParaRPr b="0" lang="en-US" sz="2400" spc="-1" strike="noStrike">
              <a:latin typeface="Arial"/>
            </a:endParaRPr>
          </a:p>
        </p:txBody>
      </p:sp>
      <p:sp>
        <p:nvSpPr>
          <p:cNvPr id="267" name="PlaceHolder 15"/>
          <p:cNvSpPr/>
          <p:nvPr/>
        </p:nvSpPr>
        <p:spPr>
          <a:xfrm>
            <a:off x="838080" y="1124640"/>
            <a:ext cx="10509480" cy="445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n_estimators:</a:t>
            </a:r>
            <a:r>
              <a:rPr b="0" lang="es-ES" sz="2000" spc="-1" strike="noStrike">
                <a:latin typeface="Calibri"/>
              </a:rPr>
              <a:t> es el número total de árboles de decisión individuales que se construyen de manera secuencial (uno detrás del otro) en el algoritmo de boosting.</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Determina directamente el tamaño total del modelo y la duración del proceso de entrenamiento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Debe estar perfectamente equilibrado con la tasa de aprendizaje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Si learning_rate es alto: El modelo aprende muy rápidamente. Necesitará un n_estimators bajo (quizás 50 o 100) para llegar a la solución óptima.</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Si learning_rate es bajo: El modelo aprende lentamente (pasos pequeños). Necesitará un n_estimators alto (quizás 500, 1000 o más) para acumular suficiente "conocimiento" y converger.</a:t>
            </a:r>
            <a:endParaRPr b="0" lang="en-US" sz="2000" spc="-1" strike="noStrike">
              <a:latin typeface="Arial"/>
            </a:endParaRPr>
          </a:p>
          <a:p>
            <a:pPr>
              <a:lnSpc>
                <a:spcPct val="100000"/>
              </a:lnSpc>
              <a:spcBef>
                <a:spcPts val="1134"/>
              </a:spcBef>
              <a:buNone/>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XGBoost</a:t>
            </a:r>
            <a:endParaRPr b="0" lang="en-US" sz="2400" spc="-1" strike="noStrike">
              <a:latin typeface="Arial"/>
            </a:endParaRPr>
          </a:p>
        </p:txBody>
      </p:sp>
      <p:pic>
        <p:nvPicPr>
          <p:cNvPr id="269" name="" descr=""/>
          <p:cNvPicPr/>
          <p:nvPr/>
        </p:nvPicPr>
        <p:blipFill>
          <a:blip r:embed="rId1"/>
          <a:stretch/>
        </p:blipFill>
        <p:spPr>
          <a:xfrm>
            <a:off x="2160000" y="956160"/>
            <a:ext cx="9179640" cy="51037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LightGBM</a:t>
            </a:r>
            <a:endParaRPr b="0" lang="en-US" sz="2400" spc="-1" strike="noStrike">
              <a:latin typeface="Arial"/>
            </a:endParaRPr>
          </a:p>
        </p:txBody>
      </p:sp>
      <p:sp>
        <p:nvSpPr>
          <p:cNvPr id="271"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LightGBM (Light Gradient Bossting Machine):</a:t>
            </a:r>
            <a:r>
              <a:rPr b="0" lang="es-ES" sz="2000" spc="-1" strike="noStrike">
                <a:latin typeface="Calibri"/>
              </a:rPr>
              <a:t>  Desarrollado por Microsoft, diseñado para ser rápido y eficiente en datasets grandes y de alta dimensionalidad.</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En lugar de dar más peso a los datos que el modelo anterior clasificó incorrectamente, los modelos subsiguientes se entrenan sobre los residuos del modelo anterior. Los residuos son la diferencia entre el valor real y la predicción del modelo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LightGBM crece el árbol seleccionando la hoja que proporcionará la mayor reducción de pérdida (ganancia) en ese momento (</a:t>
            </a:r>
            <a:r>
              <a:rPr b="1" lang="es-ES" sz="2000" spc="-1" strike="noStrike">
                <a:latin typeface="Calibri"/>
              </a:rPr>
              <a:t>Leaf-Wise</a:t>
            </a:r>
            <a:r>
              <a:rPr b="0" lang="es-ES" sz="2000" spc="-1" strike="noStrike">
                <a:latin typeface="Calibri"/>
              </a:rPr>
              <a: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LightGBM se centra en las instancias que tienen errores más grandes. Ignora las instancias con errores pequeños (bien ajustados) para acelerar el entrenamiento (</a:t>
            </a:r>
            <a:r>
              <a:rPr b="1" lang="es-ES" sz="2000" spc="-1" strike="noStrike">
                <a:latin typeface="Calibri"/>
              </a:rPr>
              <a:t>GOSS</a:t>
            </a:r>
            <a:r>
              <a:rPr b="0" lang="es-ES" sz="2000" spc="-1" strike="noStrike">
                <a:latin typeface="Calibri"/>
              </a:rPr>
              <a: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LightGBM tiene soporte nativo e integrado para valores faltantes </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LightGBM está diseñado para datasets gigantes</a:t>
            </a:r>
            <a:endParaRPr b="0" lang="en-US" sz="2000" spc="-1" strike="noStrike">
              <a:latin typeface="Arial"/>
            </a:endParaRPr>
          </a:p>
          <a:p>
            <a:pPr>
              <a:lnSpc>
                <a:spcPct val="115000"/>
              </a:lnSpc>
              <a:spcAft>
                <a:spcPts val="1236"/>
              </a:spcAft>
              <a:buNone/>
            </a:pPr>
            <a:endParaRPr b="0" lang="en-US" sz="1800" spc="-1" strike="noStrike">
              <a:latin typeface="Arial"/>
            </a:endParaRPr>
          </a:p>
          <a:p>
            <a:pPr>
              <a:lnSpc>
                <a:spcPct val="115000"/>
              </a:lnSpc>
              <a:spcAft>
                <a:spcPts val="1236"/>
              </a:spcAft>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LightGBM Hiperparámetros</a:t>
            </a:r>
            <a:endParaRPr b="0" lang="en-US" sz="2400" spc="-1" strike="noStrike">
              <a:latin typeface="Arial"/>
            </a:endParaRPr>
          </a:p>
        </p:txBody>
      </p:sp>
      <p:sp>
        <p:nvSpPr>
          <p:cNvPr id="273" name="PlaceHolder 21"/>
          <p:cNvSpPr/>
          <p:nvPr/>
        </p:nvSpPr>
        <p:spPr>
          <a:xfrm>
            <a:off x="838080" y="1124640"/>
            <a:ext cx="10509480" cy="229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Objetive:</a:t>
            </a:r>
            <a:r>
              <a:rPr b="0" lang="es-ES" sz="2000" spc="-1" strike="noStrike">
                <a:latin typeface="Calibri"/>
              </a:rPr>
              <a:t> Define la métrica matemática que se está optimizando</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regresion: </a:t>
            </a:r>
            <a:r>
              <a:rPr b="0" lang="es-ES" sz="2000" spc="-1" strike="noStrike">
                <a:latin typeface="Calibri"/>
              </a:rPr>
              <a:t>Para problemas de regresión (minimiza el error cuadrático medio)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binary:</a:t>
            </a:r>
            <a:r>
              <a:rPr b="0" lang="es-ES" sz="2000" spc="-1" strike="noStrike">
                <a:latin typeface="Calibri"/>
              </a:rPr>
              <a:t> Para clasificación binaria (produce probabilidades)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multclass</a:t>
            </a:r>
            <a:r>
              <a:rPr b="0" lang="es-ES" sz="2000" spc="-1" strike="noStrike">
                <a:latin typeface="Calibri"/>
              </a:rPr>
              <a:t>: Para clasificación multiclase (produce probabilidades para cada clase)</a:t>
            </a:r>
            <a:endParaRPr b="0" lang="en-US" sz="2000" spc="-1" strike="noStrike">
              <a:latin typeface="Arial"/>
            </a:endParaRPr>
          </a:p>
          <a:p>
            <a:pPr>
              <a:lnSpc>
                <a:spcPct val="100000"/>
              </a:lnSpc>
              <a:spcBef>
                <a:spcPts val="1134"/>
              </a:spcBef>
              <a:buNone/>
            </a:pPr>
            <a:endParaRPr b="0" lang="en-US" sz="2000" spc="-1" strike="noStrike">
              <a:latin typeface="Arial"/>
            </a:endParaRPr>
          </a:p>
        </p:txBody>
      </p:sp>
      <p:sp>
        <p:nvSpPr>
          <p:cNvPr id="274" name="PlaceHolder 39"/>
          <p:cNvSpPr/>
          <p:nvPr/>
        </p:nvSpPr>
        <p:spPr>
          <a:xfrm>
            <a:off x="830160" y="3464640"/>
            <a:ext cx="10509480" cy="229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Boosting_type:</a:t>
            </a:r>
            <a:r>
              <a:rPr b="0" lang="es-ES" sz="2000" spc="-1" strike="noStrike">
                <a:latin typeface="Calibri"/>
              </a:rPr>
              <a:t> Permite elegir la estrategia de muestreo de datos que define cómo se calcula el siguiente error a corregir</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gbdt:  </a:t>
            </a:r>
            <a:r>
              <a:rPr b="0" lang="es-ES" sz="2000" spc="-1" strike="noStrike">
                <a:latin typeface="Calibri"/>
              </a:rPr>
              <a:t>El método estándar usado también por XGBoost.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1" lang="es-ES" sz="2000" spc="-1" strike="noStrike">
                <a:latin typeface="Calibri"/>
              </a:rPr>
              <a:t>goss:</a:t>
            </a:r>
            <a:r>
              <a:rPr b="0" lang="es-ES" sz="2000" spc="-1" strike="noStrike">
                <a:latin typeface="Calibri"/>
              </a:rPr>
              <a:t> Es mucho más rápido ya que ignora la mayoría de los puntos de datos con errores pequeños para centrarse en los errores grandes</a:t>
            </a:r>
            <a:endParaRPr b="0" lang="en-US" sz="2000" spc="-1" strike="noStrike">
              <a:latin typeface="Arial"/>
            </a:endParaRPr>
          </a:p>
          <a:p>
            <a:pPr>
              <a:lnSpc>
                <a:spcPct val="100000"/>
              </a:lnSpc>
              <a:spcBef>
                <a:spcPts val="1134"/>
              </a:spcBef>
              <a:buNone/>
            </a:pPr>
            <a:endParaRPr b="0" lang="en-US" sz="2000" spc="-1" strike="noStrike">
              <a:latin typeface="Arial"/>
            </a:endParaRPr>
          </a:p>
          <a:p>
            <a:pPr>
              <a:lnSpc>
                <a:spcPct val="100000"/>
              </a:lnSpc>
              <a:spcBef>
                <a:spcPts val="1134"/>
              </a:spcBef>
              <a:buNone/>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LightGBM Hiperparámetros</a:t>
            </a:r>
            <a:endParaRPr b="0" lang="en-US" sz="2400" spc="-1" strike="noStrike">
              <a:latin typeface="Arial"/>
            </a:endParaRPr>
          </a:p>
        </p:txBody>
      </p:sp>
      <p:sp>
        <p:nvSpPr>
          <p:cNvPr id="276" name="PlaceHolder 23"/>
          <p:cNvSpPr/>
          <p:nvPr/>
        </p:nvSpPr>
        <p:spPr>
          <a:xfrm>
            <a:off x="838080" y="1124640"/>
            <a:ext cx="10509480" cy="301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Num_leaves:</a:t>
            </a:r>
            <a:r>
              <a:rPr b="0" lang="es-ES" sz="2000" spc="-1" strike="noStrike">
                <a:latin typeface="Calibri"/>
              </a:rPr>
              <a:t> Define el número máximo de nodos finales (hojas) en cada árbol individual.</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la complejidad del modelo se controla principalmente mediante num_leaves, no por la profundidad (max_depth)</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Un valor alto aumenta la complejidad del modelo y la posibilidad de sobreajuste.</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Un árbol puede ser muy profundo pero tener pocas hojas, gracias a su crecimiento asimétrico</a:t>
            </a:r>
            <a:endParaRPr b="0" lang="en-US" sz="2000" spc="-1" strike="noStrike">
              <a:latin typeface="Arial"/>
            </a:endParaRPr>
          </a:p>
          <a:p>
            <a:pPr>
              <a:lnSpc>
                <a:spcPct val="100000"/>
              </a:lnSpc>
              <a:spcBef>
                <a:spcPts val="1134"/>
              </a:spcBef>
              <a:buNone/>
            </a:pPr>
            <a:endParaRPr b="0" lang="en-US" sz="2000" spc="-1" strike="noStrike">
              <a:latin typeface="Arial"/>
            </a:endParaRPr>
          </a:p>
        </p:txBody>
      </p:sp>
      <p:pic>
        <p:nvPicPr>
          <p:cNvPr id="277" name="" descr=""/>
          <p:cNvPicPr/>
          <p:nvPr/>
        </p:nvPicPr>
        <p:blipFill>
          <a:blip r:embed="rId1"/>
          <a:stretch/>
        </p:blipFill>
        <p:spPr>
          <a:xfrm>
            <a:off x="3600360" y="4034880"/>
            <a:ext cx="5039640" cy="19051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LightGBM</a:t>
            </a:r>
            <a:endParaRPr b="0" lang="en-US" sz="2400" spc="-1" strike="noStrike">
              <a:latin typeface="Arial"/>
            </a:endParaRPr>
          </a:p>
        </p:txBody>
      </p:sp>
      <p:pic>
        <p:nvPicPr>
          <p:cNvPr id="279" name="" descr=""/>
          <p:cNvPicPr/>
          <p:nvPr/>
        </p:nvPicPr>
        <p:blipFill>
          <a:blip r:embed="rId1"/>
          <a:stretch/>
        </p:blipFill>
        <p:spPr>
          <a:xfrm>
            <a:off x="2183400" y="1260000"/>
            <a:ext cx="8796240" cy="490392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CatBoost</a:t>
            </a:r>
            <a:endParaRPr b="0" lang="en-US" sz="2400" spc="-1" strike="noStrike">
              <a:latin typeface="Arial"/>
            </a:endParaRPr>
          </a:p>
        </p:txBody>
      </p:sp>
      <p:sp>
        <p:nvSpPr>
          <p:cNvPr id="281"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CatBoost</a:t>
            </a:r>
            <a:r>
              <a:rPr b="0" lang="es-ES" sz="2000" spc="-1" strike="noStrike">
                <a:latin typeface="Calibri"/>
              </a:rPr>
              <a:t>: es un algoritmo de machine learning de código abierto desarrollado por Yandex que pertenece a la familia del gradient boosting</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capacidad para manejar variables categóricas de forma nativa y automática, sin requerir un preprocesamiento manual intensivo como el one-hot encoding o la codificación de etiquetas.</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CatBoost maneja las variables numericas de la misma manera que XGBoost o LightGBM. Las utiliza directamente en la construcción de los árboles de decisión, encontrando los mejores puntos de división para cada valor numérico.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CatBoost construye árboles de decisión equilibrados y simétricos.</a:t>
            </a:r>
            <a:endParaRPr b="0" lang="en-US" sz="2000" spc="-1" strike="noStrike">
              <a:latin typeface="Arial"/>
            </a:endParaRPr>
          </a:p>
          <a:p>
            <a:pPr>
              <a:lnSpc>
                <a:spcPct val="100000"/>
              </a:lnSpc>
              <a:spcBef>
                <a:spcPts val="1417"/>
              </a:spcBef>
              <a:buNone/>
            </a:pPr>
            <a:endParaRPr b="0" lang="en-US" sz="18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CatBoost</a:t>
            </a:r>
            <a:endParaRPr b="0" lang="en-US" sz="2400" spc="-1" strike="noStrike">
              <a:latin typeface="Arial"/>
            </a:endParaRPr>
          </a:p>
        </p:txBody>
      </p:sp>
      <p:sp>
        <p:nvSpPr>
          <p:cNvPr id="283" name="PlaceHolder 2"/>
          <p:cNvSpPr>
            <a:spLocks noGrp="1"/>
          </p:cNvSpPr>
          <p:nvPr>
            <p:ph/>
          </p:nvPr>
        </p:nvSpPr>
        <p:spPr>
          <a:xfrm>
            <a:off x="838080" y="1124640"/>
            <a:ext cx="10509480" cy="2655000"/>
          </a:xfrm>
          <a:prstGeom prst="rect">
            <a:avLst/>
          </a:prstGeom>
          <a:noFill/>
          <a:ln w="0">
            <a:noFill/>
          </a:ln>
        </p:spPr>
        <p:txBody>
          <a:bodyPr lIns="90000" rIns="90000" tIns="45000" bIns="45000" anchor="t">
            <a:noAutofit/>
          </a:bodyPr>
          <a:p>
            <a:pPr marL="432000" indent="-324000">
              <a:lnSpc>
                <a:spcPct val="100000"/>
              </a:lnSpc>
              <a:buClr>
                <a:srgbClr val="000000"/>
              </a:buClr>
              <a:buFont typeface="Wingdings" charset="2"/>
              <a:buChar char=""/>
            </a:pPr>
            <a:r>
              <a:rPr b="0" lang="en-US" sz="1800" spc="-1" strike="noStrike">
                <a:latin typeface="Arial"/>
              </a:rPr>
              <a:t> </a:t>
            </a:r>
            <a:r>
              <a:rPr b="1" lang="es-ES" sz="2400" spc="-1" strike="noStrike">
                <a:latin typeface="Calibri"/>
              </a:rPr>
              <a:t>Algoritmo</a:t>
            </a:r>
            <a:endParaRPr b="0" lang="en-US" sz="24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CatBoost mezcla (permuta) aleatoriamente los datos. Luego, procesa cada fila secuencialmente como si estuviera en una línea de tiempo</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CatBoost calcula la estadística utilizando solo las filas que están por encima de la fila actual en esa permutación específica</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CatBoost repite este proceso varias veces con diferentes órdenes aleatorios</a:t>
            </a: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CatBoost Hiperparámetros</a:t>
            </a:r>
            <a:endParaRPr b="0" lang="en-US" sz="2400" spc="-1" strike="noStrike">
              <a:latin typeface="Arial"/>
            </a:endParaRPr>
          </a:p>
        </p:txBody>
      </p:sp>
      <p:sp>
        <p:nvSpPr>
          <p:cNvPr id="285" name="PlaceHolder 29"/>
          <p:cNvSpPr/>
          <p:nvPr/>
        </p:nvSpPr>
        <p:spPr>
          <a:xfrm>
            <a:off x="838080" y="1124640"/>
            <a:ext cx="10509480" cy="193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0" lang="es-ES" sz="2000" spc="-1" strike="noStrike">
                <a:latin typeface="Calibri"/>
              </a:rPr>
              <a:t> </a:t>
            </a:r>
            <a:r>
              <a:rPr b="1" lang="es-ES" sz="2400" spc="-1" strike="noStrike">
                <a:latin typeface="Calibri"/>
              </a:rPr>
              <a:t>Boosting_type:</a:t>
            </a:r>
            <a:r>
              <a:rPr b="0" lang="es-ES" sz="2000" spc="-1" strike="noStrike">
                <a:latin typeface="Calibri"/>
              </a:rPr>
              <a:t> Controla la estrategia subyacente de cómo se aplican las correcciones de error</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Ordered (Ordenado): Es el método por defecto y el enfoque innovador de CatBoost</a:t>
            </a: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Plain (Simple): El enfoque de boosting estándar (como en XGBoost/LightGBM)</a:t>
            </a:r>
            <a:endParaRPr b="0" lang="en-US" sz="2000" spc="-1" strike="noStrike">
              <a:latin typeface="Arial"/>
            </a:endParaRPr>
          </a:p>
          <a:p>
            <a:pPr>
              <a:lnSpc>
                <a:spcPct val="100000"/>
              </a:lnSpc>
              <a:spcBef>
                <a:spcPts val="1134"/>
              </a:spcBef>
              <a:buNone/>
            </a:pPr>
            <a:endParaRPr b="0" lang="en-US" sz="2000" spc="-1" strike="noStrike">
              <a:latin typeface="Arial"/>
            </a:endParaRPr>
          </a:p>
          <a:p>
            <a:pPr>
              <a:lnSpc>
                <a:spcPct val="100000"/>
              </a:lnSpc>
              <a:spcBef>
                <a:spcPts val="1134"/>
              </a:spcBef>
              <a:buNone/>
            </a:pPr>
            <a:endParaRPr b="0" lang="en-US" sz="2000" spc="-1" strike="noStrike">
              <a:latin typeface="Arial"/>
            </a:endParaRPr>
          </a:p>
        </p:txBody>
      </p:sp>
      <p:sp>
        <p:nvSpPr>
          <p:cNvPr id="286" name="PlaceHolder 40"/>
          <p:cNvSpPr/>
          <p:nvPr/>
        </p:nvSpPr>
        <p:spPr>
          <a:xfrm>
            <a:off x="830160" y="3284640"/>
            <a:ext cx="10509480" cy="2115000"/>
          </a:xfrm>
          <a:prstGeom prst="rect">
            <a:avLst/>
          </a:prstGeom>
          <a:noFill/>
          <a:ln w="0">
            <a:noFill/>
          </a:ln>
        </p:spPr>
        <p:style>
          <a:lnRef idx="0"/>
          <a:fillRef idx="0"/>
          <a:effectRef idx="0"/>
          <a:fontRef idx="minor"/>
        </p:style>
        <p:txBody>
          <a:bodyPr lIns="90000" rIns="90000" tIns="45000" bIns="45000" anchor="t">
            <a:noAutofit/>
          </a:bodyPr>
          <a:p>
            <a:pPr marL="216000" indent="-324000">
              <a:lnSpc>
                <a:spcPct val="100000"/>
              </a:lnSpc>
              <a:buClr>
                <a:srgbClr val="000000"/>
              </a:buClr>
              <a:buFont typeface="Wingdings" charset="2"/>
              <a:buChar char=""/>
            </a:pPr>
            <a:r>
              <a:rPr b="1" lang="es-ES" sz="2400" spc="-1" strike="noStrike">
                <a:latin typeface="Calibri"/>
              </a:rPr>
              <a:t> </a:t>
            </a:r>
            <a:r>
              <a:rPr b="1" lang="es-ES" sz="2400" spc="-1" strike="noStrike">
                <a:latin typeface="Calibri"/>
              </a:rPr>
              <a:t>Cat_features:</a:t>
            </a:r>
            <a:r>
              <a:rPr b="0" lang="es-ES" sz="2000" spc="-1" strike="noStrike">
                <a:latin typeface="Calibri"/>
              </a:rPr>
              <a:t> Es una lista o array que pasas al modelo que le indica qué columnas de tu dataset son categóricas</a:t>
            </a:r>
            <a:endParaRPr b="0" lang="en-US" sz="2000" spc="-1" strike="noStrike">
              <a:latin typeface="Arial"/>
            </a:endParaRPr>
          </a:p>
          <a:p>
            <a:pPr>
              <a:lnSpc>
                <a:spcPct val="100000"/>
              </a:lnSpc>
              <a:buNone/>
            </a:pPr>
            <a:endParaRPr b="0" lang="en-US" sz="2000" spc="-1" strike="noStrike">
              <a:latin typeface="Arial"/>
            </a:endParaRPr>
          </a:p>
          <a:p>
            <a:pPr lvl="1" marL="864000" indent="-324000">
              <a:lnSpc>
                <a:spcPct val="100000"/>
              </a:lnSpc>
              <a:spcBef>
                <a:spcPts val="1134"/>
              </a:spcBef>
              <a:buClr>
                <a:srgbClr val="000000"/>
              </a:buClr>
              <a:buSzPct val="75000"/>
              <a:buFont typeface="Symbol"/>
              <a:buChar char=""/>
            </a:pPr>
            <a:r>
              <a:rPr b="0" lang="es-ES" sz="2000" spc="-1" strike="noStrike">
                <a:latin typeface="Calibri"/>
              </a:rPr>
              <a:t>Es obligatorio usarlo si tienes datos categóricos en bruto. Sin este parámetro, CatBoost tratará tus columnas de texto como si fueran números y el rendimiento será malo o dará error.</a:t>
            </a:r>
            <a:endParaRPr b="0" lang="en-US" sz="2000" spc="-1" strike="noStrike">
              <a:latin typeface="Arial"/>
            </a:endParaRPr>
          </a:p>
          <a:p>
            <a:pPr>
              <a:lnSpc>
                <a:spcPct val="100000"/>
              </a:lnSpc>
              <a:spcBef>
                <a:spcPts val="1134"/>
              </a:spcBef>
              <a:buNone/>
            </a:pPr>
            <a:endParaRPr b="0" lang="en-US" sz="2000" spc="-1" strike="noStrike">
              <a:latin typeface="Arial"/>
            </a:endParaRPr>
          </a:p>
          <a:p>
            <a:pPr>
              <a:lnSpc>
                <a:spcPct val="100000"/>
              </a:lnSpc>
              <a:spcBef>
                <a:spcPts val="1134"/>
              </a:spcBef>
              <a:buNone/>
            </a:pPr>
            <a:endParaRPr b="0" lang="en-US" sz="2000" spc="-1" strike="noStrike">
              <a:latin typeface="Arial"/>
            </a:endParaRPr>
          </a:p>
          <a:p>
            <a:pPr>
              <a:lnSpc>
                <a:spcPct val="100000"/>
              </a:lnSpc>
              <a:spcBef>
                <a:spcPts val="1134"/>
              </a:spcBef>
              <a:buNone/>
            </a:pPr>
            <a:endParaRPr b="0" lang="en-US" sz="20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nSpc>
                <a:spcPct val="90000"/>
              </a:lnSpc>
              <a:buNone/>
            </a:pPr>
            <a:r>
              <a:rPr b="1" lang="es-ES" sz="2400" spc="-1" strike="noStrike">
                <a:solidFill>
                  <a:srgbClr val="000000"/>
                </a:solidFill>
                <a:latin typeface="Calibri"/>
              </a:rPr>
              <a:t>CatBoost</a:t>
            </a:r>
            <a:endParaRPr b="0" lang="en-US" sz="2400" spc="-1" strike="noStrike">
              <a:latin typeface="Arial"/>
            </a:endParaRPr>
          </a:p>
        </p:txBody>
      </p:sp>
      <p:pic>
        <p:nvPicPr>
          <p:cNvPr id="288" name="" descr=""/>
          <p:cNvPicPr/>
          <p:nvPr/>
        </p:nvPicPr>
        <p:blipFill>
          <a:blip r:embed="rId1"/>
          <a:stretch/>
        </p:blipFill>
        <p:spPr>
          <a:xfrm>
            <a:off x="2876760" y="1080000"/>
            <a:ext cx="7562880" cy="48686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838080" y="365040"/>
            <a:ext cx="10509480" cy="537480"/>
          </a:xfrm>
          <a:prstGeom prst="rect">
            <a:avLst/>
          </a:prstGeom>
          <a:noFill/>
          <a:ln w="0">
            <a:noFill/>
          </a:ln>
        </p:spPr>
        <p:txBody>
          <a:bodyPr lIns="90000" rIns="90000" tIns="45000" bIns="45000" anchor="ctr">
            <a:noAutofit/>
          </a:bodyPr>
          <a:p>
            <a:pPr algn="ctr">
              <a:buNone/>
            </a:pPr>
            <a:endParaRPr b="0" lang="en-US" sz="4400" spc="-1" strike="noStrike">
              <a:latin typeface="Arial"/>
            </a:endParaRPr>
          </a:p>
        </p:txBody>
      </p:sp>
      <p:sp>
        <p:nvSpPr>
          <p:cNvPr id="290" name="PlaceHolder 2"/>
          <p:cNvSpPr>
            <a:spLocks noGrp="1"/>
          </p:cNvSpPr>
          <p:nvPr>
            <p:ph/>
          </p:nvPr>
        </p:nvSpPr>
        <p:spPr>
          <a:xfrm>
            <a:off x="838080" y="1124640"/>
            <a:ext cx="10509480" cy="4345200"/>
          </a:xfrm>
          <a:prstGeom prst="rect">
            <a:avLst/>
          </a:prstGeom>
          <a:noFill/>
          <a:ln w="0">
            <a:noFill/>
          </a:ln>
        </p:spPr>
        <p:txBody>
          <a:bodyPr lIns="90000" rIns="90000" tIns="45000" bIns="45000" anchor="t">
            <a:noAutofit/>
          </a:bodyPr>
          <a:p>
            <a:endParaRPr b="0" lang="en-US" sz="3200" spc="-1" strike="noStrike">
              <a:latin typeface="Arial"/>
            </a:endParaRPr>
          </a:p>
        </p:txBody>
      </p:sp>
    </p:spTree>
  </p:cSld>
  <mc:AlternateContent>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83796"/>
        </a:solidFill>
      </p:bgPr>
    </p:bg>
    <p:spTree>
      <p:nvGrpSpPr>
        <p:cNvPr id="1" name=""/>
        <p:cNvGrpSpPr/>
        <p:nvPr/>
      </p:nvGrpSpPr>
      <p:grpSpPr>
        <a:xfrm>
          <a:off x="0" y="0"/>
          <a:ext cx="0" cy="0"/>
          <a:chOff x="0" y="0"/>
          <a:chExt cx="0" cy="0"/>
        </a:xfrm>
      </p:grpSpPr>
      <p:sp>
        <p:nvSpPr>
          <p:cNvPr id="291" name="10 CuadroTexto"/>
          <p:cNvSpPr/>
          <p:nvPr/>
        </p:nvSpPr>
        <p:spPr>
          <a:xfrm>
            <a:off x="5150160" y="5508000"/>
            <a:ext cx="188964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s-ES" sz="2400" spc="-1" strike="noStrike">
                <a:solidFill>
                  <a:srgbClr val="ffffff"/>
                </a:solidFill>
                <a:latin typeface="Calibri"/>
                <a:ea typeface="DejaVu Sans"/>
              </a:rPr>
              <a:t>www.ceste.es</a:t>
            </a:r>
            <a:endParaRPr b="0" lang="en-US" sz="2400" spc="-1" strike="noStrike">
              <a:latin typeface="Arial"/>
            </a:endParaRPr>
          </a:p>
        </p:txBody>
      </p:sp>
      <p:pic>
        <p:nvPicPr>
          <p:cNvPr id="292" name="11 Imagen" descr=""/>
          <p:cNvPicPr/>
          <p:nvPr/>
        </p:nvPicPr>
        <p:blipFill>
          <a:blip r:embed="rId1"/>
          <a:stretch/>
        </p:blipFill>
        <p:spPr>
          <a:xfrm>
            <a:off x="4227480" y="2349000"/>
            <a:ext cx="3731760" cy="1819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61D317CF2309C4E8DA448EE42D88B65" ma:contentTypeVersion="16" ma:contentTypeDescription="Crear nuevo documento." ma:contentTypeScope="" ma:versionID="73b97258e99d47497b96ecb181da94f2">
  <xsd:schema xmlns:xsd="http://www.w3.org/2001/XMLSchema" xmlns:xs="http://www.w3.org/2001/XMLSchema" xmlns:p="http://schemas.microsoft.com/office/2006/metadata/properties" xmlns:ns2="e24c3f89-b1e2-4b5c-81e1-9b07710f5189" xmlns:ns3="ce845bb0-6f82-4cf9-8b02-3916bb6268df" targetNamespace="http://schemas.microsoft.com/office/2006/metadata/properties" ma:root="true" ma:fieldsID="47e9c207501d1d53c375c00c242f54b4" ns2:_="" ns3:_="">
    <xsd:import namespace="e24c3f89-b1e2-4b5c-81e1-9b07710f5189"/>
    <xsd:import namespace="ce845bb0-6f82-4cf9-8b02-3916bb6268d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4c3f89-b1e2-4b5c-81e1-9b07710f51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59dbaa74-2a60-464d-988b-bba989cac70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e845bb0-6f82-4cf9-8b02-3916bb6268df"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element name="TaxCatchAll" ma:index="21" nillable="true" ma:displayName="Taxonomy Catch All Column" ma:hidden="true" ma:list="{51e47c2f-83de-443c-9b77-fbf0d35e4197}" ma:internalName="TaxCatchAll" ma:showField="CatchAllData" ma:web="ce845bb0-6f82-4cf9-8b02-3916bb6268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4c3f89-b1e2-4b5c-81e1-9b07710f5189">
      <Terms xmlns="http://schemas.microsoft.com/office/infopath/2007/PartnerControls"/>
    </lcf76f155ced4ddcb4097134ff3c332f>
    <TaxCatchAll xmlns="ce845bb0-6f82-4cf9-8b02-3916bb6268df" xsi:nil="true"/>
  </documentManagement>
</p:properties>
</file>

<file path=customXml/itemProps1.xml><?xml version="1.0" encoding="utf-8"?>
<ds:datastoreItem xmlns:ds="http://schemas.openxmlformats.org/officeDocument/2006/customXml" ds:itemID="{F27A6D2C-8CE5-46A4-ADEC-6FD7C5F7EDCC}"/>
</file>

<file path=customXml/itemProps2.xml><?xml version="1.0" encoding="utf-8"?>
<ds:datastoreItem xmlns:ds="http://schemas.openxmlformats.org/officeDocument/2006/customXml" ds:itemID="{7557D189-32A8-411C-A1FE-5D98FC6CCF4F}"/>
</file>

<file path=customXml/itemProps3.xml><?xml version="1.0" encoding="utf-8"?>
<ds:datastoreItem xmlns:ds="http://schemas.openxmlformats.org/officeDocument/2006/customXml" ds:itemID="{E8D8D8A5-1EAA-41DC-A1E3-E107219891EB}"/>
</file>

<file path=docProps/app.xml><?xml version="1.0" encoding="utf-8"?>
<Properties xmlns="http://schemas.openxmlformats.org/officeDocument/2006/extended-properties" xmlns:vt="http://schemas.openxmlformats.org/officeDocument/2006/docPropsVTypes">
  <Template/>
  <TotalTime>3083</TotalTime>
  <Application>LibreOffice/7.3.7.2$Linux_X86_64 LibreOffice_project/30$Build-2</Application>
  <AppVersion>15.0000</AppVersion>
  <Words>12</Words>
  <Paragraphs>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2014-05-13T08:36:54Z</dcterms:created>
  <dc:creator>psoria</dc:creator>
  <dc:description/>
  <dc:language>es-ES</dc:language>
  <cp:lastModifiedBy/>
  <cp:lastPrinted>2018-06-15T07:54:48Z</cp:lastPrinted>
  <dcterms:modified xsi:type="dcterms:W3CDTF">2025-12-02T10:19:57Z</dcterms:modified>
  <cp:revision>599</cp:revision>
  <dc:subject/>
  <dc:title>Diapositiva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0x010100D61D317CF2309C4E8DA448EE42D88B65</vt:lpwstr>
  </property>
  <property fmtid="{D5CDD505-2E9C-101B-9397-08002B2CF9AE}" pid="3" name="PresentationFormat">
    <vt:lpwstr>Panorámica</vt:lpwstr>
  </property>
  <property fmtid="{D5CDD505-2E9C-101B-9397-08002B2CF9AE}" pid="4" name="Slides">
    <vt:i4>3</vt:i4>
  </property>
</Properties>
</file>