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26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20.png" ContentType="image/png"/>
  <Override PartName="/ppt/media/image18.png" ContentType="image/png"/>
  <Override PartName="/ppt/media/image28.png" ContentType="image/png"/>
  <Override PartName="/ppt/media/image10.png" ContentType="image/png"/>
  <Override PartName="/ppt/media/image29.png" ContentType="image/png"/>
  <Override PartName="/ppt/media/image5.png" ContentType="image/png"/>
  <Override PartName="/ppt/media/image35.png" ContentType="image/png"/>
  <Override PartName="/ppt/media/image11.png" ContentType="image/png"/>
  <Override PartName="/ppt/media/image6.png" ContentType="image/png"/>
  <Override PartName="/ppt/media/image36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33.png" ContentType="image/png"/>
  <Override PartName="/ppt/media/image13.png" ContentType="image/png"/>
  <Override PartName="/ppt/media/image9.png" ContentType="image/png"/>
  <Override PartName="/ppt/media/image34.png" ContentType="image/png"/>
  <Override PartName="/ppt/media/image4.png" ContentType="image/png"/>
  <Override PartName="/ppt/media/image27.png" ContentType="image/png"/>
  <Override PartName="/ppt/media/image32.png" ContentType="image/png"/>
  <Override PartName="/ppt/media/image2.png" ContentType="image/png"/>
  <Override PartName="/ppt/media/image25.png" ContentType="image/png"/>
  <Override PartName="/ppt/media/image30.png" ContentType="image/png"/>
  <Override PartName="/ppt/media/image3.jpeg" ContentType="image/jpeg"/>
  <Override PartName="/ppt/media/image15.png" ContentType="image/png"/>
  <Override PartName="/ppt/media/image31.png" ContentType="image/png"/>
  <Override PartName="/ppt/media/image1.png" ContentType="image/png"/>
  <Override PartName="/ppt/media/image24.png" ContentType="image/png"/>
  <Override PartName="/ppt/media/image14.png" ContentType="image/png"/>
  <Override PartName="/ppt/media/image16.png" ContentType="image/png"/>
  <Override PartName="/ppt/media/image17.png" ContentType="image/png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1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22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23.xml.rels" ContentType="application/vnd.openxmlformats-package.relationships+xml"/>
  <Override PartName="/ppt/slides/_rels/slide11.xml.rels" ContentType="application/vnd.openxmlformats-package.relationships+xml"/>
  <Override PartName="/ppt/slides/_rels/slide24.xml.rels" ContentType="application/vnd.openxmlformats-package.relationships+xml"/>
  <Override PartName="/ppt/slides/_rels/slide14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Pulse para editar </a:t>
            </a:r>
            <a:r>
              <a:rPr b="0" lang="en-US" sz="4400" spc="-1" strike="noStrike">
                <a:latin typeface="Arial"/>
              </a:rPr>
              <a:t>el formato del texto </a:t>
            </a:r>
            <a:r>
              <a:rPr b="0" lang="en-US" sz="4400" spc="-1" strike="noStrike">
                <a:latin typeface="Arial"/>
              </a:rPr>
              <a:t>de título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Pulse para editar el formato de texto del esquema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Segundo nivel del esquema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Tercer nivel del esquema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Cuarto nivel del esquema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Quinto nivel del esquema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Sexto nivel del esquema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Séptimo nivel del esquema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6 Rectángulo"/>
          <p:cNvSpPr/>
          <p:nvPr/>
        </p:nvSpPr>
        <p:spPr>
          <a:xfrm>
            <a:off x="0" y="6179400"/>
            <a:ext cx="12184920" cy="68544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39" name="Picture 4" descr="http://www.ceste.es/wp-content/uploads/2016/06/CESTE-Diamante.png"/>
          <p:cNvPicPr/>
          <p:nvPr/>
        </p:nvPicPr>
        <p:blipFill>
          <a:blip r:embed="rId2"/>
          <a:stretch/>
        </p:blipFill>
        <p:spPr>
          <a:xfrm flipH="1">
            <a:off x="1686600" y="5883840"/>
            <a:ext cx="595440" cy="597600"/>
          </a:xfrm>
          <a:prstGeom prst="rect">
            <a:avLst/>
          </a:prstGeom>
          <a:ln w="0">
            <a:noFill/>
          </a:ln>
        </p:spPr>
      </p:pic>
      <p:pic>
        <p:nvPicPr>
          <p:cNvPr id="40" name="8 Imagen" descr="CESTE blanco estrella roja sin coletilla.png"/>
          <p:cNvPicPr/>
          <p:nvPr/>
        </p:nvPicPr>
        <p:blipFill>
          <a:blip r:embed="rId3"/>
          <a:stretch/>
        </p:blipFill>
        <p:spPr>
          <a:xfrm>
            <a:off x="9936360" y="6184800"/>
            <a:ext cx="1360440" cy="645480"/>
          </a:xfrm>
          <a:prstGeom prst="rect">
            <a:avLst/>
          </a:prstGeom>
          <a:ln w="0">
            <a:noFill/>
          </a:ln>
        </p:spPr>
      </p:pic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Pulse para editar el formato del texto de título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Pulse para editar el formato de texto del esquema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Segundo nivel del esquema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Tercer nivel del esquema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Cuarto nivel del esquema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Quinto nivel del esquema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Sexto nivel del esquema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Séptimo nivel del esquema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31.png"/><Relationship Id="rId3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33.png"/><Relationship Id="rId3" Type="http://schemas.openxmlformats.org/officeDocument/2006/relationships/slideLayout" Target="../slideLayouts/slideLayout1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5.png"/><Relationship Id="rId3" Type="http://schemas.openxmlformats.org/officeDocument/2006/relationships/slideLayout" Target="../slideLayouts/slideLayout1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Imagen 3" descr="Una mujer en frente de laptop&#10;&#10;Descripción generada automáticamente"/>
          <p:cNvPicPr/>
          <p:nvPr/>
        </p:nvPicPr>
        <p:blipFill>
          <a:blip r:embed="rId1"/>
          <a:srcRect l="1742" t="12716" r="9979" b="12799"/>
          <a:stretch/>
        </p:blipFill>
        <p:spPr>
          <a:xfrm>
            <a:off x="0" y="0"/>
            <a:ext cx="12184920" cy="6850800"/>
          </a:xfrm>
          <a:prstGeom prst="rect">
            <a:avLst/>
          </a:prstGeom>
          <a:ln w="0">
            <a:noFill/>
          </a:ln>
        </p:spPr>
      </p:pic>
      <p:sp>
        <p:nvSpPr>
          <p:cNvPr id="80" name="7 Rectángulo"/>
          <p:cNvSpPr/>
          <p:nvPr/>
        </p:nvSpPr>
        <p:spPr>
          <a:xfrm>
            <a:off x="852840" y="6682680"/>
            <a:ext cx="11385000" cy="34560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81" name="Picture 4" descr="http://www.ceste.es/wp-content/uploads/2016/06/CESTE-Diamante.png"/>
          <p:cNvPicPr/>
          <p:nvPr/>
        </p:nvPicPr>
        <p:blipFill>
          <a:blip r:embed="rId2"/>
          <a:stretch/>
        </p:blipFill>
        <p:spPr>
          <a:xfrm flipH="1">
            <a:off x="558720" y="6582960"/>
            <a:ext cx="595440" cy="597600"/>
          </a:xfrm>
          <a:prstGeom prst="rect">
            <a:avLst/>
          </a:prstGeom>
          <a:ln w="0">
            <a:noFill/>
          </a:ln>
        </p:spPr>
      </p:pic>
      <p:sp>
        <p:nvSpPr>
          <p:cNvPr id="82" name="7 Rectángulo"/>
          <p:cNvSpPr/>
          <p:nvPr/>
        </p:nvSpPr>
        <p:spPr>
          <a:xfrm>
            <a:off x="-96840" y="-99360"/>
            <a:ext cx="11481840" cy="28080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83" name="Picture 4" descr="http://www.ceste.es/wp-content/uploads/2016/06/CESTE-Diamante.png"/>
          <p:cNvPicPr/>
          <p:nvPr/>
        </p:nvPicPr>
        <p:blipFill>
          <a:blip r:embed="rId3"/>
          <a:stretch/>
        </p:blipFill>
        <p:spPr>
          <a:xfrm flipH="1">
            <a:off x="11098080" y="-316440"/>
            <a:ext cx="595440" cy="597600"/>
          </a:xfrm>
          <a:prstGeom prst="rect">
            <a:avLst/>
          </a:prstGeom>
          <a:ln w="0">
            <a:noFill/>
          </a:ln>
        </p:spPr>
      </p:pic>
      <p:grpSp>
        <p:nvGrpSpPr>
          <p:cNvPr id="84" name="Grupo 14"/>
          <p:cNvGrpSpPr/>
          <p:nvPr/>
        </p:nvGrpSpPr>
        <p:grpSpPr>
          <a:xfrm>
            <a:off x="504000" y="405720"/>
            <a:ext cx="5249160" cy="2399760"/>
            <a:chOff x="504000" y="405720"/>
            <a:chExt cx="5249160" cy="2399760"/>
          </a:xfrm>
        </p:grpSpPr>
        <p:sp>
          <p:nvSpPr>
            <p:cNvPr id="85" name="12 Rectángulo"/>
            <p:cNvSpPr/>
            <p:nvPr/>
          </p:nvSpPr>
          <p:spPr>
            <a:xfrm>
              <a:off x="504000" y="405720"/>
              <a:ext cx="4847760" cy="2399760"/>
            </a:xfrm>
            <a:prstGeom prst="rect">
              <a:avLst/>
            </a:prstGeom>
            <a:solidFill>
              <a:srgbClr val="003594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grpSp>
          <p:nvGrpSpPr>
            <p:cNvPr id="86" name="Grupo 5"/>
            <p:cNvGrpSpPr/>
            <p:nvPr/>
          </p:nvGrpSpPr>
          <p:grpSpPr>
            <a:xfrm>
              <a:off x="734760" y="980640"/>
              <a:ext cx="5018400" cy="1824840"/>
              <a:chOff x="734760" y="980640"/>
              <a:chExt cx="5018400" cy="1824840"/>
            </a:xfrm>
          </p:grpSpPr>
          <p:sp>
            <p:nvSpPr>
              <p:cNvPr id="87" name="2 Subtítulo"/>
              <p:cNvSpPr/>
              <p:nvPr/>
            </p:nvSpPr>
            <p:spPr>
              <a:xfrm>
                <a:off x="778680" y="2277000"/>
                <a:ext cx="4974480" cy="528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rmAutofit/>
              </a:bodyPr>
              <a:p>
                <a:pPr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lang="es-ES" sz="1800" spc="-1" strike="noStrike">
                    <a:solidFill>
                      <a:srgbClr val="ffffff"/>
                    </a:solidFill>
                    <a:latin typeface="Calibri"/>
                    <a:ea typeface="DejaVu Sans"/>
                  </a:rPr>
                  <a:t>Mongo DB</a:t>
                </a:r>
                <a:endParaRPr b="0" lang="en-US" sz="1800" spc="-1" strike="noStrike">
                  <a:latin typeface="Arial"/>
                </a:endParaRPr>
              </a:p>
            </p:txBody>
          </p:sp>
          <p:sp>
            <p:nvSpPr>
              <p:cNvPr id="88" name="1 Título"/>
              <p:cNvSpPr/>
              <p:nvPr/>
            </p:nvSpPr>
            <p:spPr>
              <a:xfrm>
                <a:off x="734760" y="980640"/>
                <a:ext cx="4010400" cy="1315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buNone/>
                </a:pPr>
                <a:endParaRPr b="0" lang="en-US" sz="1800" spc="-1" strike="noStrike">
                  <a:latin typeface="Arial"/>
                </a:endParaRPr>
              </a:p>
              <a:p>
                <a:pPr>
                  <a:lnSpc>
                    <a:spcPct val="100000"/>
                  </a:lnSpc>
                  <a:buNone/>
                </a:pPr>
                <a:endParaRPr b="0" lang="en-US" sz="1800" spc="-1" strike="noStrike">
                  <a:latin typeface="Arial"/>
                </a:endParaRPr>
              </a:p>
              <a:p>
                <a:pPr>
                  <a:lnSpc>
                    <a:spcPct val="100000"/>
                  </a:lnSpc>
                  <a:buNone/>
                </a:pPr>
                <a:r>
                  <a:rPr b="1" lang="es-ES" sz="3500" spc="-1" strike="noStrike">
                    <a:solidFill>
                      <a:srgbClr val="ffffff"/>
                    </a:solidFill>
                    <a:latin typeface="Calibri"/>
                    <a:ea typeface="DejaVu Sans"/>
                  </a:rPr>
                  <a:t>Formación IA</a:t>
                </a:r>
                <a:endParaRPr b="0" lang="en-US" sz="3500" spc="-1" strike="noStrike">
                  <a:latin typeface="Arial"/>
                </a:endParaRPr>
              </a:p>
            </p:txBody>
          </p:sp>
        </p:grpSp>
      </p:grpSp>
      <p:pic>
        <p:nvPicPr>
          <p:cNvPr id="89" name="Imagen 9" descr="Logotipo&#10;&#10;El contenido generado por IA puede ser incorrecto."/>
          <p:cNvPicPr/>
          <p:nvPr/>
        </p:nvPicPr>
        <p:blipFill>
          <a:blip r:embed="rId4"/>
          <a:stretch/>
        </p:blipFill>
        <p:spPr>
          <a:xfrm>
            <a:off x="3575880" y="532440"/>
            <a:ext cx="1647000" cy="801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8400" cy="67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 </a:t>
            </a:r>
            <a:r>
              <a:rPr b="0" lang="en-US" sz="2400" spc="-1" strike="noStrike">
                <a:latin typeface="Arial"/>
              </a:rPr>
              <a:t>Estructura de carpetas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92" name="" descr=""/>
          <p:cNvPicPr/>
          <p:nvPr/>
        </p:nvPicPr>
        <p:blipFill>
          <a:blip r:embed="rId1"/>
          <a:stretch/>
        </p:blipFill>
        <p:spPr>
          <a:xfrm>
            <a:off x="3060000" y="2340000"/>
            <a:ext cx="5579280" cy="251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8400" cy="49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1" lang="es-ES" sz="2400" spc="-1" strike="noStrike">
                <a:latin typeface="Calibri"/>
              </a:rPr>
              <a:t> </a:t>
            </a:r>
            <a:r>
              <a:rPr b="1" lang="es-ES" sz="2400" spc="-1" strike="noStrike">
                <a:latin typeface="Calibri"/>
              </a:rPr>
              <a:t>Crear red para que se comuniquen los contenedores. La red se va a llamar red_federada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95" name="" descr=""/>
          <p:cNvPicPr/>
          <p:nvPr/>
        </p:nvPicPr>
        <p:blipFill>
          <a:blip r:embed="rId1"/>
          <a:stretch/>
        </p:blipFill>
        <p:spPr>
          <a:xfrm>
            <a:off x="2700000" y="2700000"/>
            <a:ext cx="6522480" cy="143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8400" cy="49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1" lang="es-ES" sz="2400" spc="-1" strike="noStrike">
                <a:latin typeface="Calibri"/>
                <a:ea typeface="DejaVu Sans"/>
              </a:rPr>
              <a:t> </a:t>
            </a:r>
            <a:r>
              <a:rPr b="1" lang="es-ES" sz="2400" spc="-1" strike="noStrike">
                <a:latin typeface="Calibri"/>
                <a:ea typeface="DejaVu Sans"/>
              </a:rPr>
              <a:t>Copiar el nombre de nuestro contenedor de mongoDB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98" name="" descr=""/>
          <p:cNvPicPr/>
          <p:nvPr/>
        </p:nvPicPr>
        <p:blipFill>
          <a:blip r:embed="rId1"/>
          <a:stretch/>
        </p:blipFill>
        <p:spPr>
          <a:xfrm>
            <a:off x="3420000" y="2471400"/>
            <a:ext cx="3779640" cy="1128240"/>
          </a:xfrm>
          <a:prstGeom prst="rect">
            <a:avLst/>
          </a:prstGeom>
          <a:ln w="0">
            <a:noFill/>
          </a:ln>
        </p:spPr>
      </p:pic>
      <p:pic>
        <p:nvPicPr>
          <p:cNvPr id="99" name="" descr=""/>
          <p:cNvPicPr/>
          <p:nvPr/>
        </p:nvPicPr>
        <p:blipFill>
          <a:blip r:embed="rId2"/>
          <a:stretch/>
        </p:blipFill>
        <p:spPr>
          <a:xfrm>
            <a:off x="360000" y="4378320"/>
            <a:ext cx="11699280" cy="481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01" name="PlaceHolder 36"/>
          <p:cNvSpPr/>
          <p:nvPr/>
        </p:nvSpPr>
        <p:spPr>
          <a:xfrm>
            <a:off x="651240" y="1664640"/>
            <a:ext cx="1050840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1" lang="es-ES" sz="2400" spc="-1" strike="noStrike">
                <a:latin typeface="Calibri"/>
              </a:rPr>
              <a:t> </a:t>
            </a:r>
            <a:r>
              <a:rPr b="1" lang="es-ES" sz="2400" spc="-1" strike="noStrike">
                <a:latin typeface="Calibri"/>
              </a:rPr>
              <a:t>Unir el contenedor de MongoDB a la red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1980000" y="2880000"/>
            <a:ext cx="7646040" cy="107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8400" cy="103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 </a:t>
            </a:r>
            <a:r>
              <a:rPr b="1" lang="es-ES" sz="2400" spc="-1" strike="noStrike">
                <a:latin typeface="Calibri"/>
              </a:rPr>
              <a:t>Crear los contendores de Trino y Postgres (Asegurarse de lanzar el comando desde la carpeta de la practica)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05" name="" descr=""/>
          <p:cNvPicPr/>
          <p:nvPr/>
        </p:nvPicPr>
        <p:blipFill>
          <a:blip r:embed="rId1"/>
          <a:stretch/>
        </p:blipFill>
        <p:spPr>
          <a:xfrm>
            <a:off x="3060000" y="2880000"/>
            <a:ext cx="5542200" cy="1764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8400" cy="67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 </a:t>
            </a:r>
            <a:r>
              <a:rPr b="1" lang="es-ES" sz="2400" spc="-1" strike="noStrike">
                <a:latin typeface="Calibri"/>
              </a:rPr>
              <a:t>Entrar dentro del contenedor de Postgres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08" name="" descr=""/>
          <p:cNvPicPr/>
          <p:nvPr/>
        </p:nvPicPr>
        <p:blipFill>
          <a:blip r:embed="rId1"/>
          <a:stretch/>
        </p:blipFill>
        <p:spPr>
          <a:xfrm>
            <a:off x="545760" y="2520000"/>
            <a:ext cx="11153880" cy="677160"/>
          </a:xfrm>
          <a:prstGeom prst="rect">
            <a:avLst/>
          </a:prstGeom>
          <a:ln w="0">
            <a:noFill/>
          </a:ln>
        </p:spPr>
      </p:pic>
      <p:pic>
        <p:nvPicPr>
          <p:cNvPr id="109" name="" descr=""/>
          <p:cNvPicPr/>
          <p:nvPr/>
        </p:nvPicPr>
        <p:blipFill>
          <a:blip r:embed="rId2"/>
          <a:stretch/>
        </p:blipFill>
        <p:spPr>
          <a:xfrm>
            <a:off x="3378600" y="3960000"/>
            <a:ext cx="5261040" cy="1224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8400" cy="67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 </a:t>
            </a:r>
            <a:r>
              <a:rPr b="1" lang="es-ES" sz="2400" spc="-1" strike="noStrike">
                <a:latin typeface="Calibri"/>
              </a:rPr>
              <a:t>Entrar dentro de la base de datos de Postgres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12" name="" descr=""/>
          <p:cNvPicPr/>
          <p:nvPr/>
        </p:nvPicPr>
        <p:blipFill>
          <a:blip r:embed="rId1"/>
          <a:stretch/>
        </p:blipFill>
        <p:spPr>
          <a:xfrm>
            <a:off x="3258720" y="2160000"/>
            <a:ext cx="3400920" cy="1438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8400" cy="67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 </a:t>
            </a:r>
            <a:r>
              <a:rPr b="1" lang="es-ES" sz="2400" spc="-1" strike="noStrike">
                <a:latin typeface="Calibri"/>
              </a:rPr>
              <a:t>Crear la tabla con geometrías de Zaragoza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15" name="" descr=""/>
          <p:cNvPicPr/>
          <p:nvPr/>
        </p:nvPicPr>
        <p:blipFill>
          <a:blip r:embed="rId1"/>
          <a:stretch/>
        </p:blipFill>
        <p:spPr>
          <a:xfrm>
            <a:off x="3347280" y="2427120"/>
            <a:ext cx="4971600" cy="2432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8400" cy="67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 </a:t>
            </a:r>
            <a:r>
              <a:rPr b="1" lang="es-ES" sz="2400" spc="-1" strike="noStrike">
                <a:latin typeface="Calibri"/>
              </a:rPr>
              <a:t>Añadir un registro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18" name="" descr=""/>
          <p:cNvPicPr/>
          <p:nvPr/>
        </p:nvPicPr>
        <p:blipFill>
          <a:blip r:embed="rId1"/>
          <a:stretch/>
        </p:blipFill>
        <p:spPr>
          <a:xfrm>
            <a:off x="2700000" y="2180520"/>
            <a:ext cx="6720120" cy="3039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8400" cy="67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 </a:t>
            </a:r>
            <a:r>
              <a:rPr b="1" lang="es-ES" sz="2400" spc="-1" strike="noStrike">
                <a:latin typeface="Calibri"/>
              </a:rPr>
              <a:t>Añadir un registro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21" name="" descr=""/>
          <p:cNvPicPr/>
          <p:nvPr/>
        </p:nvPicPr>
        <p:blipFill>
          <a:blip r:embed="rId1"/>
          <a:stretch/>
        </p:blipFill>
        <p:spPr>
          <a:xfrm>
            <a:off x="2340000" y="2160000"/>
            <a:ext cx="7199640" cy="3259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8400" cy="67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 </a:t>
            </a:r>
            <a:r>
              <a:rPr b="1" lang="es-ES" sz="2400" spc="-1" strike="noStrike">
                <a:latin typeface="Calibri"/>
              </a:rPr>
              <a:t>Añadir un registro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24" name="" descr=""/>
          <p:cNvPicPr/>
          <p:nvPr/>
        </p:nvPicPr>
        <p:blipFill>
          <a:blip r:embed="rId1"/>
          <a:stretch/>
        </p:blipFill>
        <p:spPr>
          <a:xfrm>
            <a:off x="2700000" y="2160000"/>
            <a:ext cx="7485480" cy="3399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8400" cy="67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 </a:t>
            </a:r>
            <a:r>
              <a:rPr b="1" lang="es-ES" sz="2400" spc="-1" strike="noStrike">
                <a:latin typeface="Calibri"/>
              </a:rPr>
              <a:t>Añadir un registro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27" name="" descr=""/>
          <p:cNvPicPr/>
          <p:nvPr/>
        </p:nvPicPr>
        <p:blipFill>
          <a:blip r:embed="rId1"/>
          <a:stretch/>
        </p:blipFill>
        <p:spPr>
          <a:xfrm>
            <a:off x="2391840" y="1980000"/>
            <a:ext cx="7147800" cy="3278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8400" cy="67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 </a:t>
            </a:r>
            <a:r>
              <a:rPr b="1" lang="es-ES" sz="2400" spc="-1" strike="noStrike">
                <a:latin typeface="Calibri"/>
              </a:rPr>
              <a:t>Añadir un registro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30" name="" descr=""/>
          <p:cNvPicPr/>
          <p:nvPr/>
        </p:nvPicPr>
        <p:blipFill>
          <a:blip r:embed="rId1"/>
          <a:stretch/>
        </p:blipFill>
        <p:spPr>
          <a:xfrm>
            <a:off x="2656800" y="2160000"/>
            <a:ext cx="6599880" cy="305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8400" cy="67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 </a:t>
            </a:r>
            <a:r>
              <a:rPr b="1" lang="es-ES" sz="2400" spc="-1" strike="noStrike">
                <a:latin typeface="Calibri"/>
              </a:rPr>
              <a:t>Comprobar que se han añadido los registros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33" name="" descr=""/>
          <p:cNvPicPr/>
          <p:nvPr/>
        </p:nvPicPr>
        <p:blipFill>
          <a:blip r:embed="rId1"/>
          <a:stretch/>
        </p:blipFill>
        <p:spPr>
          <a:xfrm>
            <a:off x="2908080" y="3600000"/>
            <a:ext cx="5799240" cy="2339640"/>
          </a:xfrm>
          <a:prstGeom prst="rect">
            <a:avLst/>
          </a:prstGeom>
          <a:ln w="0">
            <a:noFill/>
          </a:ln>
        </p:spPr>
      </p:pic>
      <p:pic>
        <p:nvPicPr>
          <p:cNvPr id="134" name="" descr=""/>
          <p:cNvPicPr/>
          <p:nvPr/>
        </p:nvPicPr>
        <p:blipFill>
          <a:blip r:embed="rId2"/>
          <a:stretch/>
        </p:blipFill>
        <p:spPr>
          <a:xfrm>
            <a:off x="2966400" y="2160000"/>
            <a:ext cx="5615280" cy="107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8400" cy="67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 </a:t>
            </a:r>
            <a:r>
              <a:rPr b="1" lang="es-ES" sz="2400" spc="-1" strike="noStrike">
                <a:latin typeface="Calibri"/>
              </a:rPr>
              <a:t>Salir de la base de datos de Postgres y del contenedor de Postgres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s-ES" sz="2400" spc="-1" strike="noStrike">
                <a:latin typeface="Calibri"/>
              </a:rPr>
              <a:t> </a:t>
            </a:r>
            <a:r>
              <a:rPr b="0" lang="es-ES" sz="2400" spc="-1" strike="noStrike">
                <a:latin typeface="Calibri"/>
              </a:rPr>
              <a:t>Base de datos:</a:t>
            </a:r>
            <a:r>
              <a:rPr b="1" lang="es-ES" sz="2400" spc="-1" strike="noStrike">
                <a:latin typeface="Calibri"/>
              </a:rPr>
              <a:t> \q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s-ES" sz="2400" spc="-1" strike="noStrike">
                <a:latin typeface="Calibri"/>
              </a:rPr>
              <a:t> </a:t>
            </a:r>
            <a:r>
              <a:rPr b="0" lang="es-ES" sz="2400" spc="-1" strike="noStrike">
                <a:latin typeface="Calibri"/>
              </a:rPr>
              <a:t>Contenedor:</a:t>
            </a:r>
            <a:r>
              <a:rPr b="1" lang="es-ES" sz="2400" spc="-1" strike="noStrike">
                <a:latin typeface="Calibri"/>
              </a:rPr>
              <a:t> exit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37" name="" descr=""/>
          <p:cNvPicPr/>
          <p:nvPr/>
        </p:nvPicPr>
        <p:blipFill>
          <a:blip r:embed="rId1"/>
          <a:stretch/>
        </p:blipFill>
        <p:spPr>
          <a:xfrm>
            <a:off x="720000" y="4154040"/>
            <a:ext cx="10639440" cy="1065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8400" cy="67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 </a:t>
            </a:r>
            <a:r>
              <a:rPr b="1" lang="es-ES" sz="2400" spc="-1" strike="noStrike">
                <a:latin typeface="Calibri"/>
              </a:rPr>
              <a:t>Entrar en el contenedor de Trino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40" name="" descr=""/>
          <p:cNvPicPr/>
          <p:nvPr/>
        </p:nvPicPr>
        <p:blipFill>
          <a:blip r:embed="rId1"/>
          <a:stretch/>
        </p:blipFill>
        <p:spPr>
          <a:xfrm>
            <a:off x="2520000" y="2880360"/>
            <a:ext cx="6311520" cy="143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8400" cy="67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 </a:t>
            </a:r>
            <a:r>
              <a:rPr b="1" lang="es-ES" sz="2400" spc="-1" strike="noStrike">
                <a:latin typeface="Calibri"/>
              </a:rPr>
              <a:t>Entrar en el contenedor de Trino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43" name="" descr=""/>
          <p:cNvPicPr/>
          <p:nvPr/>
        </p:nvPicPr>
        <p:blipFill>
          <a:blip r:embed="rId1"/>
          <a:stretch/>
        </p:blipFill>
        <p:spPr>
          <a:xfrm>
            <a:off x="3420000" y="3420000"/>
            <a:ext cx="5399640" cy="2634480"/>
          </a:xfrm>
          <a:prstGeom prst="rect">
            <a:avLst/>
          </a:prstGeom>
          <a:ln w="0">
            <a:noFill/>
          </a:ln>
        </p:spPr>
      </p:pic>
      <p:pic>
        <p:nvPicPr>
          <p:cNvPr id="144" name="" descr=""/>
          <p:cNvPicPr/>
          <p:nvPr/>
        </p:nvPicPr>
        <p:blipFill>
          <a:blip r:embed="rId2"/>
          <a:stretch/>
        </p:blipFill>
        <p:spPr>
          <a:xfrm>
            <a:off x="3903480" y="1980000"/>
            <a:ext cx="3656160" cy="1236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8400" cy="67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 </a:t>
            </a:r>
            <a:r>
              <a:rPr b="1" lang="es-ES" sz="2400" spc="-1" strike="noStrike">
                <a:latin typeface="Calibri"/>
              </a:rPr>
              <a:t>¿Cuantas bicicletas hay en cada geometría?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47" name="" descr=""/>
          <p:cNvPicPr/>
          <p:nvPr/>
        </p:nvPicPr>
        <p:blipFill>
          <a:blip r:embed="rId1"/>
          <a:stretch/>
        </p:blipFill>
        <p:spPr>
          <a:xfrm>
            <a:off x="6840000" y="2700000"/>
            <a:ext cx="5158080" cy="2159640"/>
          </a:xfrm>
          <a:prstGeom prst="rect">
            <a:avLst/>
          </a:prstGeom>
          <a:ln w="0">
            <a:noFill/>
          </a:ln>
        </p:spPr>
      </p:pic>
      <p:pic>
        <p:nvPicPr>
          <p:cNvPr id="148" name="" descr=""/>
          <p:cNvPicPr/>
          <p:nvPr/>
        </p:nvPicPr>
        <p:blipFill>
          <a:blip r:embed="rId2"/>
          <a:stretch/>
        </p:blipFill>
        <p:spPr>
          <a:xfrm>
            <a:off x="247680" y="2160000"/>
            <a:ext cx="6231960" cy="3322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8400" cy="67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 </a:t>
            </a:r>
            <a:r>
              <a:rPr b="1" lang="es-ES" sz="2400" spc="-1" strike="noStrike">
                <a:latin typeface="Calibri"/>
              </a:rPr>
              <a:t>¿Qué bicicletas están en la plaza del Pilar?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51" name="" descr=""/>
          <p:cNvPicPr/>
          <p:nvPr/>
        </p:nvPicPr>
        <p:blipFill>
          <a:blip r:embed="rId1"/>
          <a:stretch/>
        </p:blipFill>
        <p:spPr>
          <a:xfrm>
            <a:off x="7182360" y="2806200"/>
            <a:ext cx="4877280" cy="1628640"/>
          </a:xfrm>
          <a:prstGeom prst="rect">
            <a:avLst/>
          </a:prstGeom>
          <a:ln w="0">
            <a:noFill/>
          </a:ln>
        </p:spPr>
      </p:pic>
      <p:pic>
        <p:nvPicPr>
          <p:cNvPr id="152" name="" descr=""/>
          <p:cNvPicPr/>
          <p:nvPr/>
        </p:nvPicPr>
        <p:blipFill>
          <a:blip r:embed="rId2"/>
          <a:stretch/>
        </p:blipFill>
        <p:spPr>
          <a:xfrm>
            <a:off x="197640" y="1978200"/>
            <a:ext cx="6642000" cy="3601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8400" cy="67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 </a:t>
            </a:r>
            <a:r>
              <a:rPr b="1" lang="es-ES" sz="2400" spc="-1" strike="noStrike">
                <a:latin typeface="Calibri"/>
              </a:rPr>
              <a:t>¿Qué bicis tienen menos de un 20% de batería y están situadas en el 'Campus San Francisco'?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55" name="" descr=""/>
          <p:cNvPicPr/>
          <p:nvPr/>
        </p:nvPicPr>
        <p:blipFill>
          <a:blip r:embed="rId1"/>
          <a:stretch/>
        </p:blipFill>
        <p:spPr>
          <a:xfrm>
            <a:off x="7380000" y="3100680"/>
            <a:ext cx="4642560" cy="1578960"/>
          </a:xfrm>
          <a:prstGeom prst="rect">
            <a:avLst/>
          </a:prstGeom>
          <a:ln w="0">
            <a:noFill/>
          </a:ln>
        </p:spPr>
      </p:pic>
      <p:pic>
        <p:nvPicPr>
          <p:cNvPr id="156" name="" descr=""/>
          <p:cNvPicPr/>
          <p:nvPr/>
        </p:nvPicPr>
        <p:blipFill>
          <a:blip r:embed="rId2"/>
          <a:stretch/>
        </p:blipFill>
        <p:spPr>
          <a:xfrm>
            <a:off x="510120" y="2340000"/>
            <a:ext cx="6689520" cy="3399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8400" cy="67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 </a:t>
            </a:r>
            <a:r>
              <a:rPr b="1" lang="es-ES" sz="2400" spc="-1" strike="noStrike">
                <a:latin typeface="Calibri"/>
              </a:rPr>
              <a:t>¿Qué bicis tengo que ir a buscar al Barrio de Torrero para arreglar o limpiar?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59" name="" descr=""/>
          <p:cNvPicPr/>
          <p:nvPr/>
        </p:nvPicPr>
        <p:blipFill>
          <a:blip r:embed="rId1"/>
          <a:stretch/>
        </p:blipFill>
        <p:spPr>
          <a:xfrm>
            <a:off x="7020000" y="3240000"/>
            <a:ext cx="4857120" cy="1439640"/>
          </a:xfrm>
          <a:prstGeom prst="rect">
            <a:avLst/>
          </a:prstGeom>
          <a:ln w="0">
            <a:noFill/>
          </a:ln>
        </p:spPr>
      </p:pic>
      <p:pic>
        <p:nvPicPr>
          <p:cNvPr id="160" name="" descr=""/>
          <p:cNvPicPr/>
          <p:nvPr/>
        </p:nvPicPr>
        <p:blipFill>
          <a:blip r:embed="rId2"/>
          <a:stretch/>
        </p:blipFill>
        <p:spPr>
          <a:xfrm>
            <a:off x="180000" y="1980000"/>
            <a:ext cx="6479640" cy="3902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8400" cy="434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37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10 CuadroTexto"/>
          <p:cNvSpPr/>
          <p:nvPr/>
        </p:nvSpPr>
        <p:spPr>
          <a:xfrm>
            <a:off x="5150160" y="5508000"/>
            <a:ext cx="1889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E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www.ceste.es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64" name="11 Imagen" descr=""/>
          <p:cNvPicPr/>
          <p:nvPr/>
        </p:nvPicPr>
        <p:blipFill>
          <a:blip r:embed="rId1"/>
          <a:stretch/>
        </p:blipFill>
        <p:spPr>
          <a:xfrm>
            <a:off x="4227480" y="2349000"/>
            <a:ext cx="3730680" cy="1818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61D317CF2309C4E8DA448EE42D88B65" ma:contentTypeVersion="16" ma:contentTypeDescription="Crear nuevo documento." ma:contentTypeScope="" ma:versionID="73b97258e99d47497b96ecb181da94f2">
  <xsd:schema xmlns:xsd="http://www.w3.org/2001/XMLSchema" xmlns:xs="http://www.w3.org/2001/XMLSchema" xmlns:p="http://schemas.microsoft.com/office/2006/metadata/properties" xmlns:ns2="e24c3f89-b1e2-4b5c-81e1-9b07710f5189" xmlns:ns3="ce845bb0-6f82-4cf9-8b02-3916bb6268df" targetNamespace="http://schemas.microsoft.com/office/2006/metadata/properties" ma:root="true" ma:fieldsID="47e9c207501d1d53c375c00c242f54b4" ns2:_="" ns3:_="">
    <xsd:import namespace="e24c3f89-b1e2-4b5c-81e1-9b07710f5189"/>
    <xsd:import namespace="ce845bb0-6f82-4cf9-8b02-3916bb6268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4c3f89-b1e2-4b5c-81e1-9b07710f51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59dbaa74-2a60-464d-988b-bba989cac70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845bb0-6f82-4cf9-8b02-3916bb6268df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51e47c2f-83de-443c-9b77-fbf0d35e4197}" ma:internalName="TaxCatchAll" ma:showField="CatchAllData" ma:web="ce845bb0-6f82-4cf9-8b02-3916bb6268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24c3f89-b1e2-4b5c-81e1-9b07710f5189">
      <Terms xmlns="http://schemas.microsoft.com/office/infopath/2007/PartnerControls"/>
    </lcf76f155ced4ddcb4097134ff3c332f>
    <TaxCatchAll xmlns="ce845bb0-6f82-4cf9-8b02-3916bb6268df" xsi:nil="true"/>
  </documentManagement>
</p:properties>
</file>

<file path=customXml/itemProps1.xml><?xml version="1.0" encoding="utf-8"?>
<ds:datastoreItem xmlns:ds="http://schemas.openxmlformats.org/officeDocument/2006/customXml" ds:itemID="{F27A6D2C-8CE5-46A4-ADEC-6FD7C5F7EDCC}"/>
</file>

<file path=customXml/itemProps2.xml><?xml version="1.0" encoding="utf-8"?>
<ds:datastoreItem xmlns:ds="http://schemas.openxmlformats.org/officeDocument/2006/customXml" ds:itemID="{7557D189-32A8-411C-A1FE-5D98FC6CCF4F}"/>
</file>

<file path=customXml/itemProps3.xml><?xml version="1.0" encoding="utf-8"?>
<ds:datastoreItem xmlns:ds="http://schemas.openxmlformats.org/officeDocument/2006/customXml" ds:itemID="{E8D8D8A5-1EAA-41DC-A1E3-E107219891EB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3250</TotalTime>
  <Application>LibreOffice/7.3.7.2$Linux_X86_64 LibreOffice_project/30$Build-2</Application>
  <AppVersion>15.0000</AppVersion>
  <Words>12</Words>
  <Paragraphs>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2014-05-13T08:36:54Z</dcterms:created>
  <dc:creator>psoria</dc:creator>
  <dc:description/>
  <dc:language>es-ES</dc:language>
  <cp:lastModifiedBy/>
  <cp:lastPrinted>2018-06-15T07:54:48Z</cp:lastPrinted>
  <dcterms:modified xsi:type="dcterms:W3CDTF">2025-12-11T08:26:48Z</dcterms:modified>
  <cp:revision>641</cp:revision>
  <dc:subject/>
  <dc:title>Diapositiva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0x010100D61D317CF2309C4E8DA448EE42D88B65</vt:lpwstr>
  </property>
  <property fmtid="{D5CDD505-2E9C-101B-9397-08002B2CF9AE}" pid="3" name="PresentationFormat">
    <vt:lpwstr>Panorámica</vt:lpwstr>
  </property>
  <property fmtid="{D5CDD505-2E9C-101B-9397-08002B2CF9AE}" pid="4" name="Slides">
    <vt:i4>3</vt:i4>
  </property>
</Properties>
</file>