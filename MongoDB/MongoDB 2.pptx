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15.png" ContentType="image/png"/>
  <Override PartName="/ppt/media/image3.jpeg" ContentType="image/jpeg"/>
  <Override PartName="/ppt/media/image30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7.png" ContentType="image/png"/>
  <Override PartName="/ppt/media/image4.png" ContentType="image/png"/>
  <Override PartName="/ppt/media/image34.png" ContentType="image/png"/>
  <Override PartName="/ppt/media/image28.png" ContentType="image/png"/>
  <Override PartName="/ppt/media/image5.png" ContentType="image/png"/>
  <Override PartName="/ppt/media/image35.png" ContentType="image/png"/>
  <Override PartName="/ppt/media/image43.png" ContentType="image/png"/>
  <Override PartName="/ppt/media/image44.png" ContentType="image/png"/>
  <Override PartName="/ppt/media/image33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11.png" ContentType="image/png"/>
  <Override PartName="/ppt/media/image48.png" ContentType="image/png"/>
  <Override PartName="/ppt/media/image51.png" ContentType="image/png"/>
  <Override PartName="/ppt/media/image40.png" ContentType="image/png"/>
  <Override PartName="/ppt/media/image8.png" ContentType="image/png"/>
  <Override PartName="/ppt/media/image38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42.png" ContentType="image/png"/>
  <Override PartName="/ppt/media/image54.png" ContentType="image/png"/>
  <Override PartName="/ppt/media/image39.png" ContentType="image/png"/>
  <Override PartName="/ppt/media/image9.png" ContentType="image/png"/>
  <Override PartName="/ppt/media/image49.png" ContentType="image/png"/>
  <Override PartName="/ppt/media/image12.png" ContentType="image/png"/>
  <Override PartName="/ppt/media/image10.png" ContentType="image/png"/>
  <Override PartName="/ppt/media/image47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media/image29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28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35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_rels/slide34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</a:t>
            </a:r>
            <a:r>
              <a:rPr b="0" lang="en-US" sz="4400" spc="-1" strike="noStrike">
                <a:latin typeface="Arial"/>
              </a:rPr>
              <a:t>u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s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p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i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f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r</a:t>
            </a:r>
            <a:r>
              <a:rPr b="0" lang="en-US" sz="4400" spc="-1" strike="noStrike">
                <a:latin typeface="Arial"/>
              </a:rPr>
              <a:t>m</a:t>
            </a:r>
            <a:r>
              <a:rPr b="0" lang="en-US" sz="4400" spc="-1" strike="noStrike">
                <a:latin typeface="Arial"/>
              </a:rPr>
              <a:t>a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x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o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d</a:t>
            </a:r>
            <a:r>
              <a:rPr b="0" lang="en-US" sz="4400" spc="-1" strike="noStrike">
                <a:latin typeface="Arial"/>
              </a:rPr>
              <a:t>e</a:t>
            </a:r>
            <a:r>
              <a:rPr b="0" lang="en-US" sz="4400" spc="-1" strike="noStrike">
                <a:latin typeface="Arial"/>
              </a:rPr>
              <a:t> 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í</a:t>
            </a:r>
            <a:r>
              <a:rPr b="0" lang="en-US" sz="4400" spc="-1" strike="noStrike">
                <a:latin typeface="Arial"/>
              </a:rPr>
              <a:t>t</a:t>
            </a:r>
            <a:r>
              <a:rPr b="0" lang="en-US" sz="4400" spc="-1" strike="noStrike">
                <a:latin typeface="Arial"/>
              </a:rPr>
              <a:t>u</a:t>
            </a:r>
            <a:r>
              <a:rPr b="0" lang="en-US" sz="4400" spc="-1" strike="noStrike">
                <a:latin typeface="Arial"/>
              </a:rPr>
              <a:t>l</a:t>
            </a:r>
            <a:r>
              <a:rPr b="0" lang="en-US" sz="4400" spc="-1" strike="noStrike">
                <a:latin typeface="Arial"/>
              </a:rPr>
              <a:t>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6000" cy="68652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5520" y="5883840"/>
            <a:ext cx="596520" cy="59868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61520" cy="64656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6000" cy="685188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6080" cy="34668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7640" y="6582960"/>
            <a:ext cx="596520" cy="59868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2920" cy="28188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7000" y="-316440"/>
            <a:ext cx="596520" cy="59868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50240" cy="2400840"/>
            <a:chOff x="504000" y="405720"/>
            <a:chExt cx="5250240" cy="240084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8840" cy="240084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19480" cy="1825920"/>
              <a:chOff x="734760" y="980640"/>
              <a:chExt cx="5019480" cy="182592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5560" cy="52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11480" cy="1316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8080" cy="80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9480" cy="13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Definición:</a:t>
            </a:r>
            <a:r>
              <a:rPr b="0" lang="es-ES" sz="2000" spc="-1" strike="noStrike">
                <a:latin typeface="Calibri"/>
              </a:rPr>
              <a:t> es una herramienta potente y flexible para procesar y transformar datos dentro de la propia base de datos, similar a cómo se usan las consultas complejas y las agrupaciones (GROUP BY) en SQL, pero adaptado al modelo de documentos NoSQL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rcRect l="13578" t="21657" r="13975" b="21644"/>
          <a:stretch/>
        </p:blipFill>
        <p:spPr>
          <a:xfrm>
            <a:off x="1980360" y="2520000"/>
            <a:ext cx="8279280" cy="323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9480" cy="43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es-ES" sz="2400" spc="-1" strike="noStrike">
                <a:latin typeface="Calibri"/>
              </a:rPr>
              <a:t>Conceptos clave: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Tuberia (pipeline)</a:t>
            </a:r>
            <a:r>
              <a:rPr b="0" lang="es-ES" sz="2000" spc="-1" strike="noStrike">
                <a:latin typeface="Calibri"/>
              </a:rPr>
              <a:t>:El corazón del framework es el pipeline (tubería). Es una secuencia de operaciones (etapas) que se aplican a los documentos de una colección, una tras otra.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es-ES" sz="24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Etapas (stage):</a:t>
            </a:r>
            <a:r>
              <a:rPr b="0" lang="es-ES" sz="2000" spc="-1" strike="noStrike">
                <a:latin typeface="Calibri"/>
              </a:rPr>
              <a:t> Las etapas son los bloques de construcción del pipeline. Cada una tiene un propósito específico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$match:</a:t>
            </a:r>
            <a:r>
              <a:rPr b="0" lang="es-ES" sz="2000" spc="-1" strike="noStrike">
                <a:latin typeface="Calibri"/>
              </a:rPr>
              <a:t> Actúa como un filtro. Elimina documentos que no cumplen con ciertos criterios, pasando solo los que coinciden a la siguiente etapa. Es similar a la cláusula WHERE en SQL.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$group:</a:t>
            </a:r>
            <a:r>
              <a:rPr b="0" lang="es-ES" sz="2000" spc="-1" strike="noStrike">
                <a:latin typeface="Calibri"/>
              </a:rPr>
              <a:t> Agrupa documentos por una clave especificada (por ejemplo, por país, mes o categoría) y realiza cálculos sobre los grupos, como contar ($sum), promediar ($avg) o encontrar el máximo/mínimo ($max/$min).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9480" cy="43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es-ES" sz="2400" spc="-1" strike="noStrike">
                <a:latin typeface="Calibri"/>
              </a:rPr>
              <a:t>Conceptos clave: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Etapas (stage):</a:t>
            </a:r>
            <a:r>
              <a:rPr b="0" lang="es-ES" sz="2000" spc="-1" strike="noStrike">
                <a:latin typeface="Calibri"/>
              </a:rPr>
              <a:t> Las etapas son los bloques de construcción del pipeline. Cada una tiene un </a:t>
            </a:r>
            <a:r>
              <a:rPr b="0" lang="es-ES" sz="2000" spc="-1" strike="noStrike">
                <a:latin typeface="Calibri"/>
              </a:rPr>
              <a:t>propósito específico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$project:</a:t>
            </a:r>
            <a:r>
              <a:rPr b="0" lang="es-ES" sz="2000" spc="-1" strike="noStrike">
                <a:latin typeface="Calibri"/>
              </a:rPr>
              <a:t> Remodela los documentos. Te permite seleccionar qué campos incluir o excluir, </a:t>
            </a:r>
            <a:r>
              <a:rPr b="0" lang="es-ES" sz="2000" spc="-1" strike="noStrike">
                <a:latin typeface="Calibri"/>
              </a:rPr>
              <a:t>renombrar campos, o incluso crear nuevos campos calculados a partir de los datos </a:t>
            </a:r>
            <a:r>
              <a:rPr b="0" lang="es-ES" sz="2000" spc="-1" strike="noStrike">
                <a:latin typeface="Calibri"/>
              </a:rPr>
              <a:t>existentes.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$sort:</a:t>
            </a:r>
            <a:r>
              <a:rPr b="0" lang="es-ES" sz="2000" spc="-1" strike="noStrike">
                <a:latin typeface="Calibri"/>
              </a:rPr>
              <a:t> Ordena los documentos resultantes según uno o más campos.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$limit y $skip:</a:t>
            </a:r>
            <a:r>
              <a:rPr b="0" lang="es-ES" sz="2000" spc="-1" strike="noStrike">
                <a:latin typeface="Calibri"/>
              </a:rPr>
              <a:t> Limita el número de documentos pasados o salta un número específico de </a:t>
            </a:r>
            <a:r>
              <a:rPr b="0" lang="es-ES" sz="2000" spc="-1" strike="noStrike">
                <a:latin typeface="Calibri"/>
              </a:rPr>
              <a:t>documentos (útil para la paginación)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9480" cy="35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Ventajas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000" spc="-1" strike="noStrike">
                <a:latin typeface="Calibri"/>
              </a:rPr>
              <a:t>Rendimiento optimizado:</a:t>
            </a:r>
            <a:r>
              <a:rPr b="0" lang="es-ES" sz="2000" spc="-1" strike="noStrike">
                <a:latin typeface="Calibri"/>
              </a:rPr>
              <a:t> Todas las operaciones se realizan directamente en el servidor de </a:t>
            </a:r>
            <a:r>
              <a:rPr b="0" lang="es-ES" sz="2000" spc="-1" strike="noStrike">
                <a:latin typeface="Calibri"/>
              </a:rPr>
              <a:t>la base de datos. Esto es mucho más rápido que traer todos los datos sin procesar al código </a:t>
            </a:r>
            <a:r>
              <a:rPr b="0" lang="es-ES" sz="2000" spc="-1" strike="noStrike">
                <a:latin typeface="Calibri"/>
              </a:rPr>
              <a:t>de tu aplicación y luego procesarlos allí.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Menos transferencia de datos:</a:t>
            </a:r>
            <a:r>
              <a:rPr b="0" lang="es-ES" sz="2000" spc="-1" strike="noStrike">
                <a:latin typeface="Calibri"/>
              </a:rPr>
              <a:t> Solo se envían los resultados finales y resumidos a través </a:t>
            </a:r>
            <a:r>
              <a:rPr b="0" lang="es-ES" sz="2000" spc="-1" strike="noStrike">
                <a:latin typeface="Calibri"/>
              </a:rPr>
              <a:t>de la red, no los millones de documentos originales.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Análisis complejo simplificado:</a:t>
            </a:r>
            <a:r>
              <a:rPr b="0" lang="es-ES" sz="2000" spc="-1" strike="noStrike">
                <a:latin typeface="Calibri"/>
              </a:rPr>
              <a:t> Permite realizar análisis de datos complejos de manera </a:t>
            </a:r>
            <a:r>
              <a:rPr b="0" lang="es-ES" sz="2000" spc="-1" strike="noStrike">
                <a:latin typeface="Calibri"/>
              </a:rPr>
              <a:t>eficiente, extrayendo insights valiosos de grandes volúmenes de información.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2340000" y="1440000"/>
            <a:ext cx="7379640" cy="362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9480" cy="4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Tipos de entradas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3060000" y="1911960"/>
            <a:ext cx="5939640" cy="4222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025440" y="1245240"/>
            <a:ext cx="6694200" cy="469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2747160" y="846720"/>
            <a:ext cx="6612480" cy="528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3111840" y="1053720"/>
            <a:ext cx="6427800" cy="506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783160" y="965160"/>
            <a:ext cx="6576480" cy="515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5489280" y="614880"/>
            <a:ext cx="6570360" cy="514476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2"/>
          <a:stretch/>
        </p:blipFill>
        <p:spPr>
          <a:xfrm>
            <a:off x="195120" y="1782360"/>
            <a:ext cx="4399200" cy="38952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3"/>
          <a:stretch/>
        </p:blipFill>
        <p:spPr>
          <a:xfrm>
            <a:off x="279720" y="2340000"/>
            <a:ext cx="5628240" cy="25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2932920" y="1262160"/>
            <a:ext cx="6786720" cy="456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3175920" y="1576440"/>
            <a:ext cx="5932440" cy="368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2837880" y="1080000"/>
            <a:ext cx="6202800" cy="50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141720" y="1079280"/>
            <a:ext cx="6037920" cy="494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rcRect l="3096" t="0" r="3943" b="0"/>
          <a:stretch/>
        </p:blipFill>
        <p:spPr>
          <a:xfrm>
            <a:off x="180000" y="1800000"/>
            <a:ext cx="5939640" cy="3956760"/>
          </a:xfrm>
          <a:prstGeom prst="rect">
            <a:avLst/>
          </a:prstGeom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6300000" y="3060000"/>
            <a:ext cx="5759640" cy="108720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3"/>
          <a:stretch/>
        </p:blipFill>
        <p:spPr>
          <a:xfrm>
            <a:off x="3960000" y="1144440"/>
            <a:ext cx="4189680" cy="47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2904480" y="1201320"/>
            <a:ext cx="6275160" cy="491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2880000" y="1121400"/>
            <a:ext cx="6599160" cy="481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2937600" y="1200240"/>
            <a:ext cx="6408720" cy="443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80000" y="3780000"/>
            <a:ext cx="5271120" cy="143964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6120000" y="3060000"/>
            <a:ext cx="5939640" cy="200268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6060240" y="5217840"/>
            <a:ext cx="5999400" cy="721800"/>
          </a:xfrm>
          <a:prstGeom prst="rect">
            <a:avLst/>
          </a:prstGeom>
          <a:ln w="0">
            <a:noFill/>
          </a:ln>
        </p:spPr>
      </p:pic>
      <p:pic>
        <p:nvPicPr>
          <p:cNvPr id="138" name="" descr=""/>
          <p:cNvPicPr/>
          <p:nvPr/>
        </p:nvPicPr>
        <p:blipFill>
          <a:blip r:embed="rId4"/>
          <a:stretch/>
        </p:blipFill>
        <p:spPr>
          <a:xfrm>
            <a:off x="374760" y="1080000"/>
            <a:ext cx="8624880" cy="163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360000" y="902880"/>
            <a:ext cx="7559640" cy="1153080"/>
          </a:xfrm>
          <a:prstGeom prst="rect">
            <a:avLst/>
          </a:prstGeom>
          <a:ln w="0">
            <a:noFill/>
          </a:ln>
        </p:spPr>
      </p:pic>
      <p:pic>
        <p:nvPicPr>
          <p:cNvPr id="141" name="" descr=""/>
          <p:cNvPicPr/>
          <p:nvPr/>
        </p:nvPicPr>
        <p:blipFill>
          <a:blip r:embed="rId2"/>
          <a:stretch/>
        </p:blipFill>
        <p:spPr>
          <a:xfrm>
            <a:off x="414720" y="2160000"/>
            <a:ext cx="5610600" cy="1079640"/>
          </a:xfrm>
          <a:prstGeom prst="rect">
            <a:avLst/>
          </a:prstGeom>
          <a:ln w="0">
            <a:noFill/>
          </a:ln>
        </p:spPr>
      </p:pic>
      <p:pic>
        <p:nvPicPr>
          <p:cNvPr id="142" name="" descr=""/>
          <p:cNvPicPr/>
          <p:nvPr/>
        </p:nvPicPr>
        <p:blipFill>
          <a:blip r:embed="rId3"/>
          <a:stretch/>
        </p:blipFill>
        <p:spPr>
          <a:xfrm>
            <a:off x="410400" y="3420000"/>
            <a:ext cx="5529240" cy="251964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4"/>
          <a:stretch/>
        </p:blipFill>
        <p:spPr>
          <a:xfrm>
            <a:off x="6178680" y="2247840"/>
            <a:ext cx="5880960" cy="351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895680" y="1169280"/>
            <a:ext cx="6303960" cy="1170360"/>
          </a:xfrm>
          <a:prstGeom prst="rect">
            <a:avLst/>
          </a:prstGeom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2"/>
          <a:stretch/>
        </p:blipFill>
        <p:spPr>
          <a:xfrm>
            <a:off x="199440" y="3420000"/>
            <a:ext cx="5200200" cy="1439640"/>
          </a:xfrm>
          <a:prstGeom prst="rect">
            <a:avLst/>
          </a:prstGeom>
          <a:ln w="0">
            <a:noFill/>
          </a:ln>
        </p:spPr>
      </p:pic>
      <p:pic>
        <p:nvPicPr>
          <p:cNvPr id="147" name="" descr=""/>
          <p:cNvPicPr/>
          <p:nvPr/>
        </p:nvPicPr>
        <p:blipFill>
          <a:blip r:embed="rId3"/>
          <a:stretch/>
        </p:blipFill>
        <p:spPr>
          <a:xfrm>
            <a:off x="6120000" y="2636640"/>
            <a:ext cx="5778720" cy="1863000"/>
          </a:xfrm>
          <a:prstGeom prst="rect">
            <a:avLst/>
          </a:prstGeom>
          <a:ln w="0">
            <a:noFill/>
          </a:ln>
        </p:spPr>
      </p:pic>
      <p:pic>
        <p:nvPicPr>
          <p:cNvPr id="148" name="" descr=""/>
          <p:cNvPicPr/>
          <p:nvPr/>
        </p:nvPicPr>
        <p:blipFill>
          <a:blip r:embed="rId4"/>
          <a:stretch/>
        </p:blipFill>
        <p:spPr>
          <a:xfrm>
            <a:off x="6120000" y="4860000"/>
            <a:ext cx="5939640" cy="81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rcRect l="0" t="0" r="0" b="63576"/>
          <a:stretch/>
        </p:blipFill>
        <p:spPr>
          <a:xfrm>
            <a:off x="5940000" y="1348920"/>
            <a:ext cx="6077160" cy="1710360"/>
          </a:xfrm>
          <a:prstGeom prst="rect">
            <a:avLst/>
          </a:prstGeom>
          <a:ln w="0">
            <a:noFill/>
          </a:ln>
        </p:spPr>
      </p:pic>
      <p:pic>
        <p:nvPicPr>
          <p:cNvPr id="151" name="" descr=""/>
          <p:cNvPicPr/>
          <p:nvPr/>
        </p:nvPicPr>
        <p:blipFill>
          <a:blip r:embed="rId2"/>
          <a:stretch/>
        </p:blipFill>
        <p:spPr>
          <a:xfrm>
            <a:off x="6051960" y="3848040"/>
            <a:ext cx="5827680" cy="1551600"/>
          </a:xfrm>
          <a:prstGeom prst="rect">
            <a:avLst/>
          </a:prstGeom>
          <a:ln w="0">
            <a:noFill/>
          </a:ln>
        </p:spPr>
      </p:pic>
      <p:pic>
        <p:nvPicPr>
          <p:cNvPr id="152" name="" descr=""/>
          <p:cNvPicPr/>
          <p:nvPr/>
        </p:nvPicPr>
        <p:blipFill>
          <a:blip r:embed="rId3"/>
          <a:stretch/>
        </p:blipFill>
        <p:spPr>
          <a:xfrm>
            <a:off x="54720" y="4638600"/>
            <a:ext cx="5884920" cy="761040"/>
          </a:xfrm>
          <a:prstGeom prst="rect">
            <a:avLst/>
          </a:prstGeom>
          <a:ln w="0">
            <a:noFill/>
          </a:ln>
        </p:spPr>
      </p:pic>
      <p:pic>
        <p:nvPicPr>
          <p:cNvPr id="153" name="" descr=""/>
          <p:cNvPicPr/>
          <p:nvPr/>
        </p:nvPicPr>
        <p:blipFill>
          <a:blip r:embed="rId4"/>
          <a:stretch/>
        </p:blipFill>
        <p:spPr>
          <a:xfrm>
            <a:off x="180000" y="2520000"/>
            <a:ext cx="6119640" cy="75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tretch/>
        </p:blipFill>
        <p:spPr>
          <a:xfrm>
            <a:off x="2700000" y="1109160"/>
            <a:ext cx="6480000" cy="491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828160" y="1125360"/>
            <a:ext cx="6891840" cy="489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255840" y="1166400"/>
            <a:ext cx="6104160" cy="498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2520000" y="1260000"/>
            <a:ext cx="6660000" cy="486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880000" y="1080000"/>
            <a:ext cx="6480000" cy="507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3240000" y="1089000"/>
            <a:ext cx="5940000" cy="493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060000" y="1050840"/>
            <a:ext cx="6343920" cy="488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Patrones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520000" y="1260000"/>
            <a:ext cx="7920000" cy="489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Patrones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2160000" y="1080000"/>
            <a:ext cx="8100000" cy="506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Patrones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2363400" y="1080000"/>
            <a:ext cx="7691760" cy="48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Patrones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2475360" y="1080000"/>
            <a:ext cx="8313120" cy="50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9480" cy="43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480" cy="53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9480" cy="43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1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31760" cy="181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3078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2025-12-03T16:04:33Z</dcterms:modified>
  <cp:revision>605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