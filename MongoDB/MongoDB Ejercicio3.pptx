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26.png" ContentType="image/png"/>
  <Override PartName="/ppt/media/image23.png" ContentType="image/png"/>
  <Override PartName="/ppt/media/image22.png" ContentType="image/png"/>
  <Override PartName="/ppt/media/image27.png" ContentType="image/png"/>
  <Override PartName="/ppt/media/image4.png" ContentType="image/png"/>
  <Override PartName="/ppt/media/image28.png" ContentType="image/png"/>
  <Override PartName="/ppt/media/image5.png" ContentType="image/png"/>
  <Override PartName="/ppt/media/image10.png" ContentType="image/png"/>
  <Override PartName="/ppt/media/image29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32.png" ContentType="image/png"/>
  <Override PartName="/ppt/media/image2.png" ContentType="image/png"/>
  <Override PartName="/ppt/media/image25.png" ContentType="image/png"/>
  <Override PartName="/ppt/media/image30.png" ContentType="image/png"/>
  <Override PartName="/ppt/media/image3.jpeg" ContentType="image/jpeg"/>
  <Override PartName="/ppt/media/image15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20.png" ContentType="image/png"/>
  <Override PartName="/ppt/media/image19.png" ContentType="image/png"/>
  <Override PartName="/ppt/media/image21.png" ContentType="image/png"/>
  <Override PartName="/ppt/presProps.xml" ContentType="application/vnd.openxmlformats-officedocument.presentationml.presPro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P</a:t>
            </a:r>
            <a:r>
              <a:rPr b="0" lang="en-US" sz="4400" spc="-1" strike="noStrike">
                <a:latin typeface="Arial"/>
              </a:rPr>
              <a:t>u</a:t>
            </a:r>
            <a:r>
              <a:rPr b="0" lang="en-US" sz="4400" spc="-1" strike="noStrike">
                <a:latin typeface="Arial"/>
              </a:rPr>
              <a:t>l</a:t>
            </a:r>
            <a:r>
              <a:rPr b="0" lang="en-US" sz="4400" spc="-1" strike="noStrike">
                <a:latin typeface="Arial"/>
              </a:rPr>
              <a:t>s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p</a:t>
            </a:r>
            <a:r>
              <a:rPr b="0" lang="en-US" sz="4400" spc="-1" strike="noStrike">
                <a:latin typeface="Arial"/>
              </a:rPr>
              <a:t>a</a:t>
            </a:r>
            <a:r>
              <a:rPr b="0" lang="en-US" sz="4400" spc="-1" strike="noStrike">
                <a:latin typeface="Arial"/>
              </a:rPr>
              <a:t>r</a:t>
            </a:r>
            <a:r>
              <a:rPr b="0" lang="en-US" sz="4400" spc="-1" strike="noStrike">
                <a:latin typeface="Arial"/>
              </a:rPr>
              <a:t>a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d</a:t>
            </a:r>
            <a:r>
              <a:rPr b="0" lang="en-US" sz="4400" spc="-1" strike="noStrike">
                <a:latin typeface="Arial"/>
              </a:rPr>
              <a:t>i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a</a:t>
            </a:r>
            <a:r>
              <a:rPr b="0" lang="en-US" sz="4400" spc="-1" strike="noStrike">
                <a:latin typeface="Arial"/>
              </a:rPr>
              <a:t>r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l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f</a:t>
            </a:r>
            <a:r>
              <a:rPr b="0" lang="en-US" sz="4400" spc="-1" strike="noStrike">
                <a:latin typeface="Arial"/>
              </a:rPr>
              <a:t>o</a:t>
            </a:r>
            <a:r>
              <a:rPr b="0" lang="en-US" sz="4400" spc="-1" strike="noStrike">
                <a:latin typeface="Arial"/>
              </a:rPr>
              <a:t>r</a:t>
            </a:r>
            <a:r>
              <a:rPr b="0" lang="en-US" sz="4400" spc="-1" strike="noStrike">
                <a:latin typeface="Arial"/>
              </a:rPr>
              <a:t>m</a:t>
            </a:r>
            <a:r>
              <a:rPr b="0" lang="en-US" sz="4400" spc="-1" strike="noStrike">
                <a:latin typeface="Arial"/>
              </a:rPr>
              <a:t>a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o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d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l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x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o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d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í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u</a:t>
            </a:r>
            <a:r>
              <a:rPr b="0" lang="en-US" sz="4400" spc="-1" strike="noStrike">
                <a:latin typeface="Arial"/>
              </a:rPr>
              <a:t>l</a:t>
            </a:r>
            <a:r>
              <a:rPr b="0" lang="en-US" sz="4400" spc="-1" strike="noStrike">
                <a:latin typeface="Arial"/>
              </a:rPr>
              <a:t>o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Pulse para editar el formato de texto del esquema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Segundo nivel del esquema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Tercer nivel del esquema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Cuarto nivel del esquema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Quinto nivel del esquema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Sexto nivel del esquema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Séptimo nivel del esquema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6 Rectángulo"/>
          <p:cNvSpPr/>
          <p:nvPr/>
        </p:nvSpPr>
        <p:spPr>
          <a:xfrm>
            <a:off x="0" y="6179400"/>
            <a:ext cx="12184920" cy="68544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39" name="Picture 4" descr="http://www.ceste.es/wp-content/uploads/2016/06/CESTE-Diamante.png"/>
          <p:cNvPicPr/>
          <p:nvPr/>
        </p:nvPicPr>
        <p:blipFill>
          <a:blip r:embed="rId2"/>
          <a:stretch/>
        </p:blipFill>
        <p:spPr>
          <a:xfrm flipH="1">
            <a:off x="1686600" y="5883840"/>
            <a:ext cx="595440" cy="597600"/>
          </a:xfrm>
          <a:prstGeom prst="rect">
            <a:avLst/>
          </a:prstGeom>
          <a:ln w="0">
            <a:noFill/>
          </a:ln>
        </p:spPr>
      </p:pic>
      <p:pic>
        <p:nvPicPr>
          <p:cNvPr id="40" name="8 Imagen" descr="CESTE blanco estrella roja sin coletilla.png"/>
          <p:cNvPicPr/>
          <p:nvPr/>
        </p:nvPicPr>
        <p:blipFill>
          <a:blip r:embed="rId3"/>
          <a:stretch/>
        </p:blipFill>
        <p:spPr>
          <a:xfrm>
            <a:off x="9936360" y="6184800"/>
            <a:ext cx="1360440" cy="645480"/>
          </a:xfrm>
          <a:prstGeom prst="rect">
            <a:avLst/>
          </a:prstGeom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Pulse para editar el formato del texto de título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Pulse para editar el formato de texto del esquema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Segundo nivel del esquema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Tercer nivel del esquema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Cuarto nivel del esquema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Quinto nivel del esquema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Sexto nivel del esquema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Séptimo nivel del esquema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n 3" descr="Una mujer en frente de laptop&#10;&#10;Descripción generada automáticamente"/>
          <p:cNvPicPr/>
          <p:nvPr/>
        </p:nvPicPr>
        <p:blipFill>
          <a:blip r:embed="rId1"/>
          <a:srcRect l="1742" t="12716" r="9979" b="12799"/>
          <a:stretch/>
        </p:blipFill>
        <p:spPr>
          <a:xfrm>
            <a:off x="0" y="0"/>
            <a:ext cx="12184920" cy="6850800"/>
          </a:xfrm>
          <a:prstGeom prst="rect">
            <a:avLst/>
          </a:prstGeom>
          <a:ln w="0">
            <a:noFill/>
          </a:ln>
        </p:spPr>
      </p:pic>
      <p:sp>
        <p:nvSpPr>
          <p:cNvPr id="80" name="7 Rectángulo"/>
          <p:cNvSpPr/>
          <p:nvPr/>
        </p:nvSpPr>
        <p:spPr>
          <a:xfrm>
            <a:off x="852840" y="6682680"/>
            <a:ext cx="11385000" cy="34560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1" name="Picture 4" descr="http://www.ceste.es/wp-content/uploads/2016/06/CESTE-Diamante.png"/>
          <p:cNvPicPr/>
          <p:nvPr/>
        </p:nvPicPr>
        <p:blipFill>
          <a:blip r:embed="rId2"/>
          <a:stretch/>
        </p:blipFill>
        <p:spPr>
          <a:xfrm flipH="1">
            <a:off x="558720" y="6582960"/>
            <a:ext cx="595440" cy="597600"/>
          </a:xfrm>
          <a:prstGeom prst="rect">
            <a:avLst/>
          </a:prstGeom>
          <a:ln w="0">
            <a:noFill/>
          </a:ln>
        </p:spPr>
      </p:pic>
      <p:sp>
        <p:nvSpPr>
          <p:cNvPr id="82" name="7 Rectángulo"/>
          <p:cNvSpPr/>
          <p:nvPr/>
        </p:nvSpPr>
        <p:spPr>
          <a:xfrm>
            <a:off x="-96840" y="-99360"/>
            <a:ext cx="11481840" cy="28080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3" name="Picture 4" descr="http://www.ceste.es/wp-content/uploads/2016/06/CESTE-Diamante.png"/>
          <p:cNvPicPr/>
          <p:nvPr/>
        </p:nvPicPr>
        <p:blipFill>
          <a:blip r:embed="rId3"/>
          <a:stretch/>
        </p:blipFill>
        <p:spPr>
          <a:xfrm flipH="1">
            <a:off x="11098080" y="-316440"/>
            <a:ext cx="595440" cy="597600"/>
          </a:xfrm>
          <a:prstGeom prst="rect">
            <a:avLst/>
          </a:prstGeom>
          <a:ln w="0">
            <a:noFill/>
          </a:ln>
        </p:spPr>
      </p:pic>
      <p:grpSp>
        <p:nvGrpSpPr>
          <p:cNvPr id="84" name="Grupo 14"/>
          <p:cNvGrpSpPr/>
          <p:nvPr/>
        </p:nvGrpSpPr>
        <p:grpSpPr>
          <a:xfrm>
            <a:off x="504000" y="405720"/>
            <a:ext cx="5249160" cy="2399760"/>
            <a:chOff x="504000" y="405720"/>
            <a:chExt cx="5249160" cy="2399760"/>
          </a:xfrm>
        </p:grpSpPr>
        <p:sp>
          <p:nvSpPr>
            <p:cNvPr id="85" name="12 Rectángulo"/>
            <p:cNvSpPr/>
            <p:nvPr/>
          </p:nvSpPr>
          <p:spPr>
            <a:xfrm>
              <a:off x="504000" y="405720"/>
              <a:ext cx="4847760" cy="2399760"/>
            </a:xfrm>
            <a:prstGeom prst="rect">
              <a:avLst/>
            </a:prstGeom>
            <a:solidFill>
              <a:srgbClr val="003594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86" name="Grupo 5"/>
            <p:cNvGrpSpPr/>
            <p:nvPr/>
          </p:nvGrpSpPr>
          <p:grpSpPr>
            <a:xfrm>
              <a:off x="734760" y="980640"/>
              <a:ext cx="5018400" cy="1824840"/>
              <a:chOff x="734760" y="980640"/>
              <a:chExt cx="5018400" cy="1824840"/>
            </a:xfrm>
          </p:grpSpPr>
          <p:sp>
            <p:nvSpPr>
              <p:cNvPr id="87" name="2 Subtítulo"/>
              <p:cNvSpPr/>
              <p:nvPr/>
            </p:nvSpPr>
            <p:spPr>
              <a:xfrm>
                <a:off x="778680" y="2277000"/>
                <a:ext cx="4974480" cy="528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rm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es-ES" sz="1800" spc="-1" strike="noStrike">
                    <a:solidFill>
                      <a:srgbClr val="ffffff"/>
                    </a:solidFill>
                    <a:latin typeface="Calibri"/>
                    <a:ea typeface="DejaVu Sans"/>
                  </a:rPr>
                  <a:t>Mongo DB</a:t>
                </a:r>
                <a:endParaRPr b="0" lang="en-US" sz="1800" spc="-1" strike="noStrike">
                  <a:latin typeface="Arial"/>
                </a:endParaRPr>
              </a:p>
            </p:txBody>
          </p:sp>
          <p:sp>
            <p:nvSpPr>
              <p:cNvPr id="88" name="1 Título"/>
              <p:cNvSpPr/>
              <p:nvPr/>
            </p:nvSpPr>
            <p:spPr>
              <a:xfrm>
                <a:off x="734760" y="980640"/>
                <a:ext cx="4010400" cy="131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buNone/>
                </a:pPr>
                <a:endParaRPr b="0" lang="en-US" sz="1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1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r>
                  <a:rPr b="1" lang="es-ES" sz="3500" spc="-1" strike="noStrike">
                    <a:solidFill>
                      <a:srgbClr val="ffffff"/>
                    </a:solidFill>
                    <a:latin typeface="Calibri"/>
                    <a:ea typeface="DejaVu Sans"/>
                  </a:rPr>
                  <a:t>Formación IA</a:t>
                </a:r>
                <a:endParaRPr b="0" lang="en-US" sz="3500" spc="-1" strike="noStrike">
                  <a:latin typeface="Arial"/>
                </a:endParaRPr>
              </a:p>
            </p:txBody>
          </p:sp>
        </p:grpSp>
      </p:grpSp>
      <p:pic>
        <p:nvPicPr>
          <p:cNvPr id="89" name="Imagen 9" descr="Logotipo&#10;&#10;El contenido generado por IA puede ser incorrecto."/>
          <p:cNvPicPr/>
          <p:nvPr/>
        </p:nvPicPr>
        <p:blipFill>
          <a:blip r:embed="rId4"/>
          <a:stretch/>
        </p:blipFill>
        <p:spPr>
          <a:xfrm>
            <a:off x="3575880" y="532440"/>
            <a:ext cx="1647000" cy="801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Ejercicio 1A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6869880" y="3060000"/>
            <a:ext cx="5009760" cy="1074240"/>
          </a:xfrm>
          <a:prstGeom prst="rect">
            <a:avLst/>
          </a:prstGeom>
          <a:ln w="0">
            <a:noFill/>
          </a:ln>
        </p:spPr>
      </p:pic>
      <p:pic>
        <p:nvPicPr>
          <p:cNvPr id="92" name="" descr=""/>
          <p:cNvPicPr/>
          <p:nvPr/>
        </p:nvPicPr>
        <p:blipFill>
          <a:blip r:embed="rId2"/>
          <a:stretch/>
        </p:blipFill>
        <p:spPr>
          <a:xfrm>
            <a:off x="299520" y="2874960"/>
            <a:ext cx="6180120" cy="1084680"/>
          </a:xfrm>
          <a:prstGeom prst="rect">
            <a:avLst/>
          </a:prstGeom>
          <a:ln w="0">
            <a:noFill/>
          </a:ln>
        </p:spPr>
      </p:pic>
      <p:pic>
        <p:nvPicPr>
          <p:cNvPr id="93" name="" descr=""/>
          <p:cNvPicPr/>
          <p:nvPr/>
        </p:nvPicPr>
        <p:blipFill>
          <a:blip r:embed="rId3"/>
          <a:stretch/>
        </p:blipFill>
        <p:spPr>
          <a:xfrm>
            <a:off x="180000" y="4320000"/>
            <a:ext cx="6456240" cy="570600"/>
          </a:xfrm>
          <a:prstGeom prst="rect">
            <a:avLst/>
          </a:prstGeom>
          <a:ln w="0">
            <a:noFill/>
          </a:ln>
        </p:spPr>
      </p:pic>
      <p:sp>
        <p:nvSpPr>
          <p:cNvPr id="94" name=""/>
          <p:cNvSpPr/>
          <p:nvPr/>
        </p:nvSpPr>
        <p:spPr>
          <a:xfrm>
            <a:off x="1080000" y="1440000"/>
            <a:ext cx="935964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latin typeface="Calibri"/>
              </a:rPr>
              <a:t>1A Crear el índice que permita la realización de geo-consultas en la colección.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Ejercicio 1B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1080000" y="1440000"/>
            <a:ext cx="93596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latin typeface="Calibri"/>
              </a:rPr>
              <a:t>1B Insertar en la colección places: ‘Parque de las delicias’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1120320" y="2166120"/>
            <a:ext cx="9139320" cy="1073520"/>
          </a:xfrm>
          <a:prstGeom prst="rect">
            <a:avLst/>
          </a:prstGeom>
          <a:ln w="0">
            <a:noFill/>
          </a:ln>
        </p:spPr>
      </p:pic>
      <p:pic>
        <p:nvPicPr>
          <p:cNvPr id="98" name="" descr=""/>
          <p:cNvPicPr/>
          <p:nvPr/>
        </p:nvPicPr>
        <p:blipFill>
          <a:blip r:embed="rId2"/>
          <a:stretch/>
        </p:blipFill>
        <p:spPr>
          <a:xfrm>
            <a:off x="1082520" y="3698640"/>
            <a:ext cx="10016280" cy="1701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Ejercicio 1B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1080000" y="1440000"/>
            <a:ext cx="93596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latin typeface="Calibri"/>
              </a:rPr>
              <a:t>1B Insertar en la colección places: ‘Calle Rioja’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577800" y="3670920"/>
            <a:ext cx="11270880" cy="154872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2"/>
          <a:stretch/>
        </p:blipFill>
        <p:spPr>
          <a:xfrm>
            <a:off x="540000" y="2340000"/>
            <a:ext cx="11339640" cy="861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Ejercicio 1B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1080000" y="1440000"/>
            <a:ext cx="93596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latin typeface="Calibri"/>
              </a:rPr>
              <a:t>1B Insertar en la colección places: ‘Conde Aranda’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1080000" y="3600000"/>
            <a:ext cx="10069560" cy="1439640"/>
          </a:xfrm>
          <a:prstGeom prst="rect">
            <a:avLst/>
          </a:prstGeom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2"/>
          <a:stretch/>
        </p:blipFill>
        <p:spPr>
          <a:xfrm>
            <a:off x="926280" y="2375640"/>
            <a:ext cx="10134360" cy="864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Ejercicio 1B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1080000" y="1440000"/>
            <a:ext cx="93596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latin typeface="Calibri"/>
              </a:rPr>
              <a:t>1B Insertar en la colección places: ‘Universidad de Zaragoza’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881280" y="3780000"/>
            <a:ext cx="10818360" cy="1619640"/>
          </a:xfrm>
          <a:prstGeom prst="rect">
            <a:avLst/>
          </a:prstGeom>
          <a:ln w="0">
            <a:noFill/>
          </a:ln>
        </p:spPr>
      </p:pic>
      <p:pic>
        <p:nvPicPr>
          <p:cNvPr id="110" name="" descr=""/>
          <p:cNvPicPr/>
          <p:nvPr/>
        </p:nvPicPr>
        <p:blipFill>
          <a:blip r:embed="rId2"/>
          <a:stretch/>
        </p:blipFill>
        <p:spPr>
          <a:xfrm>
            <a:off x="920880" y="2520000"/>
            <a:ext cx="10598760" cy="844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Ejercicio 1C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1080000" y="1440000"/>
            <a:ext cx="93596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latin typeface="Calibri"/>
              </a:rPr>
              <a:t>1C Lugares contenidos completamente en el distrito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3" name="" descr=""/>
          <p:cNvPicPr/>
          <p:nvPr/>
        </p:nvPicPr>
        <p:blipFill>
          <a:blip r:embed="rId1"/>
          <a:stretch/>
        </p:blipFill>
        <p:spPr>
          <a:xfrm>
            <a:off x="2487600" y="2340000"/>
            <a:ext cx="7985520" cy="1440000"/>
          </a:xfrm>
          <a:prstGeom prst="rect">
            <a:avLst/>
          </a:prstGeom>
          <a:ln w="0">
            <a:noFill/>
          </a:ln>
        </p:spPr>
      </p:pic>
      <p:pic>
        <p:nvPicPr>
          <p:cNvPr id="114" name="" descr=""/>
          <p:cNvPicPr/>
          <p:nvPr/>
        </p:nvPicPr>
        <p:blipFill>
          <a:blip r:embed="rId2"/>
          <a:stretch/>
        </p:blipFill>
        <p:spPr>
          <a:xfrm>
            <a:off x="1542960" y="4145760"/>
            <a:ext cx="9977040" cy="1254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Ejercicio 1C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1080000" y="1440000"/>
            <a:ext cx="93596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latin typeface="Calibri"/>
              </a:rPr>
              <a:t>1C Lugares que tienen parte dentro del distrito y parte fuera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1"/>
          <a:stretch/>
        </p:blipFill>
        <p:spPr>
          <a:xfrm>
            <a:off x="2340000" y="2340000"/>
            <a:ext cx="8036280" cy="1911600"/>
          </a:xfrm>
          <a:prstGeom prst="rect">
            <a:avLst/>
          </a:prstGeom>
          <a:ln w="0">
            <a:noFill/>
          </a:ln>
        </p:spPr>
      </p:pic>
      <p:pic>
        <p:nvPicPr>
          <p:cNvPr id="118" name="" descr=""/>
          <p:cNvPicPr/>
          <p:nvPr/>
        </p:nvPicPr>
        <p:blipFill>
          <a:blip r:embed="rId2"/>
          <a:stretch/>
        </p:blipFill>
        <p:spPr>
          <a:xfrm>
            <a:off x="900000" y="4500000"/>
            <a:ext cx="10872720" cy="117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Ejercicio 1C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1080000" y="1440000"/>
            <a:ext cx="93596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latin typeface="Calibri"/>
              </a:rPr>
              <a:t>1C Lugares completamente fuera del distrito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1"/>
          <a:stretch/>
        </p:blipFill>
        <p:spPr>
          <a:xfrm>
            <a:off x="2477880" y="2160000"/>
            <a:ext cx="7639200" cy="1800000"/>
          </a:xfrm>
          <a:prstGeom prst="rect">
            <a:avLst/>
          </a:prstGeom>
          <a:ln w="0">
            <a:noFill/>
          </a:ln>
        </p:spPr>
      </p:pic>
      <p:pic>
        <p:nvPicPr>
          <p:cNvPr id="122" name="" descr=""/>
          <p:cNvPicPr/>
          <p:nvPr/>
        </p:nvPicPr>
        <p:blipFill>
          <a:blip r:embed="rId2"/>
          <a:stretch/>
        </p:blipFill>
        <p:spPr>
          <a:xfrm>
            <a:off x="2464200" y="4218480"/>
            <a:ext cx="8155800" cy="1569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Ejercicio 2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1080000" y="1440000"/>
            <a:ext cx="93596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latin typeface="Calibri"/>
              </a:rPr>
              <a:t>2 Crear el índice que permitiría geo-consultas de bicis, en la colección bikes de la base de datos app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5" name="" descr=""/>
          <p:cNvPicPr/>
          <p:nvPr/>
        </p:nvPicPr>
        <p:blipFill>
          <a:blip r:embed="rId1"/>
          <a:stretch/>
        </p:blipFill>
        <p:spPr>
          <a:xfrm>
            <a:off x="2538360" y="2928960"/>
            <a:ext cx="7181640" cy="671040"/>
          </a:xfrm>
          <a:prstGeom prst="rect">
            <a:avLst/>
          </a:prstGeom>
          <a:ln w="0">
            <a:noFill/>
          </a:ln>
        </p:spPr>
      </p:pic>
      <p:pic>
        <p:nvPicPr>
          <p:cNvPr id="126" name="" descr=""/>
          <p:cNvPicPr/>
          <p:nvPr/>
        </p:nvPicPr>
        <p:blipFill>
          <a:blip r:embed="rId2"/>
          <a:stretch/>
        </p:blipFill>
        <p:spPr>
          <a:xfrm>
            <a:off x="2520000" y="3960000"/>
            <a:ext cx="7179480" cy="162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Ejercicio 3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1080000" y="1260000"/>
            <a:ext cx="935964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latin typeface="Calibri"/>
              </a:rPr>
              <a:t>3 Obtener todas las bicis que se encuentran dentro del distrito de Delicias con una geo-consulta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9" name="" descr=""/>
          <p:cNvPicPr/>
          <p:nvPr/>
        </p:nvPicPr>
        <p:blipFill>
          <a:blip r:embed="rId1"/>
          <a:stretch/>
        </p:blipFill>
        <p:spPr>
          <a:xfrm>
            <a:off x="2768040" y="3420000"/>
            <a:ext cx="7131960" cy="2700000"/>
          </a:xfrm>
          <a:prstGeom prst="rect">
            <a:avLst/>
          </a:prstGeom>
          <a:ln w="0">
            <a:noFill/>
          </a:ln>
        </p:spPr>
      </p:pic>
      <p:pic>
        <p:nvPicPr>
          <p:cNvPr id="130" name="" descr=""/>
          <p:cNvPicPr/>
          <p:nvPr/>
        </p:nvPicPr>
        <p:blipFill>
          <a:blip r:embed="rId2"/>
          <a:stretch/>
        </p:blipFill>
        <p:spPr>
          <a:xfrm>
            <a:off x="2520000" y="2340000"/>
            <a:ext cx="7770240" cy="108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Ejercicio 4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540000" y="1080000"/>
            <a:ext cx="11520000" cy="162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latin typeface="Calibri"/>
              </a:rPr>
              <a:t>4 Un usuario acaba de llegar a Zaragoza en tren a la Estación de Delicias </a:t>
            </a:r>
            <a:r>
              <a:rPr b="1" lang="es-ES" sz="2400" spc="-1" strike="noStrike">
                <a:latin typeface="Calibri"/>
              </a:rPr>
              <a:t>(coordenadas: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latin typeface="Calibri"/>
              </a:rPr>
              <a:t>[-0.913750, 41.659474]) y desea usar el servicio de bici para deplazarse. </a:t>
            </a:r>
            <a:r>
              <a:rPr b="1" lang="es-ES" sz="2400" spc="-1" strike="noStrike">
                <a:latin typeface="Calibri"/>
              </a:rPr>
              <a:t>Usando la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latin typeface="Calibri"/>
              </a:rPr>
              <a:t>aplicación desde su smartphone, consulta cual es la bici más cercana. </a:t>
            </a:r>
            <a:r>
              <a:rPr b="1" lang="es-ES" sz="2400" spc="-1" strike="noStrike">
                <a:latin typeface="Calibri"/>
              </a:rPr>
              <a:t>¿Cuál sería la geo-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latin typeface="Calibri"/>
              </a:rPr>
              <a:t>consulta que realizaría el sistema para encontrar las 3 bicis más </a:t>
            </a:r>
            <a:r>
              <a:rPr b="1" lang="es-ES" sz="2400" spc="-1" strike="noStrike">
                <a:latin typeface="Calibri"/>
              </a:rPr>
              <a:t>cercanas? 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1"/>
          <a:stretch/>
        </p:blipFill>
        <p:spPr>
          <a:xfrm>
            <a:off x="1707840" y="2808720"/>
            <a:ext cx="9452160" cy="791280"/>
          </a:xfrm>
          <a:prstGeom prst="rect">
            <a:avLst/>
          </a:prstGeom>
          <a:ln w="0">
            <a:noFill/>
          </a:ln>
        </p:spPr>
      </p:pic>
      <p:pic>
        <p:nvPicPr>
          <p:cNvPr id="134" name="" descr=""/>
          <p:cNvPicPr/>
          <p:nvPr/>
        </p:nvPicPr>
        <p:blipFill>
          <a:blip r:embed="rId2"/>
          <a:stretch/>
        </p:blipFill>
        <p:spPr>
          <a:xfrm>
            <a:off x="2730240" y="3671280"/>
            <a:ext cx="6989760" cy="313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Ejercicio 5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540000" y="1080000"/>
            <a:ext cx="11520000" cy="162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latin typeface="Calibri"/>
              </a:rPr>
              <a:t>5 ¿A qué distancia está cada una de las tres bicis del apartado anterior del citado punto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latin typeface="Calibri"/>
              </a:rPr>
              <a:t>[-0.913750, 41.659474])?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7" name="" descr=""/>
          <p:cNvPicPr/>
          <p:nvPr/>
        </p:nvPicPr>
        <p:blipFill>
          <a:blip r:embed="rId1"/>
          <a:stretch/>
        </p:blipFill>
        <p:spPr>
          <a:xfrm>
            <a:off x="1620000" y="2300400"/>
            <a:ext cx="9358920" cy="759600"/>
          </a:xfrm>
          <a:prstGeom prst="rect">
            <a:avLst/>
          </a:prstGeom>
          <a:ln w="0">
            <a:noFill/>
          </a:ln>
        </p:spPr>
      </p:pic>
      <p:pic>
        <p:nvPicPr>
          <p:cNvPr id="138" name="" descr=""/>
          <p:cNvPicPr/>
          <p:nvPr/>
        </p:nvPicPr>
        <p:blipFill>
          <a:blip r:embed="rId2"/>
          <a:stretch/>
        </p:blipFill>
        <p:spPr>
          <a:xfrm>
            <a:off x="3025440" y="3240000"/>
            <a:ext cx="6694560" cy="3304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434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37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10 CuadroTexto"/>
          <p:cNvSpPr/>
          <p:nvPr/>
        </p:nvSpPr>
        <p:spPr>
          <a:xfrm>
            <a:off x="5150160" y="5508000"/>
            <a:ext cx="1889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E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www.ceste.es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42" name="11 Imagen" descr=""/>
          <p:cNvPicPr/>
          <p:nvPr/>
        </p:nvPicPr>
        <p:blipFill>
          <a:blip r:embed="rId1"/>
          <a:stretch/>
        </p:blipFill>
        <p:spPr>
          <a:xfrm>
            <a:off x="4227480" y="2349000"/>
            <a:ext cx="3730680" cy="1818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61D317CF2309C4E8DA448EE42D88B65" ma:contentTypeVersion="16" ma:contentTypeDescription="Crear nuevo documento." ma:contentTypeScope="" ma:versionID="73b97258e99d47497b96ecb181da94f2">
  <xsd:schema xmlns:xsd="http://www.w3.org/2001/XMLSchema" xmlns:xs="http://www.w3.org/2001/XMLSchema" xmlns:p="http://schemas.microsoft.com/office/2006/metadata/properties" xmlns:ns2="e24c3f89-b1e2-4b5c-81e1-9b07710f5189" xmlns:ns3="ce845bb0-6f82-4cf9-8b02-3916bb6268df" targetNamespace="http://schemas.microsoft.com/office/2006/metadata/properties" ma:root="true" ma:fieldsID="47e9c207501d1d53c375c00c242f54b4" ns2:_="" ns3:_="">
    <xsd:import namespace="e24c3f89-b1e2-4b5c-81e1-9b07710f5189"/>
    <xsd:import namespace="ce845bb0-6f82-4cf9-8b02-3916bb6268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4c3f89-b1e2-4b5c-81e1-9b07710f51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59dbaa74-2a60-464d-988b-bba989cac7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45bb0-6f82-4cf9-8b02-3916bb6268d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1e47c2f-83de-443c-9b77-fbf0d35e4197}" ma:internalName="TaxCatchAll" ma:showField="CatchAllData" ma:web="ce845bb0-6f82-4cf9-8b02-3916bb6268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4c3f89-b1e2-4b5c-81e1-9b07710f5189">
      <Terms xmlns="http://schemas.microsoft.com/office/infopath/2007/PartnerControls"/>
    </lcf76f155ced4ddcb4097134ff3c332f>
    <TaxCatchAll xmlns="ce845bb0-6f82-4cf9-8b02-3916bb6268df" xsi:nil="true"/>
  </documentManagement>
</p:properties>
</file>

<file path=customXml/itemProps1.xml><?xml version="1.0" encoding="utf-8"?>
<ds:datastoreItem xmlns:ds="http://schemas.openxmlformats.org/officeDocument/2006/customXml" ds:itemID="{F27A6D2C-8CE5-46A4-ADEC-6FD7C5F7EDCC}"/>
</file>

<file path=customXml/itemProps2.xml><?xml version="1.0" encoding="utf-8"?>
<ds:datastoreItem xmlns:ds="http://schemas.openxmlformats.org/officeDocument/2006/customXml" ds:itemID="{7557D189-32A8-411C-A1FE-5D98FC6CCF4F}"/>
</file>

<file path=customXml/itemProps3.xml><?xml version="1.0" encoding="utf-8"?>
<ds:datastoreItem xmlns:ds="http://schemas.openxmlformats.org/officeDocument/2006/customXml" ds:itemID="{E8D8D8A5-1EAA-41DC-A1E3-E107219891E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3199</TotalTime>
  <Application>LibreOffice/7.3.7.2$Linux_X86_64 LibreOffice_project/30$Build-2</Application>
  <AppVersion>15.0000</AppVersion>
  <Words>12</Words>
  <Paragraphs>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2014-05-13T08:36:54Z</dcterms:created>
  <dc:creator>psoria</dc:creator>
  <dc:description/>
  <dc:language>es-ES</dc:language>
  <cp:lastModifiedBy/>
  <cp:lastPrinted>2018-06-15T07:54:48Z</cp:lastPrinted>
  <dcterms:modified xsi:type="dcterms:W3CDTF">2025-12-10T15:08:11Z</dcterms:modified>
  <cp:revision>635</cp:revision>
  <dc:subject/>
  <dc:title>Diapositiva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0x010100D61D317CF2309C4E8DA448EE42D88B65</vt:lpwstr>
  </property>
  <property fmtid="{D5CDD505-2E9C-101B-9397-08002B2CF9AE}" pid="3" name="PresentationFormat">
    <vt:lpwstr>Panorámica</vt:lpwstr>
  </property>
  <property fmtid="{D5CDD505-2E9C-101B-9397-08002B2CF9AE}" pid="4" name="Slides">
    <vt:i4>3</vt:i4>
  </property>
</Properties>
</file>